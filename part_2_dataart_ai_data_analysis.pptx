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98f1ad593f4ef1" /><Relationship Type="http://schemas.openxmlformats.org/officeDocument/2006/relationships/extended-properties" Target="/docProps/app.xml" Id="R1a92b4f3e6764728" /><Relationship Type="http://schemas.openxmlformats.org/officeDocument/2006/relationships/officeDocument" Target="/ppt/presentation.xml" Id="R7a0613bcf13d45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3daa35b03a450d"/>
  </p:sldMasterIdLst>
  <p:notesMasterIdLst>
    <p:notesMasterId xmlns:r="http://schemas.openxmlformats.org/officeDocument/2006/relationships" r:id="R45689f9ecf824b95"/>
  </p:notesMasterIdLst>
  <p:sldIdLst>
    <p:sldId xmlns:r="http://schemas.openxmlformats.org/officeDocument/2006/relationships" id="256" r:id="R3e93ff6f2d794f9c"/>
    <p:sldId xmlns:r="http://schemas.openxmlformats.org/officeDocument/2006/relationships" id="257" r:id="Rfd70439c6a9249be"/>
    <p:sldId xmlns:r="http://schemas.openxmlformats.org/officeDocument/2006/relationships" id="258" r:id="R8a2605e889004716"/>
    <p:sldId xmlns:r="http://schemas.openxmlformats.org/officeDocument/2006/relationships" id="259" r:id="Ra137949e00674cc1"/>
    <p:sldId xmlns:r="http://schemas.openxmlformats.org/officeDocument/2006/relationships" id="260" r:id="Rbf6d813b7eab48e2"/>
    <p:sldId xmlns:r="http://schemas.openxmlformats.org/officeDocument/2006/relationships" id="261" r:id="R1439640d65f74fb4"/>
    <p:sldId xmlns:r="http://schemas.openxmlformats.org/officeDocument/2006/relationships" id="262" r:id="Rddb71bd60a8042e0"/>
    <p:sldId xmlns:r="http://schemas.openxmlformats.org/officeDocument/2006/relationships" id="263" r:id="Ra7fed842617d4688"/>
    <p:sldId xmlns:r="http://schemas.openxmlformats.org/officeDocument/2006/relationships" id="264" r:id="R861dd83723b141cb"/>
    <p:sldId xmlns:r="http://schemas.openxmlformats.org/officeDocument/2006/relationships" id="265" r:id="Rb21fedcd74c04f11"/>
    <p:sldId xmlns:r="http://schemas.openxmlformats.org/officeDocument/2006/relationships" id="266" r:id="R010238af3f624e9f"/>
    <p:sldId xmlns:r="http://schemas.openxmlformats.org/officeDocument/2006/relationships" id="267" r:id="Ra7ad552f9a9e4a5b"/>
    <p:sldId xmlns:r="http://schemas.openxmlformats.org/officeDocument/2006/relationships" id="268" r:id="R279518071b014bf9"/>
    <p:sldId xmlns:r="http://schemas.openxmlformats.org/officeDocument/2006/relationships" id="269" r:id="Rdbbd2464927747df"/>
    <p:sldId xmlns:r="http://schemas.openxmlformats.org/officeDocument/2006/relationships" id="270" r:id="R7d0245de574a4364"/>
    <p:sldId xmlns:r="http://schemas.openxmlformats.org/officeDocument/2006/relationships" id="271" r:id="Ra4ddf38f12834a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d281d5101941a7" /><Relationship Type="http://schemas.openxmlformats.org/officeDocument/2006/relationships/slideMaster" Target="/ppt/slideMasters/slideMaster1.xml" Id="R083daa35b03a450d" /><Relationship Type="http://schemas.openxmlformats.org/officeDocument/2006/relationships/notesMaster" Target="/ppt/notesMasters/notesMaster1.xml" Id="R45689f9ecf824b95" /><Relationship Type="http://schemas.openxmlformats.org/officeDocument/2006/relationships/presProps" Target="/ppt/presProps.xml" Id="Ra2aba09785124542" /><Relationship Type="http://schemas.openxmlformats.org/officeDocument/2006/relationships/tableStyles" Target="/ppt/tableStyles.xml" Id="R47bb22da65694a79" /><Relationship Type="http://schemas.openxmlformats.org/officeDocument/2006/relationships/slide" Target="/ppt/slides/slide1.xml" Id="R3e93ff6f2d794f9c" /><Relationship Type="http://schemas.openxmlformats.org/officeDocument/2006/relationships/slide" Target="/ppt/slides/slide2.xml" Id="Rfd70439c6a9249be" /><Relationship Type="http://schemas.openxmlformats.org/officeDocument/2006/relationships/slide" Target="/ppt/slides/slide3.xml" Id="R8a2605e889004716" /><Relationship Type="http://schemas.openxmlformats.org/officeDocument/2006/relationships/slide" Target="/ppt/slides/slide4.xml" Id="Ra137949e00674cc1" /><Relationship Type="http://schemas.openxmlformats.org/officeDocument/2006/relationships/slide" Target="/ppt/slides/slide5.xml" Id="Rbf6d813b7eab48e2" /><Relationship Type="http://schemas.openxmlformats.org/officeDocument/2006/relationships/slide" Target="/ppt/slides/slide6.xml" Id="R1439640d65f74fb4" /><Relationship Type="http://schemas.openxmlformats.org/officeDocument/2006/relationships/slide" Target="/ppt/slides/slide7.xml" Id="Rddb71bd60a8042e0" /><Relationship Type="http://schemas.openxmlformats.org/officeDocument/2006/relationships/slide" Target="/ppt/slides/slide8.xml" Id="Ra7fed842617d4688" /><Relationship Type="http://schemas.openxmlformats.org/officeDocument/2006/relationships/slide" Target="/ppt/slides/slide9.xml" Id="R861dd83723b141cb" /><Relationship Type="http://schemas.openxmlformats.org/officeDocument/2006/relationships/slide" Target="/ppt/slides/slide10.xml" Id="Rb21fedcd74c04f11" /><Relationship Type="http://schemas.openxmlformats.org/officeDocument/2006/relationships/slide" Target="/ppt/slides/slide11.xml" Id="R010238af3f624e9f" /><Relationship Type="http://schemas.openxmlformats.org/officeDocument/2006/relationships/slide" Target="/ppt/slides/slide12.xml" Id="Ra7ad552f9a9e4a5b" /><Relationship Type="http://schemas.openxmlformats.org/officeDocument/2006/relationships/slide" Target="/ppt/slides/slide13.xml" Id="R279518071b014bf9" /><Relationship Type="http://schemas.openxmlformats.org/officeDocument/2006/relationships/slide" Target="/ppt/slides/slide14.xml" Id="Rdbbd2464927747df" /><Relationship Type="http://schemas.openxmlformats.org/officeDocument/2006/relationships/slide" Target="/ppt/slides/slide15.xml" Id="R7d0245de574a4364" /><Relationship Type="http://schemas.openxmlformats.org/officeDocument/2006/relationships/slide" Target="/ppt/slides/slide16.xml" Id="Ra4ddf38f1283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dfaf34e3cc49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b54a9a6d9a42ef" /><Relationship Type="http://schemas.openxmlformats.org/officeDocument/2006/relationships/notesMaster" Target="/ppt/notesMasters/notesMaster1.xml" Id="R5ff74fc00b8148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7b565a68714d89" /><Relationship Type="http://schemas.openxmlformats.org/officeDocument/2006/relationships/notesMaster" Target="/ppt/notesMasters/notesMaster1.xml" Id="R0cbe505b4d6c45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79b6e2be0441f6" /><Relationship Type="http://schemas.openxmlformats.org/officeDocument/2006/relationships/notesMaster" Target="/ppt/notesMasters/notesMaster1.xml" Id="R2f8e3ba02d5241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3eeb5e0ae642b1" /><Relationship Type="http://schemas.openxmlformats.org/officeDocument/2006/relationships/notesMaster" Target="/ppt/notesMasters/notesMaster1.xml" Id="R0afbbd61b2f24d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bc0cda1db24bc9" /><Relationship Type="http://schemas.openxmlformats.org/officeDocument/2006/relationships/notesMaster" Target="/ppt/notesMasters/notesMaster1.xml" Id="R261dfb1eecc041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73bba9359049b6" /><Relationship Type="http://schemas.openxmlformats.org/officeDocument/2006/relationships/notesMaster" Target="/ppt/notesMasters/notesMaster1.xml" Id="R39c718f84b7847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0ff6250b5e4948" /><Relationship Type="http://schemas.openxmlformats.org/officeDocument/2006/relationships/notesMaster" Target="/ppt/notesMasters/notesMaster1.xml" Id="R1f88c142516840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ee3ef25c144e38" /><Relationship Type="http://schemas.openxmlformats.org/officeDocument/2006/relationships/notesMaster" Target="/ppt/notesMasters/notesMaster1.xml" Id="R9b0f83cf17c74f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c8f8a617084149" /><Relationship Type="http://schemas.openxmlformats.org/officeDocument/2006/relationships/notesMaster" Target="/ppt/notesMasters/notesMaster1.xml" Id="R3219b68fdfde47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c55b24a7cd44d2" /><Relationship Type="http://schemas.openxmlformats.org/officeDocument/2006/relationships/notesMaster" Target="/ppt/notesMasters/notesMaster1.xml" Id="R8f1a01ad0b1b46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ebd09c84d7414a" /><Relationship Type="http://schemas.openxmlformats.org/officeDocument/2006/relationships/notesMaster" Target="/ppt/notesMasters/notesMaster1.xml" Id="R92a2949770ae49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a43ffc024a41fd" /><Relationship Type="http://schemas.openxmlformats.org/officeDocument/2006/relationships/notesMaster" Target="/ppt/notesMasters/notesMaster1.xml" Id="R6a6c142bd46a4f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d02829352248b6" /><Relationship Type="http://schemas.openxmlformats.org/officeDocument/2006/relationships/notesMaster" Target="/ppt/notesMasters/notesMaster1.xml" Id="Rbfe4d2c352e44e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ea16713f58470a" /><Relationship Type="http://schemas.openxmlformats.org/officeDocument/2006/relationships/notesMaster" Target="/ppt/notesMasters/notesMaster1.xml" Id="R6699d4fb32864d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ad0a6006774992" /><Relationship Type="http://schemas.openxmlformats.org/officeDocument/2006/relationships/notesMaster" Target="/ppt/notesMasters/notesMaster1.xml" Id="R2a60aef9f11543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b205034ae941bf" /><Relationship Type="http://schemas.openxmlformats.org/officeDocument/2006/relationships/notesMaster" Target="/ppt/notesMasters/notesMaster1.xml" Id="R9909183acb3f43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690fb84f44a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af6169ec2440cb" /><Relationship Type="http://schemas.openxmlformats.org/officeDocument/2006/relationships/slideLayout" Target="/ppt/slideLayouts/slideLayout1.xml" Id="R33d86fb1a0e541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d86fb1a0e541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bda189db24421" /><Relationship Type="http://schemas.openxmlformats.org/officeDocument/2006/relationships/image" Target="/ppt/media/image.png" Id="Rd1d92969999f43ad" /><Relationship Type="http://schemas.openxmlformats.org/officeDocument/2006/relationships/image" Target="/ppt/media/image2.png" Id="Re72be2cb51cf4956" /><Relationship Type="http://schemas.openxmlformats.org/officeDocument/2006/relationships/image" Target="/ppt/media/image.svg" Id="Re135cb61faa649e0" /><Relationship Type="http://schemas.openxmlformats.org/officeDocument/2006/relationships/notesSlide" Target="/ppt/notesSlides/notesSlide1.xml" Id="R53a8c9c31bba41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380f960234c42" /><Relationship Type="http://schemas.openxmlformats.org/officeDocument/2006/relationships/image" Target="/ppt/media/image3.png" Id="R2e2ec0b2e2df444b" /><Relationship Type="http://schemas.openxmlformats.org/officeDocument/2006/relationships/image" Target="/ppt/media/image2.svg" Id="R754c558fb98144d1" /><Relationship Type="http://schemas.openxmlformats.org/officeDocument/2006/relationships/notesSlide" Target="/ppt/notesSlides/notesSlide2.xml" Id="R0e96291d9f3c46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5d7a1c8c641b1" /><Relationship Type="http://schemas.openxmlformats.org/officeDocument/2006/relationships/image" Target="/ppt/media/image4.png" Id="R41e0eeb594b143d4" /><Relationship Type="http://schemas.openxmlformats.org/officeDocument/2006/relationships/image" Target="/ppt/media/image3.svg" Id="R5ca356008ec64e21" /><Relationship Type="http://schemas.openxmlformats.org/officeDocument/2006/relationships/notesSlide" Target="/ppt/notesSlides/notesSlide3.xml" Id="R5483885999334c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c88fd988c412e" /><Relationship Type="http://schemas.openxmlformats.org/officeDocument/2006/relationships/image" Target="/ppt/media/image5.png" Id="R2ba942ef4b684eea" /><Relationship Type="http://schemas.openxmlformats.org/officeDocument/2006/relationships/image" Target="/ppt/media/image4.svg" Id="R0b7bf098e1474fc0" /><Relationship Type="http://schemas.openxmlformats.org/officeDocument/2006/relationships/notesSlide" Target="/ppt/notesSlides/notesSlide4.xml" Id="R4c4d935aa3a44b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0ab0245554896" /><Relationship Type="http://schemas.openxmlformats.org/officeDocument/2006/relationships/image" Target="/ppt/media/image6.png" Id="Re96770116d6d4da9" /><Relationship Type="http://schemas.openxmlformats.org/officeDocument/2006/relationships/image" Target="/ppt/media/image5.svg" Id="R93f82a0dc6524973" /><Relationship Type="http://schemas.openxmlformats.org/officeDocument/2006/relationships/image" Target="/ppt/media/image7.png" Id="Ra8e30b3cd2e640c2" /><Relationship Type="http://schemas.openxmlformats.org/officeDocument/2006/relationships/notesSlide" Target="/ppt/notesSlides/notesSlide5.xml" Id="R034e9c03ff204f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e8ae51dde48fd" /><Relationship Type="http://schemas.openxmlformats.org/officeDocument/2006/relationships/image" Target="/ppt/media/image8.png" Id="R4e7fb3bfce254c1c" /><Relationship Type="http://schemas.openxmlformats.org/officeDocument/2006/relationships/image" Target="/ppt/media/image6.svg" Id="Rf16bcb76cf0c4986" /><Relationship Type="http://schemas.openxmlformats.org/officeDocument/2006/relationships/notesSlide" Target="/ppt/notesSlides/notesSlide6.xml" Id="Rbbaed8b8a3fe40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e75b1a14b47cb" /><Relationship Type="http://schemas.openxmlformats.org/officeDocument/2006/relationships/image" Target="/ppt/media/image9.png" Id="R6450ba8947714244" /><Relationship Type="http://schemas.openxmlformats.org/officeDocument/2006/relationships/image" Target="/ppt/media/image7.svg" Id="R0f38b34ad8b64448" /><Relationship Type="http://schemas.openxmlformats.org/officeDocument/2006/relationships/notesSlide" Target="/ppt/notesSlides/notesSlide7.xml" Id="R37dfca361d3149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9fbc9a3904839" /><Relationship Type="http://schemas.openxmlformats.org/officeDocument/2006/relationships/image" Target="/ppt/media/image10.png" Id="R2f9c9c33987e45c0" /><Relationship Type="http://schemas.openxmlformats.org/officeDocument/2006/relationships/image" Target="/ppt/media/image8.svg" Id="R03e8f027122f4f68" /><Relationship Type="http://schemas.openxmlformats.org/officeDocument/2006/relationships/notesSlide" Target="/ppt/notesSlides/notesSlide8.xml" Id="R18123c48f97741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424da2ec649c4" /><Relationship Type="http://schemas.openxmlformats.org/officeDocument/2006/relationships/image" Target="/ppt/media/image11.png" Id="R00012b096a394385" /><Relationship Type="http://schemas.openxmlformats.org/officeDocument/2006/relationships/image" Target="/ppt/media/image9.svg" Id="R7c5b6b47dc514aff" /><Relationship Type="http://schemas.openxmlformats.org/officeDocument/2006/relationships/image" Target="/ppt/media/image12.png" Id="R4a5079ef933c46be" /><Relationship Type="http://schemas.openxmlformats.org/officeDocument/2006/relationships/notesSlide" Target="/ppt/notesSlides/notesSlide9.xml" Id="Rf06ff0744fa44a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bab63a2b447a5" /><Relationship Type="http://schemas.openxmlformats.org/officeDocument/2006/relationships/image" Target="/ppt/media/image13.png" Id="Rffc980e1445240dd" /><Relationship Type="http://schemas.openxmlformats.org/officeDocument/2006/relationships/image" Target="/ppt/media/image10.svg" Id="R6277d59561304637" /><Relationship Type="http://schemas.openxmlformats.org/officeDocument/2006/relationships/notesSlide" Target="/ppt/notesSlides/notesSlide10.xml" Id="R9cde5d67189744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5633edae04905" /><Relationship Type="http://schemas.openxmlformats.org/officeDocument/2006/relationships/image" Target="/ppt/media/image14.png" Id="Re39e082bb6c94fae" /><Relationship Type="http://schemas.openxmlformats.org/officeDocument/2006/relationships/image" Target="/ppt/media/image11.svg" Id="Rf46fd7cf72a34bf6" /><Relationship Type="http://schemas.openxmlformats.org/officeDocument/2006/relationships/notesSlide" Target="/ppt/notesSlides/notesSlide11.xml" Id="R6715e61a61b74d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c48376d3343ed" /><Relationship Type="http://schemas.openxmlformats.org/officeDocument/2006/relationships/image" Target="/ppt/media/image15.png" Id="Re2abd359855b499c" /><Relationship Type="http://schemas.openxmlformats.org/officeDocument/2006/relationships/image" Target="/ppt/media/image12.svg" Id="Rf463440d8cc14840" /><Relationship Type="http://schemas.openxmlformats.org/officeDocument/2006/relationships/notesSlide" Target="/ppt/notesSlides/notesSlide12.xml" Id="R5e020c1b24be46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6c68acc534d8f" /><Relationship Type="http://schemas.openxmlformats.org/officeDocument/2006/relationships/image" Target="/ppt/media/image16.png" Id="R5e953e8d341743b7" /><Relationship Type="http://schemas.openxmlformats.org/officeDocument/2006/relationships/image" Target="/ppt/media/image13.svg" Id="R6617886201614a92" /><Relationship Type="http://schemas.openxmlformats.org/officeDocument/2006/relationships/image" Target="/ppt/media/image17.png" Id="Rdb85443abdaf43be" /><Relationship Type="http://schemas.openxmlformats.org/officeDocument/2006/relationships/notesSlide" Target="/ppt/notesSlides/notesSlide13.xml" Id="R05102e2b2d2c4a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3c4a7349c4202" /><Relationship Type="http://schemas.openxmlformats.org/officeDocument/2006/relationships/image" Target="/ppt/media/image18.png" Id="R876b76fed31c4465" /><Relationship Type="http://schemas.openxmlformats.org/officeDocument/2006/relationships/image" Target="/ppt/media/image14.svg" Id="Rd9021d91dd98410f" /><Relationship Type="http://schemas.openxmlformats.org/officeDocument/2006/relationships/notesSlide" Target="/ppt/notesSlides/notesSlide14.xml" Id="R9e28ecfceddc40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70f4068434b0a" /><Relationship Type="http://schemas.openxmlformats.org/officeDocument/2006/relationships/image" Target="/ppt/media/image19.png" Id="R4a7f19692b8046a0" /><Relationship Type="http://schemas.openxmlformats.org/officeDocument/2006/relationships/image" Target="/ppt/media/image15.svg" Id="R24f29e81d31d44f5" /><Relationship Type="http://schemas.openxmlformats.org/officeDocument/2006/relationships/notesSlide" Target="/ppt/notesSlides/notesSlide15.xml" Id="R401b97d1564e4f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d6680a2164f4f" /><Relationship Type="http://schemas.openxmlformats.org/officeDocument/2006/relationships/image" Target="/ppt/media/image20.png" Id="Rafa6286df6b34aa0" /><Relationship Type="http://schemas.openxmlformats.org/officeDocument/2006/relationships/image" Target="/ppt/media/image16.svg" Id="R037f314600ce4512" /><Relationship Type="http://schemas.openxmlformats.org/officeDocument/2006/relationships/notesSlide" Target="/ppt/notesSlides/notesSlide16.xml" Id="R5ddbe74a5ed248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92969999f43ad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728CF-3FA4-4057-AC14-0A228CCA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7D425-B478-4DBB-8B8D-FA194222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be2cb51cf4956">
            <a:extLst>
              <a:ext uri="{96DAC541-7B7A-43D3-8B79-37D633B846F1}">
                <asvg:svgBlip xmlns:asvg="http://schemas.microsoft.com/office/drawing/2016/SVG/main" r:embed="Re135cb61faa649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52450"/>
            <a:ext cx="1524000" cy="38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D2AF4-341F-4352-8588-8B02FA20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453AD"/>
                </a:solidFill>
              </a:defRPr>
            </a:pPr>
            <a:r>
              <a:rPr sz="1125" b="1" i="0">
                <a:solidFill>
                  <a:srgbClr val="3453AD"/>
                </a:solidFill>
              </a:rPr>
              <a:t>PART 2  /  PBIP + GIT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35BD8-7050-4FC5-88B8-88BD29F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762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F161A"/>
                </a:solidFill>
              </a:defRPr>
            </a:pPr>
            <a:r>
              <a:rPr sz="3900" b="1" i="0">
                <a:solidFill>
                  <a:srgbClr val="0F161A"/>
                </a:solidFill>
              </a:rPr>
              <a:t>Power BI as Source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E64C6-FD0F-4595-8C71-AEE587F4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139"/>
                </a:solidFill>
              </a:defRPr>
            </a:pPr>
            <a:r>
              <a:rPr sz="1725" b="0" i="0">
                <a:solidFill>
                  <a:srgbClr val="263139"/>
                </a:solidFill>
              </a:rPr>
              <a:t>Convert PBIX to PBIP, understand every layer, and introduce Git + Codex safely.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3706C-1FF7-4EB6-AA10-B081E3EB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047750"/>
            <a:ext cx="3143250" cy="41910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453AD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D8613-0985-4602-B997-290C62AA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HANDS-ON</a:t>
            </a:r>
          </a:p>
          <a:p xmlns:a="http://schemas.openxmlformats.org/drawingml/2006/main">
            <a:pPr algn="l"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DEMO SERIES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556D5-3B98-49A1-A13A-C073C09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Power BI  •  Databricks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GitHub  •  Codex  •  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5F2D5-D683-4F0C-A223-0987D341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33900"/>
            <a:ext cx="1676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37C34-E48D-4D5C-9701-B0E5892D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DA7AA"/>
                </a:solidFill>
              </a:defRPr>
            </a:pPr>
            <a:r>
              <a:rPr sz="1050" b="1" i="0">
                <a:solidFill>
                  <a:srgbClr val="9DA7AA"/>
                </a:solidFill>
              </a:rPr>
              <a:t>DataArt</a:t>
            </a:r>
          </a:p>
        </p:txBody>
      </p:sp>
    </p:spTree>
    <p:extLst>
      <p:ext uri="{BB962C8B-B14F-4D97-AF65-F5344CB8AC3E}">
        <p14:creationId xmlns:p14="http://schemas.microsoft.com/office/powerpoint/2010/main" val="13400093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C0DBA6-A664-4EE4-BC8B-4E649FF2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EA35B-B4CF-481D-A56C-276C5BBA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7B10E-D240-4529-9B5C-1EB4D456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B2A7D-FFC1-45FE-B141-D56E0C65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0D5B9-9CCD-4B12-AF94-1D64B680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74B76-F71E-4421-B194-858CF4DE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06308-23EA-4E3A-8BCF-F3A42830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F55CB-7436-4330-910C-53BD3A61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05580-AF5B-4063-8A6E-AD47A7D3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CCD2E-DCB1-453B-AEE5-B64F44B1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E831A-58B5-4F58-BF3B-9A44D3F3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A92F9-D48E-4A3E-A23B-5F4FA9B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7858E-BA3A-4C3B-B2FD-FDABE8E3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09C40-E980-4B5D-8FCD-883223D3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97827-8BC1-4D8D-833C-6463998F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61C37-2AC7-4CAE-A6F7-37D17837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6F0E2-F2E8-4519-B9DB-CAD51DC6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18CCC-CC3E-4D73-B5FD-7CD6B041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56CDE-A245-41A8-B06D-4191BD90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45690-E9BA-4709-8F66-BA4FD0AF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FF7B9-A45E-4C61-BD50-EB1DAF7B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77914-F100-4C06-955F-B751E039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463D0-DF44-4A53-82A6-95DFB93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3D95C-AB03-4396-B57A-D6F8F64B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8648A5-FA25-4011-8055-23B553A5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3367E-8124-4CF0-B35A-2FFEA051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8CFC75-C6FA-440A-ACDD-25FE67B4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4CE31-4DDF-47E7-9919-0804813C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ec0b2e2df444b">
            <a:extLst>
              <a:ext uri="{96DAC541-7B7A-43D3-8B79-37D633B846F1}">
                <asvg:svgBlip xmlns:asvg="http://schemas.microsoft.com/office/drawing/2016/SVG/main" r:embed="R754c558fb98144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17A545-0404-4345-836A-CEE18F6C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E3C754-0AED-47F0-81D5-A2BE7FBB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1911C6-5658-49DE-B79A-F987C012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DataArt workshop structure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B2C9EF-8B39-4542-993B-CF123A6A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3E3FB-06EF-43BB-A89B-3F11494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TODAY’S ROUTE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7A0F05-D1B8-48C8-9FE3-47D07CE7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Agenda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6AB019-E5C8-4C07-97A0-8A9C7D35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387089-307D-4A89-82F4-FE03B7AE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6EC046-3EB5-4066-A1C0-95E74167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284D56-117C-4351-9CC1-A6F7481D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PBIX versus PBIP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586728-611D-42B7-9F45-EC6E4645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785316-7D5E-42C2-AD88-22923C46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716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C85055-34AF-4FF3-8594-CFB07CA3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71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F200F7-2160-4246-A0B3-B6F0FD2E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Conversion and safe Git baseline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CBE6F0-A09B-419A-826D-DAF48B19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4EAAF0-B5CD-472E-B92A-70861FD9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78411A-DDDC-4632-A400-173FEFD1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88E7CE-731A-440A-8E9E-8B6BFEBA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PBIP root and report structure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A062FF-4A8D-47F2-8B5B-5D71C3C2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CD9CF3-A779-4389-815C-49163DF0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17A395-6168-4E19-884A-A9B81039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6A39B7-7920-4609-AF8B-436FBAE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Semantic model and TMDL levels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41D563-F889-4EE6-B343-BFD88ACE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CA608D-A52E-4A51-A64F-E9DE0CC2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A5C750-E827-4B33-AAD2-1B27978D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86CB28-D0F7-4F39-BD9A-F3D4A2E8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Codex changes and review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D4BEA9-CD53-4FAF-AD20-6E4E02F5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20D90F-AA5A-451A-AF4C-BC7E0892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528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75B4F0-6077-4035-B5E5-0C913A59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52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61E99C-004D-4A1D-BDDB-76BD14D6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End-to-end mini-demo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803AFA-B97F-41E2-A3D4-D25CDE1E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8191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865CE4-BCB7-4C85-AED9-1FD410DD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EDE9F1-BEFC-4A32-907B-9E00F07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72150"/>
            <a:ext cx="773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How to use this deck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551753-950D-48E4-B229-A369A508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53150"/>
            <a:ext cx="773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Follow the checkpoints in order. Copy the prepared commands and prompts, replace only the bracketed placeholders, and stop when a checkpoint fails.</a:t>
            </a:r>
          </a:p>
        </p:txBody>
      </p:sp>
    </p:spTree>
    <p:extLst>
      <p:ext uri="{BB962C8B-B14F-4D97-AF65-F5344CB8AC3E}">
        <p14:creationId xmlns:p14="http://schemas.microsoft.com/office/powerpoint/2010/main" val="1224831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72048-2073-4972-9FFE-6CBD9A51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8FA28-5DAB-4C20-A9CB-8529523D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60146-9D0F-41BE-9B8B-EAF99004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CCE5F-9563-4AFF-A2D5-5DF3422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B2294-CF69-4C00-A6BC-F2EB161F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1EEFE-D535-409F-BB76-69518E27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4470E-9CB7-4164-A7FC-6F2403FC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7AC1E-D9D0-4F7E-AB2A-15BCDA88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7817A-AA31-447C-A1AA-CB6AA9B2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90118-23DE-42DB-BC2C-736F061B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AAAB0-17DF-4B0C-ABFF-1164C027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E19CB-81DA-4364-B593-4912ED9A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E68A5-9D8C-40F7-8D71-679977E0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9C401-0173-4C7A-ACC4-0E8ADE1C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B129B-4F6C-44AB-A124-7CDF28ED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0313C-ABB5-4208-BB03-438DB7A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16240-F366-4F73-B8C9-B5D1A8CD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C30C0-9604-4A57-BCB5-D98FDF4B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A3CDC-D7C9-44FA-BCB2-0AF19AB8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0DFFF-07A5-4FBD-B620-B763FA4E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68EB4-BC81-4667-89BD-36116BD3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7A46A-8716-436D-ADEF-3B75E4F5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8E668-797F-4621-A4AF-B5F056E4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FB885-589D-4099-82F0-432EA17E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CAC0D-4A52-4F14-9564-CFBBC4A9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FEAAE-0E32-4F54-9875-DBBAB8B8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BD2F4-65FB-4F52-99EF-02C2243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792F4F-0885-481B-89D1-B8B33762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0eeb594b143d4">
            <a:extLst>
              <a:ext uri="{96DAC541-7B7A-43D3-8B79-37D633B846F1}">
                <asvg:svgBlip xmlns:asvg="http://schemas.microsoft.com/office/drawing/2016/SVG/main" r:embed="R5ca356008ec64e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5A0D29-9EF5-43D8-B09A-C5FDFE11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DD6C1-55BC-49CB-A678-36F45704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7C11C1-74BF-47FA-814F-A3856DAA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Microsoft: https://learn.microsoft.com/power-bi/developer/projects/projects-overview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C18CD-03B4-4EC8-B4FC-91FAAF1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337C65-EBD0-43AB-9097-58EFE238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WHY PBIP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6CF6C8-4BAA-497B-AF1F-6760E340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PBIX is a package; PBIP is a versionable project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BD92FE-8860-435D-B85D-77648DB2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305425" cy="40386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201F08-ABDF-4C30-BF1A-061F092A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848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PBIX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AC8D7A-548F-4C88-9792-4D9B2B78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9C32B9-6576-4F01-B4BB-D0CA8AF4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Single binary file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A9EF40-180A-4095-8359-778F77B8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720C6B-84B6-4DC6-B66D-DD74ADCE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Easy desktop hand-off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701876-EA45-4F27-A676-F1772402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4A4390-51E2-4634-B353-40ABBFE4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Opaque Git diffs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7EDCCD-9E32-4FF3-AB39-A7E0DA2A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8C2D46-FA38-407C-8F95-F8BD3BE8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Harder automated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17BFA9-4484-49E1-8FEC-EFA6A2AC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90700"/>
            <a:ext cx="5305425" cy="40386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3453A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8B7D2A-E74D-4028-83F6-FFAE56E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4848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53AD"/>
                </a:solidFill>
              </a:defRPr>
            </a:pPr>
            <a:r>
              <a:rPr sz="1725" b="1" i="0">
                <a:solidFill>
                  <a:srgbClr val="3453AD"/>
                </a:solidFill>
              </a:rPr>
              <a:t>PBIP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CBE517-22D8-4C60-B8C3-76B6B4A8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5441DC-C13E-44BA-B8B8-3246D13A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241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Report + semantic model folders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322AD2-39E6-44CB-B1DB-D84F4ADB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7D0C33-3586-483F-AD2F-F8F9E0F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528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Text-based definitions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8D95F1-2AF0-47AB-AB4A-29CED644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9E7477-87C0-4EF0-BF6F-07C96BFD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814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Meaningful Git changes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36DC63-0590-462E-892C-9ED2DCEA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03BFB0-4DED-4B65-89D0-095F03F5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6101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Automation and Codex-ready</a:t>
            </a:r>
          </a:p>
        </p:txBody>
      </p:sp>
    </p:spTree>
    <p:extLst>
      <p:ext uri="{BB962C8B-B14F-4D97-AF65-F5344CB8AC3E}">
        <p14:creationId xmlns:p14="http://schemas.microsoft.com/office/powerpoint/2010/main" val="1676787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9349E5-ECA0-4050-A35B-EC4353A5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EE74B-E6A8-4BC5-9639-6C2BB745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44CD6-F337-4CD8-A2B9-776C328B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CC3BF-AC5B-4905-BF79-08B86BCC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CA825-6583-4FB7-8F29-0B26D125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17DAD-4E6B-4BAE-B587-4511FBF7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80C9C-A23A-465F-8DB0-6E486971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01BF8-E6EA-4BE5-B269-88A04AD9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57D57-AE06-44E3-BAD0-7FB4C30D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7ECEE-A690-480E-9891-DA07D438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E4DD5-0A67-46C3-AFB2-F711FC5D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2B2FD-93B7-4B14-91FC-7477A6ED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77815-4F05-4D89-94BC-65709902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7DC7F-D76E-4C30-82B9-D7D774E8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B8677-D388-49CC-B5CC-32008C0B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24F9D-3EB9-442B-A157-5B26C990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E4D8D-27BA-42F1-86C5-E800042E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A1E0F-E227-4179-830C-348AEB2F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16DF0-065D-4E7C-82EE-1CE68228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2B7B1-B69D-4AF4-9EE8-200FEA61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93748-4AB1-4ACF-B25F-D986FF7C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DAFAC-7676-40EB-BC74-27C458BF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9AD28-8898-4C7D-9AB5-F60E3317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213CB-28A8-436F-8AC6-F00EB16A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0CD4D-4EDF-43B5-8BEE-DF5D36A0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17E6B-C03A-43C6-8E40-FE85C122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FFD93D-12F6-47B5-9483-3EB5A186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A50D5D-314D-4A16-B9F4-C271D19B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942ef4b684eea">
            <a:extLst>
              <a:ext uri="{96DAC541-7B7A-43D3-8B79-37D633B846F1}">
                <asvg:svgBlip xmlns:asvg="http://schemas.microsoft.com/office/drawing/2016/SVG/main" r:embed="R0b7bf098e1474f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DB8185-4E0F-4AAB-89BD-82A993E5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BD606-2587-4675-9F3A-96B5CF17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B4FB50-C6E9-4213-A651-8B5031BB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Microsoft PBIP overview (preview): https://learn.microsoft.com/power-bi/developer/projects/projects-overview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5326BB-6044-47E9-9A2B-32938E29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1DD201-DEAE-462C-8150-D84619C7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READINESS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89CDA9-70AF-42E8-89DC-424CA655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Before converting a report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FD2984-2A16-434A-A612-05533C66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0DFCA9-0E97-401D-998A-71EC8974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567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Install a current Power BI Desktop on Windows.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5C8C0E-0861-496D-AF0B-7C3CA3CF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74C7C9-783E-4E42-8EF0-253CC074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567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Create a backup copy of the original PBIX.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F1FB0F-697F-4759-9951-815CCEDE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71CC07-130F-49D5-99C9-06A34E2A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567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Use a short local path; avoid saving the PBIP directly into OneDrive or SharePoint.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334124-8765-4286-A65C-32E09DEF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2A5611-B453-43E5-8193-188B6A9F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567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Enable the required Power BI Project / TMDL / enhanced report-format preview features, then restart Desktop.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78CC48-123E-488E-864C-F671D915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A7F003-220D-48A1-B097-85E23BA0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567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Prepare Git, a private repository, and a branch for the conversion.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F944F9-1B40-4E74-BE26-747EBD5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252D3B-6646-49DE-AF07-9BD8C7AC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567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Use a sanitized sample first; document custom visuals and data-source dependencies.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5E776C-C7DA-4678-834A-448F73E4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409575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683D7A-FB2E-4C26-ABE0-E3403DB3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76200" cy="3200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C1115B-D27B-40D8-B683-732B3A58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Preview warning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D327C6-D12B-4FC5-B994-B664D05C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3638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PBIP capabilities and file schemas are preview features. Validate on a copy and keep Power BI Desktop as the authoritative save path.</a:t>
            </a:r>
          </a:p>
        </p:txBody>
      </p:sp>
    </p:spTree>
    <p:extLst>
      <p:ext uri="{BB962C8B-B14F-4D97-AF65-F5344CB8AC3E}">
        <p14:creationId xmlns:p14="http://schemas.microsoft.com/office/powerpoint/2010/main" val="2024079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BD95AD-B634-428F-A051-6BAFF027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07943-CC2C-4CC4-AB2F-198D4B68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073B6-47CC-4F15-A98E-8178E6F2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DD1AD-5980-4ED9-8D26-FECFEE3D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76FB3-F390-47E9-B149-9E648916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E7B0D-A010-4BE0-9E01-20DA60A3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A88F3-ACD5-46F0-B32B-4FB5F180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B440D-FED1-453D-9E52-B970547B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0A0F3-7ED7-4BC6-9212-BC2A38C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C71D5-43D9-436C-B303-B3B1279D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E827F-6AC6-49C4-8AD8-FD10958F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96C3A-766C-4E61-B7C5-06CFA6F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5ED75-AD0D-4DC9-9C2C-3E4AADF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B821F-1F43-427A-8703-B7CB29B1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60E45-EA8F-42C5-B02C-F43BED8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B484C-B1D2-475A-A082-982D868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18129-A03B-434C-9B5D-DB6817B8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B5B1C-CB70-4839-ABBA-DD1FE27B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BB597-B3A9-498B-8E2B-1CE7EAD0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13E1A-6D7B-45C0-B984-8CB6D891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0B13F-14C3-4A5F-B8B0-F788F778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150EC-92BD-468A-BB41-65D1404A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8A869-1F6C-4D0F-A744-71B40B9E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1094B-C7F2-435E-B117-213BEE43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43EE0-8738-4BBE-9616-70B40695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3BA51-B368-4E8F-BFAE-0BAF6BEC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70AC9-3B50-445D-ABFA-87981457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C78C2B-49FC-48EC-8E63-4A107ADC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770116d6d4da9">
            <a:extLst>
              <a:ext uri="{96DAC541-7B7A-43D3-8B79-37D633B846F1}">
                <asvg:svgBlip xmlns:asvg="http://schemas.microsoft.com/office/drawing/2016/SVG/main" r:embed="R93f82a0dc65249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DDF30C-1B2D-4300-8B75-08441B90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AC5B05-1FAC-43FF-BBB8-1AF470F2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B3976-3FEA-4C21-89D4-38E28482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Official Microsoft screenshot and guidance: https://learn.microsoft.com/power-bi/developer/projects/projects-overview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F9E813-955E-4E05-8BE6-17B14067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85931D-F10C-45CC-B53C-6B4C9F3E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HANDS-ON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B02571-1D14-4AEA-A012-661BB64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Convert PBIX → PBIP in Power BI Desktop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6E0287-07A6-4996-B75E-09ED18A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30b3cd2e640c2"/>
          <a:stretch xmlns:a="http://schemas.openxmlformats.org/drawingml/2006/main"/>
        </p:blipFill>
        <p:spPr>
          <a:xfrm xmlns:a="http://schemas.openxmlformats.org/drawingml/2006/main">
            <a:off x="935976" y="1905000"/>
            <a:ext cx="7081547" cy="3867150"/>
          </a:xfrm>
          <a:prstGeom xmlns:a="http://schemas.openxmlformats.org/drawingml/2006/main" prst="roundRect">
            <a:avLst>
              <a:gd name="adj" fmla="val 246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47B4B7-8039-4850-A0B6-8DF8C6AD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453AD"/>
                </a:solidFill>
              </a:defRPr>
            </a:pPr>
            <a:r>
              <a:rPr sz="1650" b="1" i="0">
                <a:solidFill>
                  <a:srgbClr val="3453AD"/>
                </a:solidFill>
              </a:rPr>
              <a:t>Exact steps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DFE56E-133D-40AA-9AC4-8312020B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B849C3-D365-479E-8940-A33E7CFF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File → Save 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6209E6-38C5-44A3-8AD6-A36437B3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56F46F-C150-4B42-8ED4-FF9B1A64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Choose Power BI Project (.pbip)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478AA0-6DEE-4993-953A-0B633760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91AC1A-BBEC-4FF0-8206-5119A558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Save to a short local folder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DAFF6D-B52F-4E34-8B92-E0B93B91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EFF1E8-8590-4D81-9E38-22BB5655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292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Close and reopen the project</a:t>
            </a:r>
          </a:p>
        </p:txBody>
      </p:sp>
    </p:spTree>
    <p:extLst>
      <p:ext uri="{BB962C8B-B14F-4D97-AF65-F5344CB8AC3E}">
        <p14:creationId xmlns:p14="http://schemas.microsoft.com/office/powerpoint/2010/main" val="1523276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71F53-3682-4FA9-B89F-0F48272F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F042B-2992-44E7-875D-244F5664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6CF36-F362-4691-81D5-84AB3C8A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74BA5-13EE-445A-8945-79729C6C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A0614-3286-4C04-BE1A-2439225D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8CBFD-2C74-482D-9721-475D9BFC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24A45-1D28-410E-B21B-2DBD4455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024C6-4CAE-4303-9E41-BBA44D21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91747-7BB1-4125-AE02-2251EE4D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5613A-EF39-4065-8DF9-068551C1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3F1BB-6684-4332-BBDE-574D09D9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1574F-3B12-4B11-BFE5-015056C0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B05EF-479D-4898-B8D6-4024721F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810B2-4C8E-4202-A3FE-16063D65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94CEC-D3E8-49D6-ACA7-DF2515CE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6EA2C-47D6-4989-8810-5C8ED724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1F8FD-4306-4E43-9E31-7ED2B447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7726F-4B55-4180-B0A7-CB9B7941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B452B-79CE-4CB1-ADFA-33F220AE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1CAD0-10BB-4277-8062-718840A1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ABFB3-A760-49BA-B016-B6F27D55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3997B-7D25-4C94-8A93-B7D72283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A118F-76A9-4B87-86C0-C4317902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F9A04-F511-41D4-B062-06845C68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1EB73-CD04-42A3-B26C-93EF42D9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DB78C-7256-47EB-99CC-FD73541F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CC3BC0-17AE-42AD-9502-BD241C92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C16713-3F55-46D7-A3A2-F05D0D4B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fb3bfce254c1c">
            <a:extLst>
              <a:ext uri="{96DAC541-7B7A-43D3-8B79-37D633B846F1}">
                <asvg:svgBlip xmlns:asvg="http://schemas.microsoft.com/office/drawing/2016/SVG/main" r:embed="Rf16bcb76cf0c49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B70A8E-B842-47F2-ABE2-02560E58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18CA4C-8940-493D-8073-EAD22AE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FC8C6B-9E44-467D-ACFB-76929C15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Microsoft .gitignore guidance: https://learn.microsoft.com/power-bi/developer/projects/projects-overview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345C68-C77B-4344-B10B-2B6070F1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2E2474-B146-4946-AA0E-E97FAF3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GIT BASELINE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BE4478-085F-4441-8348-D7FC59AF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Create a safe first commit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10F844-3D23-4EBD-8E6C-2341DDD4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0D4A12-C373-4001-BE0E-45B00323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B6AAF1-8CD2-4A63-93FC-18715694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POWERSHELL / GIT — COPY / PASTE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E553A9-1E19-44FD-9117-9621CFB0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cd C:\work\analytics-demo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git init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@"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**/.pbi/localSettings.json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**/.pbi/cache.abf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"@ | Set-Content .gitignore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git add 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git status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git commit -m "Convert report to PBIP baseline"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8A7B26-711E-458D-82FC-BA4F20E2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C72FC6-4175-4DB7-9FE9-3CE83C84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BA3447-14C9-4594-8527-E2E6E426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D0D77C-E5CF-42F7-A54A-CB405F6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Only project definitions and intended assets are staged. Local settings and cache.abf are absent.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4BAD7E-FD98-4629-A12B-D3557247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67C2FC-4FF1-435C-BEBE-E51AA3B0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68AFFB-A3EF-4545-8786-133BC691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660A97-CB64-46C8-A97C-E2FCD9DB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Inspect git status and the diff before every commit. Never commit credentials or connection tokens.</a:t>
            </a:r>
          </a:p>
        </p:txBody>
      </p:sp>
    </p:spTree>
    <p:extLst>
      <p:ext uri="{BB962C8B-B14F-4D97-AF65-F5344CB8AC3E}">
        <p14:creationId xmlns:p14="http://schemas.microsoft.com/office/powerpoint/2010/main" val="1371623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CF291-9798-4EA8-A28B-47EB2E10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34669-875D-4F53-B774-AB2FB7E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8820D-8F8F-4BA2-B258-E73945EE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930D8-C08E-46F8-9054-80B04486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DEE52-5708-4D90-83F2-3881865C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B0328-9274-4BED-8829-61F1671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DE74A-390B-42A1-9250-89B606E7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ACE38-0504-4671-982B-E2EC6662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B65E4-3AEF-4EB9-BE9D-8939039B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76BE4-E0DB-4BF6-8D58-2B119918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582C3-B386-4C42-92ED-C1A074FA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D784F-5063-4A84-A7CC-E9BA67C6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0DA3F-16BE-4934-8149-897A0883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5191E-6756-4197-A5FB-0D15E376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1F38F-2D13-4FAD-BFEB-FD81E171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5A555-BD1E-4A65-A4B9-014ABCDE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F15AA-1E08-437C-8C37-9C75B8A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7CBEB-FAD8-464A-9E8D-770169F3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9CDA7-E065-45E2-BFDB-92B7C4BD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62BB9-BDA9-47CF-BE0D-B6B05174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B3679-7039-4D38-8FCA-6480E5F6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249C7-74A2-4CD8-B446-6B9C7DAD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0CF85-E7C0-48D5-852F-CD3D936B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9A4348-5723-4DCE-A9B7-A01500A6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47F95-9B41-4C3A-990D-9D74BE03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FF254-B9DA-4CB7-84C1-96CFC14E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CF47B-4CD5-4628-A49D-4451FC87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B58EB-F156-4C40-B48C-80DB173A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0ba8947714244">
            <a:extLst>
              <a:ext uri="{96DAC541-7B7A-43D3-8B79-37D633B846F1}">
                <asvg:svgBlip xmlns:asvg="http://schemas.microsoft.com/office/drawing/2016/SVG/main" r:embed="R0f38b34ad8b644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ED9B66-2FFA-439D-9064-3F676702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3FA793-AE02-4A30-85D2-01228EC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330C62-756C-4EE0-AF53-C888512E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Microsoft PBIP overview: https://learn.microsoft.com/power-bi/developer/projects/projects-overview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1989F6-E4C6-46E7-B4DE-B7AF84EE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6D4FB7-DB30-4623-9292-E1BF55A2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PROJECT ROOT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89B2E7-8BB9-4FB6-AF2F-059D7BE0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PBIP root structure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9D1DA4-7055-4F5B-9B0A-075584A2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286500" cy="4267200"/>
          </a:xfrm>
          <a:prstGeom xmlns:a="http://schemas.openxmlformats.org/drawingml/2006/main" prst="roundRect">
            <a:avLst>
              <a:gd name="adj" fmla="val 4018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28405E-3667-4230-B918-03F21C97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57150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CustomerProfitability.pbip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CustomerProfitability.Report/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  definition.pbir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  definition/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  StaticResources/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  .pbi/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CustomerProfitability.SemanticModel/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  definition.pbism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  definition/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  .pbi/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.gitignore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775D6E-2244-418F-BE57-F5E900F3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409575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6DB209-B469-4920-9B6A-7ADF88E0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76200" cy="236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6A0970-DD62-46F3-87F5-85B615F4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Two linked projects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CAFA8D-5DA4-4F6D-966E-3FD8027A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3638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.pbip entry point opens a report project and its referenced semantic model project. Keep the relative relationship intact.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9BA4C6-E5DF-46C7-BF31-5CEBBED7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BDFD6B-8BAE-46BC-B093-AF08B6C8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7620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947ACA-9087-4F05-A7C9-872440A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053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Local-only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D90910-59C7-44B6-9A92-A6F40913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86350"/>
            <a:ext cx="3638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.pbi folder can contain user and cache state. Commit only items explicitly documented as source.</a:t>
            </a:r>
          </a:p>
        </p:txBody>
      </p:sp>
    </p:spTree>
    <p:extLst>
      <p:ext uri="{BB962C8B-B14F-4D97-AF65-F5344CB8AC3E}">
        <p14:creationId xmlns:p14="http://schemas.microsoft.com/office/powerpoint/2010/main" val="1620997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0AF25A-D37C-4CFD-8CC2-110366BD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15EE4-5DB8-48D8-A806-4A5CB306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996AB-2B74-4FC4-8EF3-B931FE72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D4652-6712-4C2C-8ECB-E4E9F68E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B8046-CE41-4E23-9897-EC4A44B5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780A4-0380-447B-8F47-F20CD3B2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D5CF8-0236-4004-838E-76BDBE35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1E632-D7A3-4C29-8307-EE72FE1F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F1322-88B3-4BCA-83CD-C05CCC7F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C0610-600A-4C33-AFCA-30FC4304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04A0B-5D20-4D08-8694-8DDE8A0F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0D16E-696D-4081-B71D-97F63766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3CCB1-3E3C-46F3-BF34-61BB1E05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60CA2-EF33-444F-BD62-971C1301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D827B-6BDF-4FBB-A833-0C7FA3C0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12D30-64B2-4DF7-BB96-8F56A886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BCF93-C7F8-4989-B043-40F30577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3E73B-D045-463E-BE7E-6656AB6D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CA318-9BFB-4FFD-9922-51F04FA6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B4DD5-77D9-4F60-B74C-9F40D46F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352D8-853F-4D5C-879A-330072F7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41E6E-9AF6-480D-86D2-EC9F442B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38321-807A-44CD-9888-93D83EFA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F8A0B-686B-4E21-8BA8-83FFC5FC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46386-29D5-4829-A074-94DA3C01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3B7C8-F18A-485D-8699-8C655DF9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F2F86-6951-49A2-8977-53A1DC9C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186834-4FA5-4EBF-9268-E300159A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c9c33987e45c0">
            <a:extLst>
              <a:ext uri="{96DAC541-7B7A-43D3-8B79-37D633B846F1}">
                <asvg:svgBlip xmlns:asvg="http://schemas.microsoft.com/office/drawing/2016/SVG/main" r:embed="R03e8f027122f4f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D68E1E-298F-45D8-8CDB-27D9E92F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90FCE0-4164-4389-85D1-4A945072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E7A8CE-528B-4C38-9C3D-A91ED816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Microsoft report project: https://learn.microsoft.com/power-bi/developer/projects/projects-report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A4DEF9-65AD-48E0-93FF-0B51671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9F0CA3-4206-4866-8075-8C7EB7D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REPORT PROJECT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63D768-0773-4D04-8B03-B197A6B0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Report folder — all important levels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082FF8-C952-4585-9FA2-878FEFBC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286500" cy="4267200"/>
          </a:xfrm>
          <a:prstGeom xmlns:a="http://schemas.openxmlformats.org/drawingml/2006/main" prst="roundRect">
            <a:avLst>
              <a:gd name="adj" fmla="val 4018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0C2BCD-0280-4378-A814-D5D62F58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57150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Report/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├─ definition.pbir                 [required]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├─ definition/                     [enhanced PBIR]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report.json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pages/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│  ├─ pages.json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│  └─ &lt;page&gt;/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│     ├─ page.json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│     └─ visuals/&lt;visual&gt;/visual.json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bookmarks/&lt;name&gt;.bookmark.json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└─ version.json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├─ StaticResources/RegisteredResources/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├─ CustomVisuals/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└─ .pbi/localSettings.json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13C1D1-6F6B-4746-83E4-B01C772E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409575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7BC670-EE99-493A-B00F-7CF3E3D9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76200" cy="236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44C5D0-4AA8-48F2-BB19-3D01F0C4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Enhanced PBIR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E46095-1ABD-4C8F-A9D1-87EEFD54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3638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Each page, visual, and bookmark becomes a separate text file, making diffs and targeted edits easier.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6E2BDC-DE38-465F-ABB4-DC78AD16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DE29D3-4861-48E5-B9CC-F6AF7793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7620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3BA7DE-856F-43B8-87D7-06E721EB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053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Do not improvise schema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67A6EB-EFEF-4190-A911-C42E48D4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86350"/>
            <a:ext cx="3638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Use the schema URL and Desktop validation. Unsupported external edits can stop the project opening.</a:t>
            </a:r>
          </a:p>
        </p:txBody>
      </p:sp>
    </p:spTree>
    <p:extLst>
      <p:ext uri="{BB962C8B-B14F-4D97-AF65-F5344CB8AC3E}">
        <p14:creationId xmlns:p14="http://schemas.microsoft.com/office/powerpoint/2010/main" val="6454277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36DC0D-7A14-4C7B-9EF4-C5096F83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28761-803A-4E97-83AE-8C5D409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20E1F-BDB4-453A-8AAF-41C42386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CFAC7-A1FA-4ED7-BACE-F2CE5BEA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F4FD1-F7E3-4D87-B186-6439A859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93A3A-8A7F-4F4C-A838-106495E5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57D60-CCE5-4ACF-AE62-34947635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394D2-2DA9-4983-9ABF-20AB08C1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E652D-5B3E-4F0C-946A-C38C17E1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A1EA8-7759-4D15-95C7-0494DE1B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17F83-05ED-4965-983B-ECDBAF0D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B6A2D-7D0C-4DD3-810B-5DFF4262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C2D7F-F501-4F23-BBDB-92B34A8D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699BA-9806-4F41-8160-2E174318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40637-32F3-4E1B-829D-3D8BB70C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8A734-153D-44B9-B6FF-3F99A8E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1987B-0AD5-4044-BCD6-95300C81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1EC81-994E-4BD8-979A-3FF38283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659A8-26C7-4399-BC98-FEC3C986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B91CA-0262-462C-B061-161CA7BC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5F2F3-4476-484C-ABFC-F7A37137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72427-ED9D-4977-8F30-94641F93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2B062-A148-46F0-ADE1-21F28990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D864A-8B74-40D7-BD4A-1ACF2AD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1AD8E-954C-4B8E-9F31-449373D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10165-3EB1-4617-BEF2-AEFF6018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B92C32-D3DD-4E6A-B40F-401D1FE0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30C66-444C-4F79-B01B-3A38E3D2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12b096a394385">
            <a:extLst>
              <a:ext uri="{96DAC541-7B7A-43D3-8B79-37D633B846F1}">
                <asvg:svgBlip xmlns:asvg="http://schemas.microsoft.com/office/drawing/2016/SVG/main" r:embed="R7c5b6b47dc514a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7B5169-591D-4335-8280-9699F303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880745-B446-4B68-A0D1-718C929B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DCEB73-EA3F-4D78-AFF0-795C0A46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Official Microsoft screenshot: https://learn.microsoft.com/power-bi/developer/projects/projects-report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8B6C78-8588-4792-9102-0CBCF423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192ECA-6F67-4E33-A99D-B78E1640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ENHANCED PBIR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7788D2-A736-42FD-86DB-4EBA3D3F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Pages and visuals become diffable files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32BA9E-5A48-401E-BCA0-9129E086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079ef933c46be"/>
          <a:stretch xmlns:a="http://schemas.openxmlformats.org/drawingml/2006/main"/>
        </p:blipFill>
        <p:spPr>
          <a:xfrm xmlns:a="http://schemas.openxmlformats.org/drawingml/2006/main">
            <a:off x="1748555" y="1905000"/>
            <a:ext cx="5456390" cy="3867150"/>
          </a:xfrm>
          <a:prstGeom xmlns:a="http://schemas.openxmlformats.org/drawingml/2006/main" prst="roundRect">
            <a:avLst>
              <a:gd name="adj" fmla="val 246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CA0904-BF5D-472C-94AD-D950E559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453AD"/>
                </a:solidFill>
              </a:defRPr>
            </a:pPr>
            <a:r>
              <a:rPr sz="1650" b="1" i="0">
                <a:solidFill>
                  <a:srgbClr val="3453AD"/>
                </a:solidFill>
              </a:rPr>
              <a:t>What changes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256D73-707C-4261-9FBA-A9AE0718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2EF95D-E641-430C-9F46-1220BCE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One folder per page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405BC7-9FAD-458C-A714-59AE666B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8EE5C1-2AF5-4C05-BA13-9E0EEB8A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One folder per visual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3E9759-1A99-480D-9952-16437755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41AE0F-97C7-4941-8D9F-99B4BBC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Readable JSON properties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0203CD-4846-444F-B99D-436121F0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A924A9-05FC-438F-B249-3DC1B151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292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Better conflict isolation</a:t>
            </a:r>
          </a:p>
        </p:txBody>
      </p:sp>
    </p:spTree>
    <p:extLst>
      <p:ext uri="{BB962C8B-B14F-4D97-AF65-F5344CB8AC3E}">
        <p14:creationId xmlns:p14="http://schemas.microsoft.com/office/powerpoint/2010/main" val="4948863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2FD3DD-DFAB-4435-A0BD-18BE7411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B12B8-B0FD-4B07-81AB-459149AF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DF0BE-241B-4C4E-BCB6-F96322EA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D1CCB-BA02-41FE-80FF-0E07F62B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2D5B3-2E25-4CE8-8C01-B7326173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90513-8562-454B-8BA1-CC7D726B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BC6F6-EE3D-4933-BB4E-17543755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70788-90A2-4C3C-9CA4-59518829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6ADE0-6B7E-42FF-8D56-68D583CF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1A922-FFE4-4885-B7DC-26AFE7A6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33BD4-9DD9-4358-86F6-5C247257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D3208-5DD0-4CE5-A90A-497C0B5E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A18A9-24AA-440E-A396-1F7E8C62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7C2CA-911B-4E0A-B985-F5AE05F6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94C91-FEDF-4AE3-BE12-1540441E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8177E-CFF6-476C-B729-F9025515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7BD88-7B65-4DA5-8A7F-0DC6F2EC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9A16B-099E-48BE-A547-954146CE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1213C-C9FA-4DAE-A0E7-5F93BC8D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0AB8B-5B10-44DD-9F1D-A85D60BB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575E6-0E69-41CF-9373-189B1754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2EE6C-5480-4EA8-A01C-D282A015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60BEC-7B97-4E6E-9AC4-52FEDD9B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32931-3D5D-401E-8175-319F949D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93A97D-CA22-44FF-9E14-53D4E819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3F7FB-8E68-440D-BB8B-0E75F57F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FD8C8-B842-4FC6-8078-EEC3C957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711BAA-CAB8-4D28-8F9D-A213537C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980e1445240dd">
            <a:extLst>
              <a:ext uri="{96DAC541-7B7A-43D3-8B79-37D633B846F1}">
                <asvg:svgBlip xmlns:asvg="http://schemas.microsoft.com/office/drawing/2016/SVG/main" r:embed="R6277d595613046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AA0771-3101-4336-B304-C8AF7855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4B7F68-C837-4457-8EC6-0FC4B494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4D06D-3D0B-42A2-AB40-FCBA52A2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Microsoft semantic model + TMDL: https://learn.microsoft.com/power-bi/developer/projects/projects-dataset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B6F55-F61D-49F5-A642-87F95432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86631-89F7-4682-8613-EA1E6DA6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SEMANTIC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679C8-7A86-484A-A979-3FED6647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SemanticModel folder — all important levels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36D1AF-C570-4C5C-B6A1-C87E5B13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286500" cy="4267200"/>
          </a:xfrm>
          <a:prstGeom xmlns:a="http://schemas.openxmlformats.org/drawingml/2006/main" prst="roundRect">
            <a:avLst>
              <a:gd name="adj" fmla="val 4018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DB4D73-D4B9-4EAA-AD01-36DEE7C2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57150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SemanticModel/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├─ definition.pbism               [required]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├─ definition/                    [TMDL]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database.tmdl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model.tmdl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relationships.tmdl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expressions.tmdl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dataSources.tmdl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tables/&lt;table&gt;.tmdl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roles/&lt;role&gt;.tmdl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├─ cultures/&lt;culture&gt;.tmdl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│  └─ perspectives/&lt;view&gt;.tmdl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├─ diagramLayout.json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├─ DAXQueries/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├─ TMDLScripts/</a:t>
            </a:r>
          </a:p>
          <a:p xmlns:a="http://schemas.openxmlformats.org/drawingml/2006/main">
            <a:pPr algn="l">
              <a:defRPr sz="1125" b="0" i="0">
                <a:solidFill>
                  <a:srgbClr val="E8EEEE"/>
                </a:solidFill>
              </a:defRPr>
            </a:pPr>
            <a:r>
              <a:rPr sz="1125" b="0" i="0">
                <a:solidFill>
                  <a:srgbClr val="E8EEEE"/>
                </a:solidFill>
              </a:rPr>
              <a:t>└─ .pbi/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9DE639-B06E-44FB-901D-5230C770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409575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61E5CC-2272-4D09-BB28-F8D9F733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76200" cy="236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2DD050-40C8-4319-B172-2119F5BD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Source of semantic meaning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1B4FCB-7476-44DB-9C49-322BA829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3638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Tables, measures, relationships, roles, expressions, and metadata become text that can be reviewed and tested.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3598CD-3AE6-4B49-91A0-DEE9DCDE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C8F3A1-F1A3-4EBB-AECC-C5AAF04B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7620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4C0464-503C-4C25-9A14-1EB6CDC1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053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Compatibility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18C8AC-A211-4A83-9595-A76D1B2B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86350"/>
            <a:ext cx="3638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A project may use TMDL or model.bim depending on configuration and conversion history.</a:t>
            </a:r>
          </a:p>
        </p:txBody>
      </p:sp>
    </p:spTree>
    <p:extLst>
      <p:ext uri="{BB962C8B-B14F-4D97-AF65-F5344CB8AC3E}">
        <p14:creationId xmlns:p14="http://schemas.microsoft.com/office/powerpoint/2010/main" val="3913047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72B73-23E2-4527-8ECB-B555AA4B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DC8EA-1A04-4F37-9394-C0C18139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AD3C0-C6C6-4F16-9EDF-A12CAAAB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31D5A-FAAE-4352-86B3-8957F89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CD808-19AA-412E-8CC5-07F44723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BBC85-7D2F-4673-A923-AABA536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A2A37-6AF2-4F02-9E84-469CE1C9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F5148-7427-4590-ABB0-4EA2D273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809E0-A09B-4095-BF6D-E0BDB1AD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76404-2B2B-42C1-BAE6-7BAFC1BD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2DF3B-40A3-4E4C-BF6B-023E716F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CEE51-6040-469F-9B1C-226D0436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FA3E0-B9ED-4893-9E0F-58BA5BC0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75531-F535-4EDB-B8E0-20B8DD41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DF0D8-532B-4E7D-88D1-119CB6C9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30DD0-2C3F-4959-9A07-24908E4E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07FCB-491C-47FF-A883-166A16BE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E1079-88A8-47DB-B725-F8DAF4CE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35B26-CF1F-4CA2-BEF8-FB196606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B892A-DC2E-481A-86B4-852E8AF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98AF6-503F-47AE-921A-D0CF7660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EE7EE-E2A5-4BE4-9A6F-3496FAF9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EE425-6AD3-44E1-862B-C8F35CED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576DA-7F6E-41A4-A30F-84EB536A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170663-8DD5-42E5-A7F1-2D0DB6BD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011FE-23C2-46B0-A3E4-15E166E3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23E60E-C014-4114-B733-D7BB908D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6477D0-F5F6-4042-95C2-045795BD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e082bb6c94fae">
            <a:extLst>
              <a:ext uri="{96DAC541-7B7A-43D3-8B79-37D633B846F1}">
                <asvg:svgBlip xmlns:asvg="http://schemas.microsoft.com/office/drawing/2016/SVG/main" r:embed="Rf46fd7cf72a34b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45975F-0210-406D-8E1C-D4298A4B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EAEA4B-B762-4116-941E-B3777670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235C6-BCA8-4C0B-8993-05E84937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TMDL overview: https://learn.microsoft.com/analysis-services/tmdl/tmdl-overview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8ADA0-37E8-4A4B-8498-BA42834D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B45E92-969B-4A87-8DDB-99B76532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TMDL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989907-B943-40AD-AF85-5F4CAB69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TMDL root and folder hierarchy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6177C1-5D69-4ED7-B82E-A044B244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286500" cy="4267200"/>
          </a:xfrm>
          <a:prstGeom xmlns:a="http://schemas.openxmlformats.org/drawingml/2006/main" prst="roundRect">
            <a:avLst>
              <a:gd name="adj" fmla="val 4018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CFFBFE-0481-478F-89EA-6F9A8FC3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57150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definition/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database.tmdl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model.tmdl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relationships.tmdl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dataSources.tmdl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expressions.tmdl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functions.tmdl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tables/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│  ├─ Date.tmdl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│  └─ Sales.tmdl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roles/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├─ cultures/</a:t>
            </a:r>
          </a:p>
          <a:p xmlns:a="http://schemas.openxmlformats.org/drawingml/2006/main">
            <a:pPr algn="l">
              <a:defRPr sz="1200" b="0" i="0">
                <a:solidFill>
                  <a:srgbClr val="E8EEEE"/>
                </a:solidFill>
              </a:defRPr>
            </a:pPr>
            <a:r>
              <a:rPr sz="1200" b="0" i="0">
                <a:solidFill>
                  <a:srgbClr val="E8EEEE"/>
                </a:solidFill>
              </a:rPr>
              <a:t>└─ perspectives/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4566D5-4AB4-483D-AB41-199A6937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409575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F6EF17-FABF-4722-A33D-5574F533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76200" cy="236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BE7BFE-E738-4F16-BAD3-DEE971AF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Folder convention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C4E6AE-9CD2-45A8-B408-C49344B9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3638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folder structure is serialized text for the tabular object model. Use Desktop and schema-aware tooling to preserve valid syntax.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E594DC-EC2A-4B52-B6C8-B2690B45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12231A-24EE-4A7B-B53F-670C8818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7620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FE22FC-B59D-4088-B23A-9F40BB06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053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Review focus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9D2E39-4744-4C06-A4FB-285F577C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86350"/>
            <a:ext cx="3638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A reviewer can isolate changed measures, relationships, roles, and data-source expressions.</a:t>
            </a:r>
          </a:p>
        </p:txBody>
      </p:sp>
    </p:spTree>
    <p:extLst>
      <p:ext uri="{BB962C8B-B14F-4D97-AF65-F5344CB8AC3E}">
        <p14:creationId xmlns:p14="http://schemas.microsoft.com/office/powerpoint/2010/main" val="945338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82F67-2E9F-448D-990E-012A7166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3FF65-F623-4A7A-85D7-488E50CE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DE244-C142-4214-82D1-23BAEDB1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37287-8BA8-44CE-A6B3-B742C1F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3413D-BB3C-497D-8A33-E886B73B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F7897-DA88-484A-80FD-0C63E0C7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201B2-7513-4E91-ADA6-5DFF60DC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4B8E2-AB6F-497C-9AD7-509F474C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0B429-3D1C-4745-B24F-83C6C5A0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3DB1B-755B-46BF-AA89-1476FCC5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59441-B548-4241-9674-789A651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62ED3-A226-4826-B179-30F5D10D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7F6C3-AEF9-4C22-A81C-905AE77F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EDB83-345D-4841-B7E8-0BC7E00C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B2DFF-2046-4FE9-A103-496A7C82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6880D-3DD6-448E-83C1-DC1198D1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BF41D-F61E-4BD3-9B0C-62B263DB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252BE-071C-462F-A48D-9BCACE77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0A9A9-81AF-4D8E-99E7-B80095CF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0574F-85E7-43FF-8867-558797D6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05F57-6874-4BE6-A8FD-A8721CBF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F7C5E-A4CE-4128-9A23-D3ED7D8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A9D3C-C815-44AF-B361-9D96D781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DD617-651E-49B8-8D5F-0190959B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53AAF-7B4A-4D85-8A81-958134B9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71F2D-2898-4AB4-A107-DE203ED3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E5501-3F32-404B-8378-8AA19A86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1EA787-E2F4-4F13-B7C4-A2B929DC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bd359855b499c">
            <a:extLst>
              <a:ext uri="{96DAC541-7B7A-43D3-8B79-37D633B846F1}">
                <asvg:svgBlip xmlns:asvg="http://schemas.microsoft.com/office/drawing/2016/SVG/main" r:embed="Rf463440d8cc148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04609-BA64-4AF7-A55D-316126EA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77046-55F8-4EA3-B55A-C784C466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2890B5-451B-434B-A50E-884A0B77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TMDL overview: https://learn.microsoft.com/analysis-services/tmdl/tmdl-overview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9B6BB2-4B1A-416A-814E-1163A989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E8C4B9-9EBA-40D0-A358-59F70ADB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TMDL ANATOMY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74D679-1B69-4390-A31C-D35A7DA8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A measure is human-readable source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C54359-18FD-472D-A1EF-EEAEA72D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15E5CC-2489-4A76-BCAD-9AD9F5B2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98E952-AB57-44EC-87AC-3EBF1AA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TMDL — ILLUSTRATIVE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F02B2C-3C08-4C90-A150-179C6688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table Sales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	column Amount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		dataType: decimal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		sourceColumn: Amount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	measure 'Total Sales' = SUM(Sales[Amount])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		formatString: "$#,0.00"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	measure 'Sales YoY %' =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		DIVIDE([Total Sales] - [Sales PY], [Sales PY])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3A8D0D-0A95-440E-BE29-FBF335A0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12E05E-041C-4CC4-BB43-C908FFE4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289620-E423-4820-B07D-5FF442AB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036F20-9F4F-44FF-92B8-6F42B7E7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Open the project in Desktop. Confirm measures compile, formats remain correct, and a baseline visual reconciles.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25E850-8B2F-4C9A-B3B1-2C32973D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9453A2-95EB-49F3-8D0D-84026B29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79F47D-1DC1-4406-AD31-7E07B270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744C06-50A0-4742-9734-03E7B7D0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Treat the snippet as a pattern. Names, indentation, metadata, and expressions must match the project’s generated files.</a:t>
            </a:r>
          </a:p>
        </p:txBody>
      </p:sp>
    </p:spTree>
    <p:extLst>
      <p:ext uri="{BB962C8B-B14F-4D97-AF65-F5344CB8AC3E}">
        <p14:creationId xmlns:p14="http://schemas.microsoft.com/office/powerpoint/2010/main" val="306668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A9DC4-61CD-46F3-B001-090ADF65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BC56B-29AA-4719-9AAB-CE336EB7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A5152-7660-428E-858B-377B3683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0AFEF-211C-4209-8987-34DD2BF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FFCB0-8CC1-4F20-B903-BFF424BA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F4C41-3B43-49A2-986B-1CA717A9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54B2F-F267-4369-A3D3-D22B5BE4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E43B8-886D-41A3-9C4C-19021484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5952A-1668-4424-9616-F2A688B8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009A3-1EFD-49D0-819D-CA5BF2B5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23188-3E6C-4682-9CD2-85804706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E9C9B-FBA3-46EF-8087-9A553434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624C1-7C95-441D-9A3E-9964C4CF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64CE2-8D70-4611-9516-ECC46B98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BB97F-8B64-4E37-AB37-DA70E050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099F2-C030-46C3-8504-E5784915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6BBDA-37B4-4EE2-8965-E5978843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1BD24-B177-40FB-907B-8675114C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A0BE0-F29D-4BC3-8B74-FB6F0C96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74415-C322-4A72-84A4-2DF0E6AB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020F8-9F6D-4094-802E-29473608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DC37F-6186-49D9-904C-CE4F1F65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49A518-66AD-46B7-A8B0-A1C5A07F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78F8F1-19D3-4E6A-916F-DEFA1E39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5413BA-87F3-4912-84C2-67DDDF19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6D5DE-BD8A-46B1-AE27-9F33E14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D3ECD-0F73-4721-8086-FEB8F282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F4FE8E-1DE5-4113-8A5A-B8BD7D69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53e8d341743b7">
            <a:extLst>
              <a:ext uri="{96DAC541-7B7A-43D3-8B79-37D633B846F1}">
                <asvg:svgBlip xmlns:asvg="http://schemas.microsoft.com/office/drawing/2016/SVG/main" r:embed="R6617886201614a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FC56B-8CDA-4D12-ADFD-DE16C8F4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03F496-3C41-4893-9232-51CDAB53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5CEDDD-B3A5-458D-8AFC-3016C567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Official Microsoft screenshot: https://learn.microsoft.com/power-bi/developer/projects/projects-report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B3AB05-89E6-4210-96CE-0B6928BB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B03F99-D21F-4AA0-9C3B-EBE5429B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GIT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07B052-3DB9-456B-B3BE-9CD4E93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A PBIP change becomes a meaningful diff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D2DF3B-C6D2-47F5-A45E-A258EBC5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5443abdaf43be"/>
          <a:stretch xmlns:a="http://schemas.openxmlformats.org/drawingml/2006/main"/>
        </p:blipFill>
        <p:spPr>
          <a:xfrm xmlns:a="http://schemas.openxmlformats.org/drawingml/2006/main">
            <a:off x="857250" y="2067545"/>
            <a:ext cx="7239000" cy="3542060"/>
          </a:xfrm>
          <a:prstGeom xmlns:a="http://schemas.openxmlformats.org/drawingml/2006/main" prst="roundRect">
            <a:avLst>
              <a:gd name="adj" fmla="val 246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20E2C3-3A2A-49EA-A142-91EC8945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453AD"/>
                </a:solidFill>
              </a:defRPr>
            </a:pPr>
            <a:r>
              <a:rPr sz="1650" b="1" i="0">
                <a:solidFill>
                  <a:srgbClr val="3453AD"/>
                </a:solidFill>
              </a:rPr>
              <a:t>Review questions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3A7704-5AC8-4A03-B723-5B3B3565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EA4F9A-0AEA-4C72-B075-723051B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Which visual property changed?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74FC75-37AF-47B9-9ADA-F2C4DF71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95DEAC-8200-437D-864B-6B4B5CD8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Was business meaning altered?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4178A7-B9CA-4EFC-B01C-871939A5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93F951-FA98-4310-A678-1577083E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Are generated IDs stable?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C5B875-1B4D-4BF1-8420-AD9B0636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3A0069-CA14-4D5B-AC83-4DC74235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292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Can Desktop reopen it?</a:t>
            </a:r>
          </a:p>
        </p:txBody>
      </p:sp>
    </p:spTree>
    <p:extLst>
      <p:ext uri="{BB962C8B-B14F-4D97-AF65-F5344CB8AC3E}">
        <p14:creationId xmlns:p14="http://schemas.microsoft.com/office/powerpoint/2010/main" val="17993824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47E3E-B2CE-4476-BD56-2A4082B6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0D3E2-40E5-40A6-93C7-5CCE1D09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F4045-AE58-4746-B752-B45688DD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DAF40-B9CA-4364-A0D8-48D9C63A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3D341-779C-4EE6-B5A2-524C0F5C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B3EC2-A541-420B-9D26-6C8F5B8B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29AA5-05DE-4A31-8BA3-32646A9B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8616F-0B4A-4DD4-A10F-8ADF4FB8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FC7A5-7D24-4EC9-9BEE-66DCC2A8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096BB-8B99-4ACD-95F4-735C9AEA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79BF2-76DC-4062-A3EA-A4B89900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9E1D9-62B8-4E13-9FE8-64151CF5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EE018-154E-4EA4-8F63-9FE07B60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33090-6BFB-4266-A4BA-345184FA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A2177-647A-4355-AF2A-3434271B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90C42-48A6-4722-A55C-EB864F32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E41E1-155B-44DC-812D-8BACDAF5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F3391-9BB5-453E-A700-D46CC9E1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9E61E-3022-4228-ACAC-1238364F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FA171-CF66-4D55-882A-C766AADB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1EED2-852E-4A42-AB5F-867F6F6C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47616-045D-43D7-98AB-E7D96E14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E1A9B-DEDE-42FD-AFA6-7FB5292F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DA7B2-119D-482C-930D-6702BBF7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EA41A-DA61-45E3-A8D3-1F43A648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204086-2604-4170-BEE1-61A78F42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343D0-648C-4D14-B346-C660D1FE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0BE65-40FE-4E80-B65F-90908D02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b76fed31c4465">
            <a:extLst>
              <a:ext uri="{96DAC541-7B7A-43D3-8B79-37D633B846F1}">
                <asvg:svgBlip xmlns:asvg="http://schemas.microsoft.com/office/drawing/2016/SVG/main" r:embed="Rd9021d91dd9841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DABA9-39E6-4709-84BF-D67D3C7F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60D5A3-257F-46E6-946E-B9CB863F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1FF618-5B7B-4D41-AD1F-909BD8E7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5A5F52-8101-45DF-B75F-DCF3AB9B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CODEX FOR PBIP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7D13D2-CA1B-45AE-8818-E9FF75E0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What Codex can do — and where it must stop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1D4870-69C5-42A5-A737-3F7189A8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82D0DF-AF0B-4300-B47A-E4BFAFE0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6848B2-47A6-473B-9B09-B55B98D4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251EF-B085-4B9C-9ADF-8BCB0135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Explain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C9BC48-1AC2-406B-9572-6B7B6085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Map folders, trace measures, summarize report pages, and build a metric dictionary.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52EC2A-1D46-41BC-A50F-F3AEF06B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D0210E-F83C-44C5-8F5F-CAF07243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06995C-5D47-4B8A-8224-72F30AC3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D44892-1116-412B-9519-E6ECC17C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Change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E479A7-7F94-48FA-877F-E9975A15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Draft targeted TMDL/PBIR edits, SQL, documentation, and test scripts on a branch.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525728-D63B-4A99-914F-5FF5B102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79061F-39F9-49A1-977B-AEEC8177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3A2311-4BE8-4F1C-8BBA-8A42D6D5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9E2980-77CE-4836-8F5D-086AB286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2033DD-E397-4267-A920-78F10468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Inspect Git diffs for duplicated logic, naming, broken references, and risky changes.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70CAD5-F13E-466C-B170-F76D1079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28F0CB-0377-41CF-BBFC-B38F18CB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951C61-A1BE-483F-9483-66E43C96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702CB4-B04D-4697-96FE-B9F8D75B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Verify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59FF49-687B-4A7F-B160-68413EFF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Run available validators and tests; require Desktop reopen and analyst sign-off.</a:t>
            </a:r>
          </a:p>
        </p:txBody>
      </p:sp>
    </p:spTree>
    <p:extLst>
      <p:ext uri="{BB962C8B-B14F-4D97-AF65-F5344CB8AC3E}">
        <p14:creationId xmlns:p14="http://schemas.microsoft.com/office/powerpoint/2010/main" val="14781722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7B3AB-66C7-44BC-BEB8-EFF35D31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57672-240D-4236-A5BE-A789B39E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838FB-90F4-49AF-BBBC-AFC240E9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3AC93-CF94-4734-86A5-729B40A8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3BAFB-710E-47CD-BB27-44A9BC00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D1A7F-B751-453E-BF4F-58BDC3E4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D2007-7B72-4399-A3B7-8E2670B8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7174A-3364-4C74-8E87-B34F2187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ACA9B-5EC1-440A-98A5-B9ECA5FC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17D1C-1F03-474E-8471-829ECD82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247FB-83D9-4FAB-8590-C9B1F3B3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16824-A1C8-4E36-9CC7-23DB8340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C301E-74A5-4CCA-BA58-BA6A80D3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BAC76-8C70-4EA7-B70E-F0A91492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F5A71-F57F-4E61-95AB-193290AC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72A93-7F79-4297-927A-878ADFF8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F0100-D687-45F3-AFFF-1E322AFF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9E75D-EB45-4FA5-92A8-700CEDD8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CDEEA-4154-4C25-8EE9-EF9AED64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ADB28-75F8-40DB-9CEE-9D8903E0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EDA09-2711-4D9D-ACCA-38E524B2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6F1BD-DC99-4F92-8E3F-AE291D3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DA75A-9242-41A3-8F24-BACBACE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ECEFA-E6BB-4F47-9AB8-E077E2FE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0D0E2-253B-45A2-9B8D-D1E4D3AA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6668F-446F-4DBF-A180-0117030A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6A195-3054-4654-A7E1-4C99102C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DB449-9090-4E32-AEAA-19B91AA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f19692b8046a0">
            <a:extLst>
              <a:ext uri="{96DAC541-7B7A-43D3-8B79-37D633B846F1}">
                <asvg:svgBlip xmlns:asvg="http://schemas.microsoft.com/office/drawing/2016/SVG/main" r:embed="R24f29e81d31d44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811094-3D46-44F4-BA42-E5271DD9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F072ED-0584-4ED4-9B23-A167F0D3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1ED7D6-7B13-4BDF-91F8-C0BEFBA4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6B8816-3389-4586-AA6B-85055E3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HANDS-ON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B4FC27-89A6-418E-84FF-6B907120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Ask Codex for one controlled PBIP change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8CAFA-2F45-4DCC-8409-58891A07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3AC9CE-F055-4C31-974A-A4B2BBB4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262BA3-E481-4A67-88F8-1B6A44E3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PROMPT — COPY / PASTE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21FE97-3B29-4E86-8E91-F2687C7F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Goal: Add a measure [Repeat Customer Rate] to the PBIP.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Context: Read AGENTS.md and the existing TMDL first.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Definition: [approved business definition].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Constraints: Change only the semantic model and documentation.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Output: Plan, exact files changed, diff summary, and tests.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Verification: Check references and syntax; do not claim Desktop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validation unless the project was reopened successfully.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3AFDC4-2539-4785-96CD-9A4B160B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8AC8A2-92B1-4D33-B213-D829A94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AAB941-C46E-453C-827A-DB533883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BE4599-E91A-493C-B8D7-F2517CFE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diff is limited, readable, and maps directly to the approved definition. Desktop opens and the measure reconciles.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88A7FB-E993-4224-8211-BC31398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1D980C-CD70-40BB-B6CB-B2160BEF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5AC8EC-9EFA-4165-A0D3-68F0164B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81BC44-4E4A-44A1-ACC3-A380378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Work on a branch. Never bulk-edit generated files without a scoped review and a recovery copy.</a:t>
            </a:r>
          </a:p>
        </p:txBody>
      </p:sp>
    </p:spTree>
    <p:extLst>
      <p:ext uri="{BB962C8B-B14F-4D97-AF65-F5344CB8AC3E}">
        <p14:creationId xmlns:p14="http://schemas.microsoft.com/office/powerpoint/2010/main" val="11594874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2AB5D1-62AB-42F7-A018-9046A2C5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9A8D1-5105-415C-B74B-ADB62636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49A8D-4D10-44F0-B438-EE187860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FC61B-F291-4D10-90D7-252A6A2E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68244-509D-41EB-92E0-D5F8D938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D87B2-70D6-4C02-9319-2D816BC2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6D5D1-6056-4C69-9BC3-458B1E3E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60EC0-7E51-4DF3-AFD8-C99C59EA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EAF08-94E7-4378-BB16-1F59AD3C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7C58C-8EBE-49B4-891B-2BE41FFC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7F6A2-B61A-4873-AB53-A8FC72BB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4CEE5-6128-4E21-8636-255140F1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48180-EDF3-43EC-83C5-BB9D250B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B9FF2-CA74-424E-9642-B66A50D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EB51F-F51B-4CAF-8C4E-37D46926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E8032-4245-4267-831B-FC380875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B461F-C483-45F1-8BE3-E1284D66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72F05-8698-4DE3-9E4B-76DE76F7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41ABB-2F01-48E7-A0F9-3D01E7BC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69C2D-C151-4739-8C6D-80F6A006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D6E11-E599-444A-8460-15F82B90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2EBF0-AEC1-40D0-B66E-D44EB5DA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088F0-3DB3-4BE3-9872-18F1FC8F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02CDE-166C-4157-863A-DFD43799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51C4C-C109-4763-B4F8-A9424191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AF96AC-6D25-4AE9-9764-EBAC403B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E370E-94F9-4CF8-8A15-127643EE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8B097-D6DC-45DD-9B2E-DF00F356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6286df6b34aa0">
            <a:extLst>
              <a:ext uri="{96DAC541-7B7A-43D3-8B79-37D633B846F1}">
                <asvg:svgBlip xmlns:asvg="http://schemas.microsoft.com/office/drawing/2016/SVG/main" r:embed="R037f314600ce45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68CC62-7254-4C89-A5B0-489C674D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779A8-ECA2-4E46-A621-31AC4127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BA4A94-562F-4B12-92F0-73CF4CD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8638E5-12B2-4324-BF5D-5B0A79CF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MINI-DEMO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3AC4AA-8C80-4381-8A2A-C19182B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PBIX → PBIP → Git → Codex → Power BI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554733-606B-4865-BA55-029405D3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806408-591E-41B0-9F34-1E80F46D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ABD13B-ACAD-4475-B498-DF8FA35C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058A1D-1635-4D0B-BF0A-BF476169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Convert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E420F4-5F4D-4AE4-BCE6-5D90FC2E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Save a sanitized PBIX as PBIP.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1D2A1C-B62E-4AF6-BB01-49FF3E25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9C694B-4A68-4B2F-B3FA-1BE56955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C092D3-E3FD-484B-A2AA-B1A63F42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E7DF45-D55D-44AD-8F14-5A716A46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A96B3A-783E-49A4-96D8-C94A3EB3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Baseline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D5660A-C45D-45BC-B7BA-F1B1FD3F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Commit an unchanged, reopenable project.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4A19F2-B8F7-4D10-B172-19829F8C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C99E00-3450-4049-831B-C5289A71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02AE6B-BC8F-4A10-B0C9-D1AF3DF7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C46A1E-E685-499E-A25B-F5D5C756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19F82C-B132-49AB-BE57-64701D8F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Request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BD58E7-21E5-4267-8AC7-49923CC7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Give Codex one approved metric change.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00D05F-C3CC-4DDB-873B-EBCD5E15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69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10C8958-C8B8-4B0B-9170-D7B06BB2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CC701F-CE6D-4A75-A02C-6C661F94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DE56BF-470A-4145-9E9D-E559444B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0A28A3-C1FE-4526-873F-EAB7E3F4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Review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6B8714-BA57-44CE-AE4E-A5058FE6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Inspect the diff and run tests.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ED7D26-2F54-4E88-9B93-88C165DE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2979FA-74AC-42FC-B2A6-8D477E49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38AF35-DB71-4140-8401-FD867CE6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908C45-6F60-415B-A92B-CF9A474E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68537E-2197-4ABF-8CAD-CF6584B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Reopen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11451E-6D85-45C2-8024-D06B3D83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Validate in Desktop and publish only after sign-off.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0C0543-C33A-41C7-A238-F896FD00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104B71-FADB-409E-9D8D-BB513BD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B83A4D-2FFB-49C0-99CA-8752488D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97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Success criterion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1A3BB1-6DCB-493E-85E5-3C9608F7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00700"/>
            <a:ext cx="697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A reviewer can explain every changed line, reproduce the metric, and reopen the project without repair.</a:t>
            </a:r>
          </a:p>
        </p:txBody>
      </p:sp>
    </p:spTree>
    <p:extLst>
      <p:ext uri="{BB962C8B-B14F-4D97-AF65-F5344CB8AC3E}">
        <p14:creationId xmlns:p14="http://schemas.microsoft.com/office/powerpoint/2010/main" val="759595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2026-07-15T06:11:34.3220000Z</dcterms:created>
  <dcterms:modified xsi:type="dcterms:W3CDTF">2026-07-15T06:11:34.3220000Z</dcterms:modified>
</coreProperties>
</file>