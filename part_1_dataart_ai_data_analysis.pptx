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b2327c84264de4" /><Relationship Type="http://schemas.openxmlformats.org/officeDocument/2006/relationships/extended-properties" Target="/docProps/app.xml" Id="Ra56315bc077546fa" /><Relationship Type="http://schemas.openxmlformats.org/officeDocument/2006/relationships/officeDocument" Target="/ppt/presentation.xml" Id="Ra2f0f6f3620749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1c4b5289924724"/>
  </p:sldMasterIdLst>
  <p:notesMasterIdLst>
    <p:notesMasterId xmlns:r="http://schemas.openxmlformats.org/officeDocument/2006/relationships" r:id="R2f8bbbbf354d4470"/>
  </p:notesMasterIdLst>
  <p:sldIdLst>
    <p:sldId xmlns:r="http://schemas.openxmlformats.org/officeDocument/2006/relationships" id="256" r:id="R8fcea04050c44690"/>
    <p:sldId xmlns:r="http://schemas.openxmlformats.org/officeDocument/2006/relationships" id="257" r:id="R0ba9bc3eae524842"/>
    <p:sldId xmlns:r="http://schemas.openxmlformats.org/officeDocument/2006/relationships" id="258" r:id="Rb2f4b78b625a4f50"/>
    <p:sldId xmlns:r="http://schemas.openxmlformats.org/officeDocument/2006/relationships" id="259" r:id="R85fa0f35ce3d4885"/>
    <p:sldId xmlns:r="http://schemas.openxmlformats.org/officeDocument/2006/relationships" id="260" r:id="R01c6a2559b9c494b"/>
    <p:sldId xmlns:r="http://schemas.openxmlformats.org/officeDocument/2006/relationships" id="261" r:id="Rdb8f38a2df4a4017"/>
    <p:sldId xmlns:r="http://schemas.openxmlformats.org/officeDocument/2006/relationships" id="262" r:id="R6f9a234c69ef4572"/>
    <p:sldId xmlns:r="http://schemas.openxmlformats.org/officeDocument/2006/relationships" id="263" r:id="R31d33998235f47e8"/>
    <p:sldId xmlns:r="http://schemas.openxmlformats.org/officeDocument/2006/relationships" id="264" r:id="R7df08fb5a693402a"/>
    <p:sldId xmlns:r="http://schemas.openxmlformats.org/officeDocument/2006/relationships" id="265" r:id="Rb252abe1ec2a49e7"/>
    <p:sldId xmlns:r="http://schemas.openxmlformats.org/officeDocument/2006/relationships" id="266" r:id="R8ceb73d2f8914830"/>
    <p:sldId xmlns:r="http://schemas.openxmlformats.org/officeDocument/2006/relationships" id="267" r:id="Rc62b571e241f4001"/>
    <p:sldId xmlns:r="http://schemas.openxmlformats.org/officeDocument/2006/relationships" id="268" r:id="Rccd1de400cc1462f"/>
    <p:sldId xmlns:r="http://schemas.openxmlformats.org/officeDocument/2006/relationships" id="269" r:id="R2035ffa3d7ce470f"/>
    <p:sldId xmlns:r="http://schemas.openxmlformats.org/officeDocument/2006/relationships" id="270" r:id="R2794c1e1448a4242"/>
    <p:sldId xmlns:r="http://schemas.openxmlformats.org/officeDocument/2006/relationships" id="271" r:id="Rd021870feec044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1a1333b0924ff6" /><Relationship Type="http://schemas.openxmlformats.org/officeDocument/2006/relationships/slideMaster" Target="/ppt/slideMasters/slideMaster1.xml" Id="R371c4b5289924724" /><Relationship Type="http://schemas.openxmlformats.org/officeDocument/2006/relationships/notesMaster" Target="/ppt/notesMasters/notesMaster1.xml" Id="R2f8bbbbf354d4470" /><Relationship Type="http://schemas.openxmlformats.org/officeDocument/2006/relationships/presProps" Target="/ppt/presProps.xml" Id="R2e49b9fddbb5423c" /><Relationship Type="http://schemas.openxmlformats.org/officeDocument/2006/relationships/tableStyles" Target="/ppt/tableStyles.xml" Id="R7596a6f659104b6a" /><Relationship Type="http://schemas.openxmlformats.org/officeDocument/2006/relationships/slide" Target="/ppt/slides/slide1.xml" Id="R8fcea04050c44690" /><Relationship Type="http://schemas.openxmlformats.org/officeDocument/2006/relationships/slide" Target="/ppt/slides/slide2.xml" Id="R0ba9bc3eae524842" /><Relationship Type="http://schemas.openxmlformats.org/officeDocument/2006/relationships/slide" Target="/ppt/slides/slide3.xml" Id="Rb2f4b78b625a4f50" /><Relationship Type="http://schemas.openxmlformats.org/officeDocument/2006/relationships/slide" Target="/ppt/slides/slide4.xml" Id="R85fa0f35ce3d4885" /><Relationship Type="http://schemas.openxmlformats.org/officeDocument/2006/relationships/slide" Target="/ppt/slides/slide5.xml" Id="R01c6a2559b9c494b" /><Relationship Type="http://schemas.openxmlformats.org/officeDocument/2006/relationships/slide" Target="/ppt/slides/slide6.xml" Id="Rdb8f38a2df4a4017" /><Relationship Type="http://schemas.openxmlformats.org/officeDocument/2006/relationships/slide" Target="/ppt/slides/slide7.xml" Id="R6f9a234c69ef4572" /><Relationship Type="http://schemas.openxmlformats.org/officeDocument/2006/relationships/slide" Target="/ppt/slides/slide8.xml" Id="R31d33998235f47e8" /><Relationship Type="http://schemas.openxmlformats.org/officeDocument/2006/relationships/slide" Target="/ppt/slides/slide9.xml" Id="R7df08fb5a693402a" /><Relationship Type="http://schemas.openxmlformats.org/officeDocument/2006/relationships/slide" Target="/ppt/slides/slide10.xml" Id="Rb252abe1ec2a49e7" /><Relationship Type="http://schemas.openxmlformats.org/officeDocument/2006/relationships/slide" Target="/ppt/slides/slide11.xml" Id="R8ceb73d2f8914830" /><Relationship Type="http://schemas.openxmlformats.org/officeDocument/2006/relationships/slide" Target="/ppt/slides/slide12.xml" Id="Rc62b571e241f4001" /><Relationship Type="http://schemas.openxmlformats.org/officeDocument/2006/relationships/slide" Target="/ppt/slides/slide13.xml" Id="Rccd1de400cc1462f" /><Relationship Type="http://schemas.openxmlformats.org/officeDocument/2006/relationships/slide" Target="/ppt/slides/slide14.xml" Id="R2035ffa3d7ce470f" /><Relationship Type="http://schemas.openxmlformats.org/officeDocument/2006/relationships/slide" Target="/ppt/slides/slide15.xml" Id="R2794c1e1448a4242" /><Relationship Type="http://schemas.openxmlformats.org/officeDocument/2006/relationships/slide" Target="/ppt/slides/slide16.xml" Id="Rd021870feec044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cd22d3a5594b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55e56067641ac" /><Relationship Type="http://schemas.openxmlformats.org/officeDocument/2006/relationships/notesMaster" Target="/ppt/notesMasters/notesMaster1.xml" Id="R4e07d416f7414c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f2afce4a214cfd" /><Relationship Type="http://schemas.openxmlformats.org/officeDocument/2006/relationships/notesMaster" Target="/ppt/notesMasters/notesMaster1.xml" Id="Rbd2a14943a234d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484fe756e7443d" /><Relationship Type="http://schemas.openxmlformats.org/officeDocument/2006/relationships/notesMaster" Target="/ppt/notesMasters/notesMaster1.xml" Id="R3054a48d225e43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32d2a024424cfb" /><Relationship Type="http://schemas.openxmlformats.org/officeDocument/2006/relationships/notesMaster" Target="/ppt/notesMasters/notesMaster1.xml" Id="Rf2c7a619fcfe48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e61371159441d8" /><Relationship Type="http://schemas.openxmlformats.org/officeDocument/2006/relationships/notesMaster" Target="/ppt/notesMasters/notesMaster1.xml" Id="Rd6485891b26140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30b34dfb8d4ee3" /><Relationship Type="http://schemas.openxmlformats.org/officeDocument/2006/relationships/notesMaster" Target="/ppt/notesMasters/notesMaster1.xml" Id="Ra54eb7de22714d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9517434a824d1e" /><Relationship Type="http://schemas.openxmlformats.org/officeDocument/2006/relationships/notesMaster" Target="/ppt/notesMasters/notesMaster1.xml" Id="R6638e3acbb9b45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fdc2b5691b4569" /><Relationship Type="http://schemas.openxmlformats.org/officeDocument/2006/relationships/notesMaster" Target="/ppt/notesMasters/notesMaster1.xml" Id="R8d3432e2b2d94d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ae5128dccb4416" /><Relationship Type="http://schemas.openxmlformats.org/officeDocument/2006/relationships/notesMaster" Target="/ppt/notesMasters/notesMaster1.xml" Id="Rf5b736ee367248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4007d546e7481f" /><Relationship Type="http://schemas.openxmlformats.org/officeDocument/2006/relationships/notesMaster" Target="/ppt/notesMasters/notesMaster1.xml" Id="R683dc87251fb40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4036832b0b4200" /><Relationship Type="http://schemas.openxmlformats.org/officeDocument/2006/relationships/notesMaster" Target="/ppt/notesMasters/notesMaster1.xml" Id="R3b74450ea36a42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d1c0ec9d0e84f37" /><Relationship Type="http://schemas.openxmlformats.org/officeDocument/2006/relationships/notesMaster" Target="/ppt/notesMasters/notesMaster1.xml" Id="R591cfbb069b3453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26ddc679f26421b" /><Relationship Type="http://schemas.openxmlformats.org/officeDocument/2006/relationships/notesMaster" Target="/ppt/notesMasters/notesMaster1.xml" Id="R41273c79c79b43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c3b50cf63d4307" /><Relationship Type="http://schemas.openxmlformats.org/officeDocument/2006/relationships/notesMaster" Target="/ppt/notesMasters/notesMaster1.xml" Id="R38f0a12b2003432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ec70498bd4f478f" /><Relationship Type="http://schemas.openxmlformats.org/officeDocument/2006/relationships/notesMaster" Target="/ppt/notesMasters/notesMaster1.xml" Id="R32794e42666144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cfb5cb20554236" /><Relationship Type="http://schemas.openxmlformats.org/officeDocument/2006/relationships/notesMaster" Target="/ppt/notesMasters/notesMaster1.xml" Id="R72ef7829af9148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17f9232374f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d12a6afc1c4a2f" /><Relationship Type="http://schemas.openxmlformats.org/officeDocument/2006/relationships/slideLayout" Target="/ppt/slideLayouts/slideLayout1.xml" Id="R8d2add4cdea84d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2add4cdea84d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ea1d51a0b484b" /><Relationship Type="http://schemas.openxmlformats.org/officeDocument/2006/relationships/image" Target="/ppt/media/image.png" Id="R4291684b3177416d" /><Relationship Type="http://schemas.openxmlformats.org/officeDocument/2006/relationships/image" Target="/ppt/media/image2.png" Id="R7a3079413c3447ef" /><Relationship Type="http://schemas.openxmlformats.org/officeDocument/2006/relationships/image" Target="/ppt/media/image.svg" Id="R4e0b21aff366402f" /><Relationship Type="http://schemas.openxmlformats.org/officeDocument/2006/relationships/notesSlide" Target="/ppt/notesSlides/notesSlide1.xml" Id="R4cd24bd1c8c241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b66956ca74889" /><Relationship Type="http://schemas.openxmlformats.org/officeDocument/2006/relationships/image" Target="/ppt/media/image3.png" Id="R3fb30e1d0b784a10" /><Relationship Type="http://schemas.openxmlformats.org/officeDocument/2006/relationships/image" Target="/ppt/media/image2.svg" Id="R29bcf08e303d4814" /><Relationship Type="http://schemas.openxmlformats.org/officeDocument/2006/relationships/notesSlide" Target="/ppt/notesSlides/notesSlide2.xml" Id="Rceab6c42273f44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1c95e457d4465" /><Relationship Type="http://schemas.openxmlformats.org/officeDocument/2006/relationships/image" Target="/ppt/media/image4.png" Id="Rc0afb767b845425a" /><Relationship Type="http://schemas.openxmlformats.org/officeDocument/2006/relationships/image" Target="/ppt/media/image3.svg" Id="Rf3a1cf2809e44ec1" /><Relationship Type="http://schemas.openxmlformats.org/officeDocument/2006/relationships/notesSlide" Target="/ppt/notesSlides/notesSlide3.xml" Id="R6dcc56644bcf44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937b70d3b4a04" /><Relationship Type="http://schemas.openxmlformats.org/officeDocument/2006/relationships/image" Target="/ppt/media/image5.png" Id="R2225a51b630b461a" /><Relationship Type="http://schemas.openxmlformats.org/officeDocument/2006/relationships/image" Target="/ppt/media/image4.svg" Id="R41987cff7d874801" /><Relationship Type="http://schemas.openxmlformats.org/officeDocument/2006/relationships/notesSlide" Target="/ppt/notesSlides/notesSlide4.xml" Id="Rcd03972b17d4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51ea50ff44fcc" /><Relationship Type="http://schemas.openxmlformats.org/officeDocument/2006/relationships/image" Target="/ppt/media/image6.png" Id="R4a3c0fab4ac44d9a" /><Relationship Type="http://schemas.openxmlformats.org/officeDocument/2006/relationships/image" Target="/ppt/media/image5.svg" Id="Rd47e1776f9174770" /><Relationship Type="http://schemas.openxmlformats.org/officeDocument/2006/relationships/notesSlide" Target="/ppt/notesSlides/notesSlide5.xml" Id="R67c7c58dbb474e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3c24aa2f1a4b67" /><Relationship Type="http://schemas.openxmlformats.org/officeDocument/2006/relationships/image" Target="/ppt/media/image7.png" Id="R377a9a48a3f84c20" /><Relationship Type="http://schemas.openxmlformats.org/officeDocument/2006/relationships/image" Target="/ppt/media/image6.svg" Id="R722a2de2c4b94b87" /><Relationship Type="http://schemas.openxmlformats.org/officeDocument/2006/relationships/notesSlide" Target="/ppt/notesSlides/notesSlide6.xml" Id="R61af814e64ea41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7081055a5400d" /><Relationship Type="http://schemas.openxmlformats.org/officeDocument/2006/relationships/image" Target="/ppt/media/image8.png" Id="Rfe1a0d8704104f5d" /><Relationship Type="http://schemas.openxmlformats.org/officeDocument/2006/relationships/image" Target="/ppt/media/image7.svg" Id="R7cc3a9266c1f489c" /><Relationship Type="http://schemas.openxmlformats.org/officeDocument/2006/relationships/notesSlide" Target="/ppt/notesSlides/notesSlide7.xml" Id="R2b3c626656f349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9aca4d3aa49fb" /><Relationship Type="http://schemas.openxmlformats.org/officeDocument/2006/relationships/image" Target="/ppt/media/image9.png" Id="R5bec9ae9fdb54f5c" /><Relationship Type="http://schemas.openxmlformats.org/officeDocument/2006/relationships/image" Target="/ppt/media/image8.svg" Id="R262c74b0573e4a22" /><Relationship Type="http://schemas.openxmlformats.org/officeDocument/2006/relationships/image" Target="/ppt/media/image10.png" Id="R3e821d9ec81343f1" /><Relationship Type="http://schemas.openxmlformats.org/officeDocument/2006/relationships/notesSlide" Target="/ppt/notesSlides/notesSlide8.xml" Id="Rfb2ddde1bd0444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8594170a34794" /><Relationship Type="http://schemas.openxmlformats.org/officeDocument/2006/relationships/image" Target="/ppt/media/image11.png" Id="R16ed828ed881418d" /><Relationship Type="http://schemas.openxmlformats.org/officeDocument/2006/relationships/image" Target="/ppt/media/image9.svg" Id="Reab20d7e22334dd2" /><Relationship Type="http://schemas.openxmlformats.org/officeDocument/2006/relationships/notesSlide" Target="/ppt/notesSlides/notesSlide9.xml" Id="R2cfa65d247474c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814ee1c5b4a11" /><Relationship Type="http://schemas.openxmlformats.org/officeDocument/2006/relationships/image" Target="/ppt/media/image12.png" Id="Rf2606f47ef9d44df" /><Relationship Type="http://schemas.openxmlformats.org/officeDocument/2006/relationships/image" Target="/ppt/media/image10.svg" Id="R0af22417d2fe44c8" /><Relationship Type="http://schemas.openxmlformats.org/officeDocument/2006/relationships/notesSlide" Target="/ppt/notesSlides/notesSlide10.xml" Id="Rf36d5a29647941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34e535ac74b74" /><Relationship Type="http://schemas.openxmlformats.org/officeDocument/2006/relationships/image" Target="/ppt/media/image13.png" Id="R59b9b9f7d7754b72" /><Relationship Type="http://schemas.openxmlformats.org/officeDocument/2006/relationships/image" Target="/ppt/media/image11.svg" Id="R5cb85388cbf74f92" /><Relationship Type="http://schemas.openxmlformats.org/officeDocument/2006/relationships/notesSlide" Target="/ppt/notesSlides/notesSlide11.xml" Id="R6d67564c279348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33fdd4bf84795" /><Relationship Type="http://schemas.openxmlformats.org/officeDocument/2006/relationships/image" Target="/ppt/media/image14.png" Id="R8bc9694bb3204b33" /><Relationship Type="http://schemas.openxmlformats.org/officeDocument/2006/relationships/image" Target="/ppt/media/image12.svg" Id="R9ad0d8731dfa4899" /><Relationship Type="http://schemas.openxmlformats.org/officeDocument/2006/relationships/notesSlide" Target="/ppt/notesSlides/notesSlide12.xml" Id="Rd32de2bdd3f44d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791febe8f40f9" /><Relationship Type="http://schemas.openxmlformats.org/officeDocument/2006/relationships/image" Target="/ppt/media/image15.png" Id="R9116e43b24d84980" /><Relationship Type="http://schemas.openxmlformats.org/officeDocument/2006/relationships/image" Target="/ppt/media/image13.svg" Id="Rc1d086312d3f47da" /><Relationship Type="http://schemas.openxmlformats.org/officeDocument/2006/relationships/notesSlide" Target="/ppt/notesSlides/notesSlide13.xml" Id="R6203103f74864f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e809c6966a4279" /><Relationship Type="http://schemas.openxmlformats.org/officeDocument/2006/relationships/image" Target="/ppt/media/image16.png" Id="Raa3e8af655c1431b" /><Relationship Type="http://schemas.openxmlformats.org/officeDocument/2006/relationships/image" Target="/ppt/media/image14.svg" Id="R848b01f54d1d4bf0" /><Relationship Type="http://schemas.openxmlformats.org/officeDocument/2006/relationships/notesSlide" Target="/ppt/notesSlides/notesSlide14.xml" Id="R46e030d015c444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789e5a3574956" /><Relationship Type="http://schemas.openxmlformats.org/officeDocument/2006/relationships/image" Target="/ppt/media/image17.png" Id="Rd4eee27811de42d6" /><Relationship Type="http://schemas.openxmlformats.org/officeDocument/2006/relationships/image" Target="/ppt/media/image15.svg" Id="R1a79635d6c53466a" /><Relationship Type="http://schemas.openxmlformats.org/officeDocument/2006/relationships/notesSlide" Target="/ppt/notesSlides/notesSlide15.xml" Id="Rf68a5b81ba93413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2178668b8430c" /><Relationship Type="http://schemas.openxmlformats.org/officeDocument/2006/relationships/image" Target="/ppt/media/image18.png" Id="Rb6be3a67fee14716" /><Relationship Type="http://schemas.openxmlformats.org/officeDocument/2006/relationships/image" Target="/ppt/media/image16.svg" Id="R1eede421a320484d" /><Relationship Type="http://schemas.openxmlformats.org/officeDocument/2006/relationships/notesSlide" Target="/ppt/notesSlides/notesSlide16.xml" Id="R4ff7725f39f14db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1684b3177416d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509B3-34B8-44EE-B136-FEFA130D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F9924-3E57-4ACE-BD96-ED5F9C0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3079413c3447ef">
            <a:extLst>
              <a:ext uri="{96DAC541-7B7A-43D3-8B79-37D633B846F1}">
                <asvg:svgBlip xmlns:asvg="http://schemas.microsoft.com/office/drawing/2016/SVG/main" r:embed="R4e0b21aff36640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3900" y="552450"/>
            <a:ext cx="152400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6B063-C2C6-4035-91BD-A31620AE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453AD"/>
                </a:solidFill>
              </a:defRPr>
            </a:pPr>
            <a:r>
              <a:rPr sz="1125" b="1" i="0">
                <a:solidFill>
                  <a:srgbClr val="3453AD"/>
                </a:solidFill>
              </a:rPr>
              <a:t>PART 1  /  FOUNDATIONS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0F62DB-E321-41BF-99F2-CF6C2B52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7627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0F161A"/>
                </a:solidFill>
              </a:defRPr>
            </a:pPr>
            <a:r>
              <a:rPr sz="3900" b="1" i="0">
                <a:solidFill>
                  <a:srgbClr val="0F161A"/>
                </a:solidFill>
              </a:rPr>
              <a:t>Practical AI for Data Analysts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59105-308B-4315-8988-C726A399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63139"/>
                </a:solidFill>
              </a:defRPr>
            </a:pPr>
            <a:r>
              <a:rPr sz="1725" b="0" i="0">
                <a:solidFill>
                  <a:srgbClr val="263139"/>
                </a:solidFill>
              </a:rPr>
              <a:t>A clear, analyst-controlled workflow across Excel, pandas, Power BI, Git, and Codex.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2366A4-B8B4-4CCE-918E-A82C0C89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047750"/>
            <a:ext cx="3143250" cy="41910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3453AD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CC59C7-E4CC-4C27-BCEA-60330113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238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HANDS-ON</a:t>
            </a:r>
          </a:p>
          <a:p xmlns:a="http://schemas.openxmlformats.org/drawingml/2006/main">
            <a:pPr algn="l">
              <a:defRPr sz="2400" b="1" i="0">
                <a:solidFill>
                  <a:srgbClr val="FFFFFF"/>
                </a:solidFill>
              </a:defRPr>
            </a:pPr>
            <a:r>
              <a:rPr sz="2400" b="1" i="0">
                <a:solidFill>
                  <a:srgbClr val="FFFFFF"/>
                </a:solidFill>
              </a:rPr>
              <a:t>DEMO SERIES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D5D3E-9317-4CD7-96F1-8C60F0BF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Power BI  •  Databricks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GitHub  •  Codex  •  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060A7-C1A1-4FEF-995A-E572774C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33900"/>
            <a:ext cx="16764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06E97-8051-4630-9F9A-1B61C5F0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DA7AA"/>
                </a:solidFill>
              </a:defRPr>
            </a:pPr>
            <a:r>
              <a:rPr sz="1050" b="1" i="0">
                <a:solidFill>
                  <a:srgbClr val="9DA7AA"/>
                </a:solidFill>
              </a:rPr>
              <a:t>DataArt</a:t>
            </a:r>
          </a:p>
        </p:txBody>
      </p:sp>
    </p:spTree>
    <p:extLst>
      <p:ext uri="{BB962C8B-B14F-4D97-AF65-F5344CB8AC3E}">
        <p14:creationId xmlns:p14="http://schemas.microsoft.com/office/powerpoint/2010/main" val="2116639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AC30FD-D62B-428F-8874-2AFABAE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94FE3-94B2-4369-A580-05AE1D85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A9973-66DD-4CE7-96D0-4A0E3778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AEEBA-9360-4015-9439-3FE85719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29523-3FD9-427C-A0D8-B6285314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91608-04EA-4168-B728-26981C64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77063-D31C-478F-B7F4-26DDA504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2E980F-1BBB-4326-B399-1D725CF7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400DA-E4DA-415C-8A4D-EC1D955D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36E0D-4F52-4EE6-A6B6-091598C8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5E97D3-4584-4021-9B05-DC01E539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F1126-FC61-49B6-A09C-B2572ED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E5362C-B47A-4130-8CFB-CDF45872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7257A-69FF-4325-8C45-CF6BEB5A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1B97F6-A0AF-4FC2-81C6-31030389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B31EF-385E-482F-9B1C-49844273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BC729-58B6-4E98-8B86-DF8D6E7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B19670-A2F2-4AD2-9069-21CA12EF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25C34-E13F-4973-ACC9-317DDF06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51EEA-8853-48DB-BB0E-8843B3ED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4EB9F5-9506-44A7-97E9-C579AD58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F7CEFE-5144-48D3-A9D8-1A459517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7D26E-AD01-4F3A-A1F9-CD0F413B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E6BF1A-1669-48D2-9D89-B3CDD666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7DE2E0-E304-4E6D-B238-147837C5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7B0BFD-175A-4AC0-8D8B-B21611D0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C37430-98C0-4663-9DDE-8F079CF2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02BDFE-54C6-4964-9C72-26902BB5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30e1d0b784a10">
            <a:extLst>
              <a:ext uri="{96DAC541-7B7A-43D3-8B79-37D633B846F1}">
                <asvg:svgBlip xmlns:asvg="http://schemas.microsoft.com/office/drawing/2016/SVG/main" r:embed="R29bcf08e303d481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731D59-C277-4A32-809A-025DB59A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06B369-9E84-4CDD-B987-36BFD908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1524CF-0F93-442C-A1CB-A0AA77B9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DataArt workshop structure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A2CC05-3EE9-44AB-9BDF-84469257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4A6E1A-F2CB-40A0-8003-D5F911AF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TODAY’S ROUTE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C83C8D-7887-4BA9-ABE0-883084A5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Agenda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1963C7-1FEA-457C-91CF-98624A64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4CD706-13B9-4305-A355-40DAFBBE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E9B9FC-A143-4A58-A825-342FE5C4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6D839C-E129-42B0-A4E9-DA614F18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Client context and value map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C5A2C1-A46D-4BA9-9885-BFFD8BF6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EDBBA9-B03F-4F54-BC51-6B3635FB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F4D2D75-A250-4CAC-9A1B-B35E4939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716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81907B-13EB-4422-AFDA-D0CDF5F5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Analyst-controlled operating model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0A35BE-A050-426F-B05B-D5DA7A58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EB49E0-73D9-462C-9D3B-0240C89D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73314F-4788-4A40-9F91-5E4716AF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622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9A7238-2EE4-47A3-80EB-5AA3CD51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Hands-on prompts and quality review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A331AD-7239-411E-9ADE-FFB04ED2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A0F862-AEF5-4933-8EF6-1078C21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89F489-1A0D-4E35-A97C-6EA76394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622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EF652A5-0A33-41C4-ACE9-6C327FE4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146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Excel, pandas, and connected systems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C11194-D7E7-4741-89FF-45DB6C8B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9A0FD0-8F8C-482D-A1BD-240E9B48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96C45A-60D8-49E2-BB6A-B7D175F2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C61AB22-2A67-471A-9C86-2E343A43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Local models and responsible use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2130B1D-C605-4783-AD05-6EB70397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90950"/>
            <a:ext cx="531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C73D9BB-3608-48D4-AA3A-55C939AF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52875"/>
            <a:ext cx="476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67ECC0-92F4-406E-9A43-8784D126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5287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718B2E-14ED-4C66-BA9B-704ADDE4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4267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F161A"/>
                </a:solidFill>
              </a:defRPr>
            </a:pPr>
            <a:r>
              <a:rPr sz="1425" b="1" i="0">
                <a:solidFill>
                  <a:srgbClr val="0F161A"/>
                </a:solidFill>
              </a:rPr>
              <a:t>Select a measurable pilot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2CCFA7-9BBE-4885-9C60-D180E1AF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819150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CCAF7A-B514-42B3-93CC-7FF454F3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DB978E-44C4-42A1-8369-A2004D40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772150"/>
            <a:ext cx="773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How to use this deck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B15EC3-3DAF-4359-8E16-FACF1DA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153150"/>
            <a:ext cx="7734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Follow the checkpoints in order. Copy the prepared commands and prompts, replace only the bracketed placeholders, and stop when a checkpoint fails.</a:t>
            </a:r>
          </a:p>
        </p:txBody>
      </p:sp>
    </p:spTree>
    <p:extLst>
      <p:ext uri="{BB962C8B-B14F-4D97-AF65-F5344CB8AC3E}">
        <p14:creationId xmlns:p14="http://schemas.microsoft.com/office/powerpoint/2010/main" val="2973943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8E1177-7B9E-4EB7-8ECF-E4AB86F8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98BC0-B8EC-4980-AB2B-1EF15C65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99B8D-B5E4-4FFF-8837-C4AD436B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50F60-3035-4303-800B-87368A52A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6862E-33EC-4A0A-A19B-EE789830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241C7-7D8F-426A-A8BF-A9830993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A6FB6-16D2-4340-83F1-24BF2B07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3ACE3-73EA-4C26-8391-D21F76E1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43040-BE49-475D-8326-803DCB1F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DF824-369C-4991-ADE7-E92F913C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B8C53-7D01-49EF-89F2-60A96CA9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C0042-5E67-436E-A565-23352FF5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89B22-AA41-421D-9B05-348C01BB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0C830-44CB-4DEB-A1F4-1A0E68FD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7420A-ED2F-4456-A4FA-408AA2FF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E3FFE-E0C5-4258-9718-E8FA749A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949924-5F13-4C72-99FA-DB27924E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8A0ED-A4B3-43A4-ADBA-915CFB86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6458F2-90F0-4712-98C6-F97F9A6F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285025-C475-4953-9A87-416E6E2D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F9EA0F-EB04-49C6-A2D6-69B527CA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F26156-A8AC-415D-BC4D-D332F69A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99FE04-55E0-4A05-908A-C3493AC4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29347-8790-4D72-959C-1AD2A78B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6B4E30-F206-4C3A-BBA1-4699DBD8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F5560-2066-495A-82BE-8987244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33FD9-3320-48AE-8816-9C4F72BB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16CD4-67A4-47E3-9C4E-372DFF68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fb767b845425a">
            <a:extLst>
              <a:ext uri="{96DAC541-7B7A-43D3-8B79-37D633B846F1}">
                <asvg:svgBlip xmlns:asvg="http://schemas.microsoft.com/office/drawing/2016/SVG/main" r:embed="Rf3a1cf2809e44e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A16A75-7A5E-49BE-B457-409F16D3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8ACB0E-B33B-4941-852D-8367CFFB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4860C9-6704-43E9-AA96-6F541963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031B75-5943-4C78-9ECB-6A99858C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CLIENT CONTEXT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0A1938-76BB-42F7-A270-9588A4F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One common analytics spine — different starting points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38101D-DC75-4321-8E25-DCFD024B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A6604F-0C03-4939-9AFE-A6B351DE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DC3ADE-FC38-486B-B61F-35602D60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33F4B5-1519-426C-856D-45E75F91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Understand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3A346-4277-442F-8623-2E21E77C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Translate a business question into governed metrics, grain, filters, and evidence.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1BDF21-AA4B-468B-AE38-383D02D1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5FACF7-0CE6-44D3-AF24-2B2F4D5C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D85AF8-8F1A-4641-A665-0EBCE452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2C7A3D-F132-489F-86AA-663683D1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Model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859C6A-0110-4DAD-82A3-68E76191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Use SQL, Power BI semantic models, Excel, or Python at the right layer.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E7C911-7216-41A3-AB0A-B13E5E92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061B67-6761-496E-A44F-9254F9EE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6DA72E-5274-404D-8896-B9C74243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1FA33EB-F43D-42C9-A1F0-866709B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Visualise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C8C5E7-09A9-412B-9873-11B64BF2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Build a concise decision view, not a collection of unrelated charts.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845365-65BC-4798-8E49-4D5AE20E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2966520-E0DF-4227-AE68-A2AD23A9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5B32DC-EC78-48CC-93F0-F0490BA2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7B8184-7223-49F6-8919-6245EC63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Assure quality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90A789B-F98D-40E5-A77A-E02A750E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Profile, reconcile, test, document, and keep a human sign-off.</a:t>
            </a:r>
          </a:p>
        </p:txBody>
      </p:sp>
    </p:spTree>
    <p:extLst>
      <p:ext uri="{BB962C8B-B14F-4D97-AF65-F5344CB8AC3E}">
        <p14:creationId xmlns:p14="http://schemas.microsoft.com/office/powerpoint/2010/main" val="14433954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4D4334-8B54-4602-A7EF-BD301171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DCD18-60E3-4C1D-BD4A-8587FA52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B417E-6040-41B5-9FAB-7A0F1A6E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9E5E2-5914-4744-BCF8-50E7EE87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E5542-53D3-486C-8611-4E210568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081D0-1EDF-4D50-B5B9-86AC277E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09EF1-3E78-4FD5-8D82-0E5E41BC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5A63D6-F4BE-4C9C-9233-EA12A2D0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BA3B5-1812-4F7F-A4F3-5619B6FC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87E7D-325D-407F-A51C-487D6423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FFC4E-08FF-4771-AC1E-0873DFB6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4CFD7-48AA-4881-B349-345DB4A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FE6F4-5D3C-4905-BA26-7DB4C473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DC35A-B090-465E-884C-9765557D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7C316-5076-426D-B6FA-AE3221C7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E2B18-730D-4AC9-9532-96035228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FFA37-F274-4694-9EDA-70A07BF1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D6B95-2EC7-4E43-83FF-45EF3125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1B1E3-53CF-49B8-A9AE-1F397881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8552C-DEC2-4811-9A0E-EF5284D2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B0C005-4E2D-43FE-80F1-806BE214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212B1-7F41-4820-B04F-2032283A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2FAF3-10BA-4FED-A736-C667819F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22ABA-6AA8-4CBE-89AA-FD5B7DC0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E9C23-05AE-4996-962C-57FB8111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7F6630-02F7-4B18-80FE-B135BD8F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5DB4E1-65E3-4D9E-B37D-2632723B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6153C7-3E84-47D6-BBA2-6D8E2794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5a51b630b461a">
            <a:extLst>
              <a:ext uri="{96DAC541-7B7A-43D3-8B79-37D633B846F1}">
                <asvg:svgBlip xmlns:asvg="http://schemas.microsoft.com/office/drawing/2016/SVG/main" r:embed="R41987cff7d87480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DFC8C2-2035-4153-B8A8-E4DCE565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EAC7C-B00D-4DA6-81A2-97E8C6BF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632294-AFC6-4173-B559-5F0B176F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E2CD7D-7086-45CC-A1D7-2F275866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VALUE MAP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510274-C475-4050-BB54-C859C7B4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Where AI changes an analyst’s day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F1906E-1B65-4049-ACCF-9CD65D17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479800" cy="3714750"/>
          </a:xfrm>
          <a:prstGeom xmlns:a="http://schemas.openxmlformats.org/drawingml/2006/main" prst="roundRect">
            <a:avLst>
              <a:gd name="adj" fmla="val 4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CF0BD4-36CA-49B1-BB47-FF91F26E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479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654AD2-D470-4CFE-BAB8-79A5BD41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0B561F-3E81-4BF7-B4DA-9B69D96E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309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Accelerate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1FC63B-9A7A-4F6F-A02E-EC11CAD0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0988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Draft SQL, DAX, Python, documentation, test cases, and repetitive transformations.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9FD3E9-67CD-44F6-8456-96C770DC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809750"/>
            <a:ext cx="3479800" cy="3714750"/>
          </a:xfrm>
          <a:prstGeom xmlns:a="http://schemas.openxmlformats.org/drawingml/2006/main" prst="roundRect">
            <a:avLst>
              <a:gd name="adj" fmla="val 4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BEA64A-DF81-4416-92F1-6C920431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1809750"/>
            <a:ext cx="3479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024A01-9EC3-435B-AFC8-E97C1A41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D534A9-FB40-432B-AF94-6F96BB1A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362200"/>
            <a:ext cx="309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Deepen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25EF44-7212-43D8-8E73-3318B79A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600" y="2990850"/>
            <a:ext cx="30988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Generate hypotheses, segments, counter-explanations, and follow-up questions.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0E0A43-5213-4BA8-A40B-81365C5C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809750"/>
            <a:ext cx="3479800" cy="3714750"/>
          </a:xfrm>
          <a:prstGeom xmlns:a="http://schemas.openxmlformats.org/drawingml/2006/main" prst="roundRect">
            <a:avLst>
              <a:gd name="adj" fmla="val 49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6671B3-4D26-4EA1-9ED7-FB1BA69F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809750"/>
            <a:ext cx="3479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6D3CA4-C18C-453B-8B41-889A1B8E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0C866E-C2C4-4E8A-AB5B-6A3B3574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362200"/>
            <a:ext cx="309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Assure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B3AE94-5B65-4987-AB91-BF2E62EF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900" y="2990850"/>
            <a:ext cx="30988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Review joins, edge cases, missingness, leakage, metric definitions, and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8386029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FB774F-AF8F-4E09-9904-6E3455A7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CB54C-38FC-47C5-8A34-55072668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CE298-E0B7-464A-A888-0FB51E52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5607B-97C3-47CC-A237-16AAE18A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1BC26-8A13-4B25-B8C7-2561F163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848A7-8F4C-41D7-AC3C-1EF90B1A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AEBC8-F2DF-404A-9312-E5C8875C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712D9-C0AA-4D4C-B26F-0C908A04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A3A7B-85F1-4071-B8E4-F9991B30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7BB0D-30B2-43D8-8C18-8FB2AA5F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9EC58-BD8B-4520-9998-88D9E84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1712E1-6D73-4D9D-A09A-C69A12F8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685CC-9A76-4F58-AF8B-0DD2C1FE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E7E4A2-3088-40D9-BDBC-2A9F3210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238E6-787F-49D9-A0DD-D23B1DB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57B3B-A06C-472B-BDE2-878C61E3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43A32C-22DD-4FC8-A742-660414CB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7DE153-18D3-4211-BAFE-BA7481B2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C3ACEB-0BA1-4176-8D8B-4AC6652B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9BA0C8-00FB-47AD-85B8-972569A5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91DB4-B3D4-4324-B1B1-20363902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32C8D-A897-403F-831E-52F6A35A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FEAF4-6812-4A9E-B760-274076FA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A2D2BB-014E-4E75-9884-C0A91F5F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958AAF-6B77-4B6B-99B4-9195613B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D1D870-274B-455C-BC3A-15C8DDEB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9F6A7D-B5D4-4B97-B606-2E55C557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4794B3-74AA-473D-BA21-C272ABB0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c0fab4ac44d9a">
            <a:extLst>
              <a:ext uri="{96DAC541-7B7A-43D3-8B79-37D633B846F1}">
                <asvg:svgBlip xmlns:asvg="http://schemas.microsoft.com/office/drawing/2016/SVG/main" r:embed="Rd47e1776f917477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5466E-4FFF-45C1-B083-FD5B95B8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157720-51A1-4C03-BE5E-4DD592D3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91678F-53C9-4D6F-B5BA-89DB3761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92F293-DB2E-4B14-8C24-AC49843D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TOOL CHOICE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82FC0A-E23E-4554-AE3F-BE5E57CD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 practical workbench: each tool has a job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6A6A08-0884-473B-BD81-F77A3421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85E695-AB81-4F9F-B742-DB515E0D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8D9055-A5CC-4D91-AE0B-0DD928EE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D3DCA1-FBEA-4FF7-8619-CFDA2D59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Excel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90CEA2-B365-4B24-8210-C3075C15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Fast inspection, reconciliation, controlled business inputs.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56A66E-8487-446D-9678-33C633C5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EF8819-88F3-452D-A7F3-BD326451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182F966-7C16-4D1F-894F-2A345154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D5D491-E35C-4068-BC9C-82824DD6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C4CA25-83CF-4C60-AE93-87A05EBA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Pandas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0D285D-4DFB-4405-B289-EA0BC9EE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Repeatable profiling, statistics, local prototypes.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4005A6-A657-45B6-8A33-0B9A9111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0A7BD1-5AFC-4003-8AE0-4B63FA03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59FE58-D106-4D04-9BE1-B5AC03FC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4CDD6B-0FC1-45B1-A579-E845C885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ACF851-331C-48D1-9313-AE644310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Databricks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CDB0B2-ED79-4DDF-87AB-5ACC89DC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Shared SQL, governed data, scalable processing and AI/BI.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3536E2-7ED5-4C11-B2F1-A6A30A94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69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6B013F-F9D7-4158-A79A-C69985B0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2DDA3B-088E-4151-8DAE-3A99EE9C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5EFD7E-39C8-4BC1-9488-CA2AE5E3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CAAAA4-7AFE-44A4-874B-C6C53B5C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Power BI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4DEF08-CB1F-40D9-A57E-4DF2937D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Semantic model, measures, reports, distribution.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1288391-59B0-484F-A56F-2D16CD81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255E67F-9920-4712-B481-84100611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FF1C43-0FA7-46CD-8D22-9CC5DD36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E54A22-2104-4B18-9823-BBCAD441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285B0FA-D150-497C-AEAE-EDE92B19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Git + Codex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A36FE1-ADE1-4BCE-9244-BD4D7028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Versioned work, conversational changes, review and tests.</a:t>
            </a:r>
          </a:p>
        </p:txBody>
      </p:sp>
    </p:spTree>
    <p:extLst>
      <p:ext uri="{BB962C8B-B14F-4D97-AF65-F5344CB8AC3E}">
        <p14:creationId xmlns:p14="http://schemas.microsoft.com/office/powerpoint/2010/main" val="1042650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492690-8DD7-4FFD-A670-7532210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B4352-523D-41E9-8021-5BC8CA18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F83345-7148-4DBA-A5F9-FA27276F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5D596-A02E-454F-BE9A-E2BBBA64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5EE56-8981-4EA9-8B4D-FC77C7C0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9048F-83F0-488A-93BF-9E18D54F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3F8EC-D650-4C5F-BD5A-5AE9E0B7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B1510-8C76-4A49-8601-EAA511E3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CC4A8-6BE4-4380-834C-50421A74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BEB64-635A-420E-996E-88A2E99B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26A32-ADA7-4EF5-8332-93EAB2B6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7943E-35FF-4B36-95E9-56808743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7C4D1-3A97-4437-B451-8949D105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6D059-6764-4A92-A9BC-B134FF5F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20651-444F-4465-8354-440E8E31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590A9-6113-4C0F-86CD-A75E049D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3DFE41-7881-490D-A2CF-9E86C5DF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70C55-1004-498E-BA6E-454E5E85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C5CFF-2556-4527-8498-F3A69DCD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D53F9B-BA12-4BA7-A22D-B81F5B4F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381BF-C996-4276-B602-D39A439B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48D598-DE80-4CA1-8367-4A10CB2B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A0464E-65F0-40D1-B1A4-1A7B6CD3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2695F-A90D-4F88-9787-70464FC1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4DF61F-1B75-41B0-9893-69598542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8122CA-F366-41B7-80F8-B11A4995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4BEF9-AAF6-4CA3-873F-4AF5AE9B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A7A3FB-F760-4521-8B20-723B0C49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a9a48a3f84c20">
            <a:extLst>
              <a:ext uri="{96DAC541-7B7A-43D3-8B79-37D633B846F1}">
                <asvg:svgBlip xmlns:asvg="http://schemas.microsoft.com/office/drawing/2016/SVG/main" r:embed="R722a2de2c4b94b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5F24FE-98DA-48AA-BCD0-8273C7AE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C92B83-2CD9-4F9C-8991-6EC91C26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C02EEA-55FD-4F05-8568-F004A7A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B3C071-76B7-4968-8021-0726FE1E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OPERATING MODEL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297B5C-FDD6-4D7E-83A9-3856FE03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Keep the analyst in control of every decision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F6A3B8-5854-4294-83AD-E27BB7EC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001A1C-9B55-4DBB-98D1-4E9F8EDA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631B23-1A1D-4B92-846A-E50D40E2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52E151-16F0-4F4E-AFFF-0EACB3E7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Request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8A8C08-53B8-430D-B040-B9678EE1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State the decision, user, period, grain, and definition.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C4A8F5-9B50-4FFD-B2F3-C4A41C7C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F1315A-7D11-49CF-B695-E939B532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0B026B-4431-46DA-9DF6-A035E524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2008FA-9D4E-4771-A581-EAD6A89E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8FEA48-6F1E-4681-A948-1DE8BA8E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E69271-733D-4C09-B397-F7635E86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58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Identify approved sources and freshness.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8F33636-1E48-4F43-B0A1-E3689015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66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11FBCF-81DA-4FF7-BEE0-29307281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16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B20B744-41E7-4199-8642-3332F6FD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59850A-88EC-4E32-A7AC-FE5F0E47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C4E50C-3704-45E2-8521-54D4E401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Analysis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7EA19D-5CF9-4CD6-BB64-5258347E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161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Generate and run code against the data.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551639-B599-449A-9D61-E87ECB44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469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9D6921-052A-4155-818A-B0F2E6E0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519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46A01FA-1826-459D-B184-070B9600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695FC1-4497-44EC-9440-791B842B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0BF841-C360-40A7-B076-CFB61CD2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Checks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5FFD83-6979-4F4F-AD26-C15A53F0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Reconcile totals, nulls, joins, and sensitivity.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DFCEB9-6401-4794-B31C-747439FD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4F1EDE4-BA40-4BC5-A4A0-1A2E5130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0220" y="2362200"/>
            <a:ext cx="1992630" cy="2266950"/>
          </a:xfrm>
          <a:prstGeom xmlns:a="http://schemas.openxmlformats.org/drawingml/2006/main" prst="roundRect">
            <a:avLst>
              <a:gd name="adj" fmla="val 86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E8589C-8737-4C67-9304-8C4298DF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2F628C6-966D-46BF-9005-4654DBFB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7572A6-61FF-4E30-9C3A-448FFA1E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2819400"/>
            <a:ext cx="164973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Decision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0A1C342-ACE3-495F-840D-C701CD84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1670" y="3409950"/>
            <a:ext cx="164973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Analyst interprets, signs off, and communicates.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DE7D3CC-D196-48D9-A591-B763EC87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5519F74-6C66-4AEE-8CD2-9F41D35C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53EEB8-2924-48F6-B77B-68D9BF5C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Rule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E307658-90CB-460A-93D3-1933E745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0070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AI proposes and checks; the accountable analyst approves meaning and release.</a:t>
            </a:r>
          </a:p>
        </p:txBody>
      </p:sp>
    </p:spTree>
    <p:extLst>
      <p:ext uri="{BB962C8B-B14F-4D97-AF65-F5344CB8AC3E}">
        <p14:creationId xmlns:p14="http://schemas.microsoft.com/office/powerpoint/2010/main" val="159414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47CDF0-FC65-47B4-AA51-0BCAC526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94104-40E5-4A4F-B30F-5759835C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D99B6-B670-42FD-A793-C360A441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47E16-735B-4415-837C-8ECF5984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E22F6-0036-4D90-A4FB-35A74CC0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24F35-76D1-479A-8F58-FC886A29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ED7F7-E38F-43EA-BE36-8B372E24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15BC17-87D7-4339-A39D-AB6DA03E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C3D5D-B158-45A5-B714-A31C7F29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1D75ED-A010-40D8-8E56-1AED0206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79BAA-F796-4EE8-B755-E1C90656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FCD57-2102-4981-957B-CD79A560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ACBBF-5210-45CE-BB95-E92F1264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41431-F777-44BF-BDA7-B73BABF7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D04E3-41DA-45B5-B966-B7FC579E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07ED53-CCD1-4B45-857D-D7D5A252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A5940-FF12-4D09-AE2D-E85D6815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FC2EA-0E3A-476D-85F0-A5D04842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D820B-601F-4C5A-8F89-9A8FD580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5DA8C-AE06-439C-AC3E-49DC77D7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C62EA-79C2-474D-8781-4FC9D437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7219F-5AD2-438B-AC6F-1F742252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89F772-C153-4DAF-BCBA-9617A9EC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B1476-B5BA-42FF-9A22-774CE808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761C6F-A9B6-4CE9-8751-D5ABF3C1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3EDB1-A5F2-4538-82AC-EEE2C786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7CCB0A-308A-4A4C-9A29-8AAE7277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27230A-045F-4BAD-8489-39396ABF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a0d8704104f5d">
            <a:extLst>
              <a:ext uri="{96DAC541-7B7A-43D3-8B79-37D633B846F1}">
                <asvg:svgBlip xmlns:asvg="http://schemas.microsoft.com/office/drawing/2016/SVG/main" r:embed="R7cc3a9266c1f48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32EC62-87E4-4E7F-8029-5FE5FEE5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13F57D-5DB6-45F0-9BC2-12F1E471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A706DA-89E2-4AF4-98AE-C22793EB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Guidance: https://learn.chatgpt.com/guides/best-practices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5599F6-4687-4E1F-92A1-37020566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FF0368-1D56-43FF-9881-D8C5200D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QUALITY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8244D7-B0F4-4DB9-8030-AEB5B683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High-quality analysis is broader than writing correct code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E16999-689C-4F7B-8F47-032C1550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305425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2B66DC-E155-40C8-BF44-5CEDF4FD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A capable analyst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D929BC-7AFE-4CCB-B155-2E507BD8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FBAE70-9297-4D74-977C-48ADAC4D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Understands context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765F931-A277-4B27-9A85-B34FC6EB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75C579-E2F0-4D25-8F1B-D18E38D3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Challenges assumptions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8119B8-B8CF-4C97-85FF-AC127BE1C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A2FD7C-A1C3-4F4F-96B6-5A73573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Explains trade-offs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415774-7FAF-402B-900D-31B42FE1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D56F36-F165-4CEA-BD2F-63DD6722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Owns the recommendation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E67297-FA33-464C-9C74-FA08A980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90700"/>
            <a:ext cx="5305425" cy="4038600"/>
          </a:xfrm>
          <a:prstGeom xmlns:a="http://schemas.openxmlformats.org/drawingml/2006/main" prst="roundRect">
            <a:avLst>
              <a:gd name="adj" fmla="val 424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3453A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98CF34-6756-45A2-9A88-04F3041C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48482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53AD"/>
                </a:solidFill>
              </a:defRPr>
            </a:pPr>
            <a:r>
              <a:rPr sz="1725" b="1" i="0">
                <a:solidFill>
                  <a:srgbClr val="3453AD"/>
                </a:solidFill>
              </a:rPr>
              <a:t>Analyst + Codex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75D27E-43C9-4C4D-973D-CE6D833F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82557B-13A2-402C-9167-C93CCBA4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241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Systematic test coverage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B4CE17-403B-4988-BD1A-08203C25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82589C-5E46-4E01-8D2F-F57BAD07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3528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Faster alternative analyses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21042B-ECDA-434B-B301-9A427315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AD35F54-839A-4B2F-9C1A-F627A4B4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8145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Traceable repo changes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283A7C-AE17-45BD-8837-BB90850E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B2AB60D-38C8-42A5-8829-85A43B6B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610100"/>
            <a:ext cx="4581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More time for judgment</a:t>
            </a:r>
          </a:p>
        </p:txBody>
      </p:sp>
    </p:spTree>
    <p:extLst>
      <p:ext uri="{BB962C8B-B14F-4D97-AF65-F5344CB8AC3E}">
        <p14:creationId xmlns:p14="http://schemas.microsoft.com/office/powerpoint/2010/main" val="1690245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E93E7-9655-4023-A0E6-DE07142F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F4276-CC83-48DA-9413-24779448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DF5FB-4C12-43D0-AEEB-EBBF0101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CA26C3-F333-4CF1-931F-5C15D23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A297C-87CD-4125-93AC-EFACB61B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EBD2E-E14A-4618-889E-CC54900C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FEB5E-2511-43B4-99B9-A5E01EE0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0C73B2-8D9D-411A-AF9E-264AE479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317BA-4AD4-406F-81A1-F62E3C8F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D9914-DADA-4408-A8C1-48A6C9F8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24B12-DA70-4E23-A439-D2DC5599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F5811D-51AB-4F3A-A060-7C8B34A9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6FCB7-EB08-4F8B-8D02-B97B4122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F57C0A-A34E-4A6D-BEFC-7BB0B965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39B843-4B94-467D-8A9A-E0F5D5D6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8CF679-8E99-4DE0-A96A-014BE896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B5B83-3151-4E54-8F06-1DC9D9D9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C59C4-B555-48BF-A06E-412C6300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C9BFD7-8139-4ACF-8463-60DFEBA2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80772-D54C-4A9F-A014-A79EF98F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701162-2AF1-41D2-AA56-83ACEAA2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B97F1-B74A-4EFA-A728-7903C929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6A2D5B-CDDB-4892-B242-7E8A0F27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014C55-464E-4551-AA72-29D40D0E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D3985F-71EA-45AA-BCA7-6364C635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236834-A0CB-4BEB-B710-22548E36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CDF43D-6483-4208-B7DD-30F816CC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411E76-F1CF-4C55-9E8E-6C8465E6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ec9ae9fdb54f5c">
            <a:extLst>
              <a:ext uri="{96DAC541-7B7A-43D3-8B79-37D633B846F1}">
                <asvg:svgBlip xmlns:asvg="http://schemas.microsoft.com/office/drawing/2016/SVG/main" r:embed="R262c74b0573e4a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82518-3116-47A0-84A8-7B9C410D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57EF02-E2A1-46E2-A961-01AAAE8E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65A924-D374-4FB0-BD9D-D341CCC2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Samples: https://learn.microsoft.com/power-bi/create-reports/sample-datasets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2A0729-4482-4D23-AB52-38113FE8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7B6993-E7E8-461D-9019-14F073A9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HANDS-ON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F73E2A-066D-44F8-AC62-CF1FE77A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Start with a familiar Power BI sample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904D32-333A-4F92-95B4-EF895E84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421005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21d9ec81343f1"/>
          <a:stretch xmlns:a="http://schemas.openxmlformats.org/drawingml/2006/main"/>
        </p:blipFill>
        <p:spPr>
          <a:xfrm xmlns:a="http://schemas.openxmlformats.org/drawingml/2006/main">
            <a:off x="857250" y="1932774"/>
            <a:ext cx="7239000" cy="3811602"/>
          </a:xfrm>
          <a:prstGeom xmlns:a="http://schemas.openxmlformats.org/drawingml/2006/main" prst="roundRect">
            <a:avLst>
              <a:gd name="adj" fmla="val 2463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58E96D-648C-4C28-A884-6BF84F46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453AD"/>
                </a:solidFill>
              </a:defRPr>
            </a:pPr>
            <a:r>
              <a:rPr sz="1650" b="1" i="0">
                <a:solidFill>
                  <a:srgbClr val="3453AD"/>
                </a:solidFill>
              </a:rPr>
              <a:t>15-minute exercise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1A593A-9A17-482C-B444-1F77E584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A5AB91-3526-44F0-89ED-9B8C5A25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Open a sanitized PBIX or Microsoft sample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7D01DC-DEB5-4EBD-B46B-72166B81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543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B4EC1C2-142E-4281-9783-E8D73944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Write three decision questions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6DA9EB-0881-4497-9294-3CDD9A94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24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1A7C75-1B28-47B8-9830-6C2A41BC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Record the current refresh and row count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B1E7F2-3354-4179-8BA3-FE9DF28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692C40-A5F3-45B8-804A-1D009F9A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29200"/>
            <a:ext cx="24574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Save a baseline before changes</a:t>
            </a:r>
          </a:p>
        </p:txBody>
      </p:sp>
    </p:spTree>
    <p:extLst>
      <p:ext uri="{BB962C8B-B14F-4D97-AF65-F5344CB8AC3E}">
        <p14:creationId xmlns:p14="http://schemas.microsoft.com/office/powerpoint/2010/main" val="13021123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10F286-83F3-407E-B038-058CE165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B50FA-3D9F-4B4E-8A69-1BC9822B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C8DF2-3122-468C-8EFE-26B5A387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29CB1-3F6B-4B21-86E7-86224D04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19CF7-D3BD-4B6E-A5DA-7F32D0C3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1AD27-3E67-4F7E-A9FC-8575EFFF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BA671-AC13-424C-BBF3-AE13D41E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B7EBB-965B-487B-B89F-7B28A6FA9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9B2A0-F7A4-4B50-9444-344BEBE2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1D483-3458-43C6-8DF1-7F2B5C0D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8CF43-646E-4100-B530-A67AEAC1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64C09-5155-420F-9AD2-727CF52B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83789-8EEE-43F4-9E3E-3FF2EDA3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ECF6C-6335-4D8D-BF0C-04A77D1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6B33E1-9D69-45D2-91CD-F16E614A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6C1570-1CC3-40D0-8B3C-8E154A40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E29BCD-6FC3-47E8-A6EA-4AF26F64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5651A-7438-4125-BDD3-F3077810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36020-C1D7-45B5-B9B2-242CF638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BFA77-4338-4864-9614-72BDBA56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EE1A20-AE40-4E56-AFB9-8249A478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AAD06B-3B60-4B03-9767-08A61E80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E72E8-6A57-4496-9497-13C218DC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14102-26F9-4BBA-B96A-DE07E303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213C7F-3395-48F5-9689-4F2E790B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6B343C-CF25-4101-AD21-21E85149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41AD7-D25A-46CF-9AC3-C9B6B151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906062-BDD0-471E-BFF6-2C75513FC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d828ed881418d">
            <a:extLst>
              <a:ext uri="{96DAC541-7B7A-43D3-8B79-37D633B846F1}">
                <asvg:svgBlip xmlns:asvg="http://schemas.microsoft.com/office/drawing/2016/SVG/main" r:embed="Reab20d7e22334d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F40BC4-FE50-41EF-BA86-C32C4CC3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8B2151-5938-4576-AFDE-F112CD4E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09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264C57-B076-4173-B486-3FBBBAB1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CE8D27-A5C5-485B-A2B7-6A3D43B7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PROMPT PATTERN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353C58-F949-447B-9642-6BB854B2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Prompt 1 — profile before interpreting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2DAF18-A7E0-4B48-A023-D86413D9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D908D9-C496-4AD7-987A-E8C29907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64F2F6-DC5B-4886-90F5-5E1D5B42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PROMPT — COPY / PASTE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C6CB23-D7C9-46F0-9465-D9B80B5E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Goal: Profile the attached dataset for an analyst review.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Context: The decision is [decision]. The grain is [grain].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Output: A concise table of row count, date range, nulls,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duplicates, outliers, and top categories; then 5 hypotheses.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Boundaries: Do not invent values. Show the code used.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Done when: Every claim points to a computed result.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4EF6B0-6110-4BEA-B928-2F87E5EA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1601E5-0E06-4315-80D8-0901EA65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370548-19A5-4321-B685-4F763D25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7B1353-69A3-4F22-A79D-3540779B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answer includes executable code, a compact profile, and separates facts from hypotheses.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31D4CE-0ABF-48A3-A521-6C3084F3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4040CA-C394-4882-A223-A4A41889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26A9CBD-8F93-4B59-B88D-9A2B0C64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BC66547-DFD6-47FB-B31C-52FC1221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Use public or sanitized data. Remove names, emails, identifiers, and secrets before sharing.</a:t>
            </a:r>
          </a:p>
        </p:txBody>
      </p:sp>
    </p:spTree>
    <p:extLst>
      <p:ext uri="{BB962C8B-B14F-4D97-AF65-F5344CB8AC3E}">
        <p14:creationId xmlns:p14="http://schemas.microsoft.com/office/powerpoint/2010/main" val="1968093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C672F-894F-4C12-BFFE-F191ED3F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7A6DA-4D5C-483C-95E0-0ED421CD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3324A-1972-4953-98F5-8CE7B410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E8622-E59F-47D3-B466-B21B6D30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0C9D4-7F23-4413-A759-FED49760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084FB-5CA1-48B9-AA39-91443124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5687D-3705-4501-8D86-196C6873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AC5CA6-8393-4FC3-989C-4FAE941A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912C8-13AF-4EE3-9B58-056AABDB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9A60C-D1B6-4C99-9E59-7044D54A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A4940-0D87-405B-88E4-1D1A56F2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B91D3-207B-4648-B7C7-BB215C04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9209DF-49A8-4D3A-954C-20BE7DAF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34C71E-A3BE-4FC8-8D81-EB1D5E24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5A9C8-CDE1-4B3A-912C-C53098C9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42869-D723-4BDE-82FE-143B61C3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E8001-3D98-4AD7-B1A7-22635A44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A43A8-961B-4E96-B1C9-EA9221E0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50F95-6B25-4F4D-85EF-22759074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519A2-1CED-4DD6-B135-C685752D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A1297-C167-4E49-AB5A-A7A42184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E5D6CB-2988-4659-BFD0-48389DCF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0A2CB-7E2F-46EC-BD36-EBFCE3B3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9D5E5E-B60B-497B-8413-C7955005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0FA3A-DFED-4426-AE84-0C3B41EE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C42BB-68DC-4A7A-854B-FF26C899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178237-A8EE-4412-B51A-1DC246F4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47260-58D4-486F-AF56-6F02F82F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06f47ef9d44df">
            <a:extLst>
              <a:ext uri="{96DAC541-7B7A-43D3-8B79-37D633B846F1}">
                <asvg:svgBlip xmlns:asvg="http://schemas.microsoft.com/office/drawing/2016/SVG/main" r:embed="R0af22417d2fe44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47015-D8E9-4946-A5D5-445D580C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F45F04-4428-4627-ABBF-1A476E45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715EE5-D783-4622-8A39-9F7B8B38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F00CC0-8DDF-4C3E-A99C-6170A37C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PROMPT PATTERN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0DADB6-734B-4A2E-9857-1C795DD7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Prompt 2 — review SQL or DAX like a peer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2B576E-4963-452C-B794-E8379CAB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191000"/>
          </a:xfrm>
          <a:prstGeom xmlns:a="http://schemas.openxmlformats.org/drawingml/2006/main" prst="roundRect">
            <a:avLst>
              <a:gd name="adj" fmla="val 4091"/>
            </a:avLst>
          </a:prstGeom>
          <a:solidFill xmlns:a="http://schemas.openxmlformats.org/drawingml/2006/main">
            <a:srgbClr val="0F16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401CAC-E86A-4FB2-B92F-9A3158B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6313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DCB95E-AB4B-4A23-B1E3-27E8A856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BC6BF"/>
                </a:solidFill>
              </a:defRPr>
            </a:pPr>
            <a:r>
              <a:rPr sz="900" b="1" i="0">
                <a:solidFill>
                  <a:srgbClr val="2BC6BF"/>
                </a:solidFill>
              </a:rPr>
              <a:t>PROMPT — COPY / PASTE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61EFC3-5363-4F04-AA27-19B1F254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6781800" cy="356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Review this [SQL/DAX] for correctness and maintainability.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Business definition: [metric definition].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Expected grain: [grain]. Filters: [filters].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Check: join cardinality, double counting, blanks/nulls,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divide-by-zero, time logic, and performance.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Return: findings by severity, corrected code, and 5 tests.</a:t>
            </a:r>
          </a:p>
          <a:p xmlns:a="http://schemas.openxmlformats.org/drawingml/2006/main">
            <a:pPr algn="l">
              <a:defRPr sz="1200" b="0" i="0">
                <a:solidFill>
                  <a:srgbClr val="F1F5F5"/>
                </a:solidFill>
              </a:defRPr>
            </a:pPr>
            <a:r>
              <a:rPr sz="1200" b="0" i="0">
                <a:solidFill>
                  <a:srgbClr val="F1F5F5"/>
                </a:solidFill>
              </a:rPr>
              <a:t>Do not change business meaning without flagging it.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8EA7FE-1DBA-4582-906E-A1AD77F8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3257550" cy="1847850"/>
          </a:xfrm>
          <a:prstGeom xmlns:a="http://schemas.openxmlformats.org/drawingml/2006/main" prst="roundRect">
            <a:avLst>
              <a:gd name="adj" fmla="val 9278"/>
            </a:avLst>
          </a:prstGeom>
          <a:solidFill xmlns:a="http://schemas.openxmlformats.org/drawingml/2006/main">
            <a:srgbClr val="FFF0D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2823ED-9DE8-4C2A-8657-32DCF01B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76200" cy="1847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E19514-4D9D-4AA4-A8D1-AFA658C7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39200"/>
                </a:solidFill>
              </a:defRPr>
            </a:pPr>
            <a:r>
              <a:rPr sz="1500" b="1" i="0">
                <a:solidFill>
                  <a:srgbClr val="F39200"/>
                </a:solidFill>
              </a:rPr>
              <a:t>Checkpoint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4AB7EB-B1B0-411B-8A2A-75BE8BF9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The review identifies at least one test for totals, duplicates, boundary dates, and empty inputs.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399347-763D-449B-B8AD-B462041E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3257550" cy="2152650"/>
          </a:xfrm>
          <a:prstGeom xmlns:a="http://schemas.openxmlformats.org/drawingml/2006/main" prst="roundRect">
            <a:avLst>
              <a:gd name="adj" fmla="val 796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44ACCD-58FD-40DE-991C-3DC26829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76200" cy="2152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43844B-9A4C-40C7-A0ED-2EB439B7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Safe use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234E15-EC2B-4C71-BEAE-4C019714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43400"/>
            <a:ext cx="28003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A review is evidence, not approval. Execute the tests and obtain the model owner’s sign-off.</a:t>
            </a:r>
          </a:p>
        </p:txBody>
      </p:sp>
    </p:spTree>
    <p:extLst>
      <p:ext uri="{BB962C8B-B14F-4D97-AF65-F5344CB8AC3E}">
        <p14:creationId xmlns:p14="http://schemas.microsoft.com/office/powerpoint/2010/main" val="756348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2A588C-8E48-4A6B-89AF-2F230F74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C2CD1-EE8D-4512-8A5D-99285FF8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6415C-6573-4758-95F8-29D12A49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CDEB6-5991-4907-880D-E55657FD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0E288E-9FF3-4523-9ED4-A73802DD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1C4EC-8F92-417B-9F03-8AD23C1A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C546D-3503-42B1-A5DC-38B89DD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08B8-ECA7-4DE5-B753-232BD66D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18BA5-18E0-4F77-A93B-DB1E0A6A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2590B-FA95-472A-A7D1-7E571072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A0EF9-9608-4E4D-A079-E5356ADB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EE375-BAC2-4C10-BFEA-D0E03D59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7376C-3357-4BDF-8308-960C9CAA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9DB298-1A5C-49EB-A8D1-588CAAD8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D7EBB-F53C-4F0B-BA99-C0AFDE69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1A8984-43A3-4372-A6DC-42D14C7B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13431-7ABF-449F-833E-ABE2C41C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3CF6F-A24D-41CA-A01F-22E81A40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A19137-E9B9-4384-B84E-A93D91CE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C60E5F-5B78-475B-A8E1-A80A4129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7AB4CC-0E3A-45B8-B633-EAB8E016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16E40F-BDDE-4BCB-8772-31A0D179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D243E-C0BA-4611-8C07-5A56FF90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5F960-9242-4AA0-B653-B7242414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9839F-2A0B-437D-84CE-01E25FB3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39EC89-415B-4D7D-B12E-87553CD8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710415-07CB-4BE2-B5E2-F3306F6B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3CF6E-090A-44E0-AE33-6999A945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9b9f7d7754b72">
            <a:extLst>
              <a:ext uri="{96DAC541-7B7A-43D3-8B79-37D633B846F1}">
                <asvg:svgBlip xmlns:asvg="http://schemas.microsoft.com/office/drawing/2016/SVG/main" r:embed="R5cb85388cbf74f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A34BA6-F079-4370-AFC9-22797123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20583-04B6-4157-A4FB-BFDDE9C7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BB0C49-905C-4A68-BEA6-0000E65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B93881-FD57-48E6-9825-7339049A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TOOL CHOICE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2D64F9-1FE4-4AF9-B1AB-267186DE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Pandas and Excel still matter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1D2152-B7CC-484C-8B0B-3F25C3F6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69815-26AF-4BC5-94E1-11FB5637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Excel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363DB1-EB06-4C4C-83B0-62DC80A9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D0DC29-554D-46EE-B219-D99EDB67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Fast business review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E81308-FCDA-4966-8B66-CAD808C8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D1F83F-D819-49D4-9EFF-7B55113D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Small reconciliations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1E8567F-04CE-4B2E-8812-B1D2A4AD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65B2BA-F7A9-4372-91A5-60D56808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Controlled assumptions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B4AE9C-93AD-4B88-820C-9C975EF1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E3E008-FDFE-4814-A609-431124EF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Easy stakeholder hand-off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C0EE02-769D-4882-A026-790E8323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3453A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AD17033-E49E-445E-9749-AA0A3DD0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53AD"/>
                </a:solidFill>
              </a:defRPr>
            </a:pPr>
            <a:r>
              <a:rPr sz="1725" b="1" i="0">
                <a:solidFill>
                  <a:srgbClr val="3453AD"/>
                </a:solidFill>
              </a:rPr>
              <a:t>Pandas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D152D4-98E8-4C33-84E7-96C3D072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40F590-068F-4E04-806E-2303F1E3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Repeatable profiling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4518D1-770E-4C8A-80DB-1D473FD3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4D73BC-F045-421A-9306-22C1D66B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Statistical checks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2EFBEF-E575-4EB5-9D01-2A8D5728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A09843A-4FA1-4046-9112-E2B5A03B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Testable transformations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4CABD0-57AE-4337-9121-D7C7D58A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BDD66C-918B-4E80-82C7-C4FF267E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Notebook-to-pipeline path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31CB81-A250-4E5C-AEEF-19364599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FD1218-D62C-4CE4-9F6E-A585F164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Shared rule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DFE433-5E00-44A7-B19A-BD854B4F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5FA57F-C9B0-460D-B03E-C4183ECC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Keep source references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3EA8C4-2D8F-4DE8-82A6-43EF16BB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271402-8C24-4964-A94D-F17EFBB3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Version important logic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96AB67-E469-48D0-8E98-7A38C144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F4A103B-0FD3-4522-A705-4FCB9FE6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Reconcile to a trusted total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CE2535-3EAC-4DC4-97DB-9E1F4897B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9F7C16-6177-40D1-AC61-50B9229E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Explain every manual step</a:t>
            </a:r>
          </a:p>
        </p:txBody>
      </p:sp>
    </p:spTree>
    <p:extLst>
      <p:ext uri="{BB962C8B-B14F-4D97-AF65-F5344CB8AC3E}">
        <p14:creationId xmlns:p14="http://schemas.microsoft.com/office/powerpoint/2010/main" val="3224360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D89BB3-CF13-428D-B17B-A08E92BB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BF5C7-568D-486A-BBC8-E6A9994B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A94EF-F9D3-4338-BEEB-C477DA96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F51F4-DADA-4BDD-88B9-395A53F8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84E05-D674-4681-BDC7-896C6538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5927E-1314-4818-AAD1-DE029871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0014D-9C2B-407F-94D1-53B3966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FC453-15EC-4B75-938E-3DF6C5C0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7E494-B646-4AA7-8C96-990E414B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33D12-B3D4-4731-A5B8-E677E18F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42486-F7EB-4EB8-BC9B-AC7840A9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98D81-A8CA-4D32-B603-E102F2E2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08CC9-EDAA-4169-B9D1-7AFC6334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17990-12E3-4658-AFFA-D8004934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AE3F6-2C88-488D-93D5-51055723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3E0A0-97F2-4A04-A362-D522CBB3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FB2272-9301-4F1B-BC80-E8C146C2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A11379-9849-4CF1-AAE2-C9F73558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3F6EA8-12F1-47F7-B992-808A8C37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A1AAB-B121-4931-B567-EBF5D1E2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DF7B2-981F-4B6B-A0A0-323F7895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4A6B2-E553-4C99-B85B-52D81CFF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B938C-9D27-4BF0-A1ED-5F05EB56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1A6B79-57B5-4F06-8B98-3244705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5B7F1-2E11-4647-84AA-89EBBA82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600610-4EDF-4CDC-B772-84C143C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F9171D-7C06-4050-BF31-B381127D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41DC33-0303-46E7-9F3C-07F07421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9694bb3204b33">
            <a:extLst>
              <a:ext uri="{96DAC541-7B7A-43D3-8B79-37D633B846F1}">
                <asvg:svgBlip xmlns:asvg="http://schemas.microsoft.com/office/drawing/2016/SVG/main" r:embed="R9ad0d8731dfa48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D07588-E878-4533-B573-AFAFCF10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16D9DD-D9E9-4E1A-8CA3-CCCC471B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F01A3C-03C7-4058-A1A5-CD03244A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OpenAI Codex prompting: https://learn.chatgpt.com/docs/prompting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0E7DFF-93C4-4DB7-A00F-E887BAB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A4BBC7-95F9-46C1-83BC-77BCBE2E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PROMPT LIBRARY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246ADD-64CB-47AD-B793-4A407C12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Four formats an analyst can reuse immediately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1152F5-3E7D-49A4-B9C4-EB60FBFC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C01307-3395-4E88-AB8E-BB3730BD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6EFB24-6A06-4D36-8CD2-71501305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12493C-1639-426D-9271-CB790C8B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G-C-O-B-D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D8BCAD-AF80-459A-BF8C-BA6F5E7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Goal • Context • Output • Boundaries • Done when. Best default for work requests.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BEB638-B3A2-47A8-BD25-15BAD69F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618B45-CF77-4AD1-B803-E19888A9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F4BC2D-39A6-456E-9298-A2F2267C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C030C2E-E54A-47DF-9822-E99DDEE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Role + task + evidence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786831-58E7-4192-9C04-BF8FC481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Useful for reviews: act as a data-quality reviewer; use only these files/results.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564E35-51AA-415D-AFE0-DD75099D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ACA2B1-4251-453F-B15A-84D272E3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8B7E20-3BD6-4094-94A8-F6D80F3F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E162A8-E5DA-4DA3-B7F8-D31634FC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Plan → execute → verify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EC69F9C-F32D-44CE-A226-7D494BED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Ask for a plan, permit scoped execution, then require tests and a summary.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87E503-606A-4F40-8554-680E8B3E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3714750"/>
          </a:xfrm>
          <a:prstGeom xmlns:a="http://schemas.openxmlformats.org/drawingml/2006/main" prst="roundRect">
            <a:avLst>
              <a:gd name="adj" fmla="val 6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4859B8-65A3-4881-AD00-48D24330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809750"/>
            <a:ext cx="256222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174322-FBCC-4C12-947D-ED26D644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002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DA7AA"/>
                </a:solidFill>
              </a:defRPr>
            </a:pPr>
            <a:r>
              <a:rPr sz="975" b="1" i="0">
                <a:solidFill>
                  <a:srgbClr val="9DA7AA"/>
                </a:solidFill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67B749-5B2C-4608-A8B2-793C995A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62200"/>
            <a:ext cx="21812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F161A"/>
                </a:solidFill>
              </a:defRPr>
            </a:pPr>
            <a:r>
              <a:rPr sz="1575" b="1" i="0">
                <a:solidFill>
                  <a:srgbClr val="0F161A"/>
                </a:solidFill>
              </a:rPr>
              <a:t>Compare alternatives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0FC8BF-3194-455C-A8BC-6507AD4A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990850"/>
            <a:ext cx="21812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Request 2–3 approaches with assumptions, risks, effort, and a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20885731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6F9D8B-BAD8-4686-92F7-9C1249F7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B48F2C-FBD8-485C-9A52-4354C1B3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A63AD-9384-495A-BD12-26C296E8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F437C-1658-4AA0-9437-07481836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260FC-F37A-4B9F-B491-F3A88DB3E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C5FBD-2642-429F-98E1-DD24F993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14546-DC26-4E9E-8449-73AA54E1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A84447-EF28-4CA1-8606-6489180F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B3BBD-C06D-454B-AE7E-61789384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DBE00-F1F6-42A3-8FA0-C00F989F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1D96D-0E1F-4A94-B6A4-E94831C5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CF9C4-B996-40D3-9FF9-B0CA9E11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D91C1B-25A9-4FCF-974B-782FAE07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22540-AF60-405B-A019-000A1BF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B3AA2-064A-41B0-B194-7A609423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4624E-BC5F-4064-A875-9FDE2DDC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C301C-E690-4FB1-B2EC-0C2E0647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78E48-4EDC-4627-AF69-D526E7F9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C6B500-09FE-498A-9084-483CA542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87A2DB-12F2-496A-9F48-DAC90B44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A4C07-172E-487B-A80A-FCA315B3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A2D88-83D4-43B9-8E92-FA75360A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00A359-1C60-4EBD-BBC3-ECAF882C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B54DA1-A999-48AB-A5F7-B4E02E0E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E381E-72D1-4781-BF58-5C5D7B76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C6134B-CF48-4851-8B34-6AD54BFB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B9225-C825-4B3F-B571-EABE3EFF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8A5DF7-6DB5-4FE8-BD25-9CA1EB02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6e43b24d84980">
            <a:extLst>
              <a:ext uri="{96DAC541-7B7A-43D3-8B79-37D633B846F1}">
                <asvg:svgBlip xmlns:asvg="http://schemas.microsoft.com/office/drawing/2016/SVG/main" r:embed="Rc1d086312d3f47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8EF738-7633-4DDC-B60D-2AE3DAC2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388A22-3C45-445F-B643-E012D71A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FA3B5-1871-4B0B-AC3C-96D335B7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Codex MCP: https://learn.chatgpt.com/docs/extend/mcp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347F3E-52CC-447F-8847-AD38AA36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FFE1AC-A9D5-47CC-846D-44DF1DE7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CONNECTED 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1DFA4-D2B9-49F2-A355-2C62D970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Codex can work across approved systems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20323C-40F5-4FE0-9029-0871D35A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2528888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695C28-660D-42F1-8A4A-7DD784C8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D1F9FC-22DF-44E8-A4DF-2803CE86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DB90A3-0EAD-46D2-B618-5335CB78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21859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Files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56E6A0-11CB-4035-AD8C-FE7D81F5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21859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PBIP, SQL, Python, CSV, Markdown, and configuration.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53E56A-48B0-40B7-822A-9DACC2BE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57DD4A-9F14-4C71-B94E-8350C11D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362200"/>
            <a:ext cx="2528888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D01FAA-FA4E-4136-BEC8-227E084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69A328-F7D1-4884-9DA2-57F4439B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6E6A25-A826-4E1C-B8CA-EE5FF979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819400"/>
            <a:ext cx="21859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GitHub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D0F0ED-F946-4F7A-85D7-76B746D1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3409950"/>
            <a:ext cx="21859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Branches, diffs, pull requests, issues, and review.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C63447-1DF5-4C18-A595-A63D6251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880EF7-A2AB-447B-8144-D87807B1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362200"/>
            <a:ext cx="2528888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889CC7-FE1E-4753-8177-F2CA00B5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313335-A66F-4575-9B3A-9AEF18EC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4A951E-2983-4607-8CE3-23B66050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19400"/>
            <a:ext cx="21859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CLI / API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03D026-0904-4880-BEF0-841B78A1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09950"/>
            <a:ext cx="21859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Databricks CLI and other authenticated tools.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7E8DF7-1C8B-4609-A23D-E11B164F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3124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39200"/>
                </a:solidFill>
              </a:defRPr>
            </a:pPr>
            <a:r>
              <a:rPr sz="1950" b="1" i="0">
                <a:solidFill>
                  <a:srgbClr val="F39200"/>
                </a:solidFill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55DF4C-0B1B-4ACF-BAFC-B63E8C04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963" y="2362200"/>
            <a:ext cx="2528888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FE70197-C889-45D4-BF1A-FB362853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1145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F5A354-E65E-44DC-9A9A-2C025067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1145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FC657B-15FE-4079-BA37-BD731680C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819400"/>
            <a:ext cx="21859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F161A"/>
                </a:solidFill>
              </a:defRPr>
            </a:pPr>
            <a:r>
              <a:rPr sz="1500" b="1" i="0">
                <a:solidFill>
                  <a:srgbClr val="0F161A"/>
                </a:solidFill>
              </a:rPr>
              <a:t>MCP / plugins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9B7472-AC77-4BB5-B7B8-76749C95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3409950"/>
            <a:ext cx="2185988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263139"/>
                </a:solidFill>
              </a:defRPr>
            </a:pPr>
            <a:r>
              <a:rPr sz="1200" b="0" i="0">
                <a:solidFill>
                  <a:srgbClr val="263139"/>
                </a:solidFill>
              </a:rPr>
              <a:t>Approved connectors for Jira, Confluence, SharePoint, and more.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5D8167-6ADD-470A-8F00-5615A5D2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429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93FA9F1-C310-41DF-8C77-B9DC87C9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48250"/>
            <a:ext cx="7620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C6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0F1646-1A9E-49D1-95A9-4A2119BC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697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BC6BF"/>
                </a:solidFill>
              </a:defRPr>
            </a:pPr>
            <a:r>
              <a:rPr sz="1500" b="1" i="0">
                <a:solidFill>
                  <a:srgbClr val="2BC6BF"/>
                </a:solidFill>
              </a:rPr>
              <a:t>Governance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A6F1AB-C25C-472E-A44B-13E131F0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00700"/>
            <a:ext cx="697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Availability and permissions depend on your organization, workspace policy, and administrator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5276344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8B8A3-0E7F-4EF6-9E0A-D15C4946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54849-9344-4ECF-906B-E9AD09F7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5CE2B-6090-4661-91A4-54AAB657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AF8FEC-00FF-4B3C-B01C-1B998D16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AD5D8-118D-4DAB-AC03-FD6615CA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54384-C6BB-422D-8C44-CD86BE06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DF872-1677-434B-9BDA-571171B8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14940-18BA-4537-87E1-F6EFF860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CDD6B-1217-4D37-90AD-64B02212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723F5E-8086-4919-85F5-7EC74BDB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6C3B9-B6EB-44AF-A8B5-B7811DA0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11B16-B7AE-41A1-9A0F-0E76CBD2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8DA72-E127-4D23-AC0D-1A21DF6B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22E65-4A47-44D4-A9FF-B065A230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0AAEB-B8A7-4CC7-AE19-F5E95E49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8ADE6-D292-47A8-B17A-9D6D0E5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68969-963D-4305-A2BC-08D35DFD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61E4B-D9A7-42C4-8403-D718ABE7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38217-C2F3-4C95-996E-1F9233B6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C231C-007C-4061-BD5E-F417D4E9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179ACB-9814-41C7-9868-43959497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A21F8-D53F-43C2-A3E5-80826833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094EC0-BF93-4C09-92BC-A4A7B831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9498F6-A16C-4634-B286-05DBC66B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87546F-1F4A-43B5-AED6-CAF14067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68656-2CDB-4E83-AFAC-BAB31B3A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DCB1F-AEB1-4BB1-B78B-398CFFBD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9F2E3-8176-4EDD-8ADB-E72EEBFA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e8af655c1431b">
            <a:extLst>
              <a:ext uri="{96DAC541-7B7A-43D3-8B79-37D633B846F1}">
                <asvg:svgBlip xmlns:asvg="http://schemas.microsoft.com/office/drawing/2016/SVG/main" r:embed="R848b01f54d1d4b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E1BAC-C45C-4EC6-A496-9A20D184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C316683-4AB4-4F4F-ACE9-8A118EBF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B36B85-DA44-46C2-944E-87862D65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9DA7AA"/>
                </a:solidFill>
              </a:defRPr>
            </a:pPr>
            <a:r>
              <a:rPr sz="675" b="0" i="0">
                <a:solidFill>
                  <a:srgbClr val="9DA7AA"/>
                </a:solidFill>
              </a:rPr>
              <a:t>Official docs: https://lmstudio.ai/docs | https://docs.ollama.com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E4BC0F-BDDE-4FE9-B090-AC916293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E0D80D-64E5-459A-BF02-83F8B0E6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LOCAL MODELS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295866-3D56-4A88-B8DF-5FE3DE8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LM Studio and Ollama — useful local options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3BDE84-14B2-4115-8B67-1090A73B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3453A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3C78F8-83B5-4727-9BCE-6B3EE01A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3453AD"/>
                </a:solidFill>
              </a:defRPr>
            </a:pPr>
            <a:r>
              <a:rPr sz="1725" b="1" i="0">
                <a:solidFill>
                  <a:srgbClr val="3453AD"/>
                </a:solidFill>
              </a:rPr>
              <a:t>LM Studio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EE449C-7A15-43D5-BF58-431C4E69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93880A-764D-418C-9F3A-DB499B6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Desktop-first model discovery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1079F9-2A13-4DC5-911F-A291955B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1B48B3-DBAA-4C72-B5B2-9CFC7570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Local chat and server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D622E8-8E55-4576-8B03-2A921040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B73D2E-AD3C-4C8F-95F6-CFACC4AF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OpenAI-compatible API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A24CE2-A815-4201-B398-13F3FACB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FFD19D-585F-440C-970E-523FCB86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Offline after model download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DE2287-CF9F-44D0-886D-87C0E232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C1FA9F-3034-413D-8093-A2CF061F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Ollama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E5F880-3F57-4A91-9964-B014B945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C38B1E2-DD78-42FD-B3AB-E978F702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CLI/service workflow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A1C7E8-6F5A-4841-A254-23351827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D49EFF3-BFEF-428F-B109-E3346944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Simple local API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98097C-A306-4BF1-BD09-15679088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B7A539-1F61-4F8B-BA4A-0A395FC3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Good for scripting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124F16-045D-4556-BD2D-C0854853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FD26207-0CAC-4A8F-B2B2-3696B2A5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Broad open-model ecosystem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9A590E-47C6-4276-9475-CF251DE1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790700"/>
            <a:ext cx="3467100" cy="40386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6E9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771CC4-0409-438F-8FA8-917387BC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161A"/>
                </a:solidFill>
              </a:defRPr>
            </a:pPr>
            <a:r>
              <a:rPr sz="1725" b="1" i="0">
                <a:solidFill>
                  <a:srgbClr val="0F161A"/>
                </a:solidFill>
              </a:rPr>
              <a:t>Reality check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911131-C5CC-43ED-A5A9-AE0EE0A9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93C187-A288-4E89-8777-FC9EE784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Hardware limits model size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9A3672E-5097-4F24-9D6F-1E36380A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5336BBA-C756-4A66-AA22-D595237A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Local does not mean governed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EB1FD2-D4AA-4E84-9A1F-F93CEA99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6E89C0-854A-440D-9059-35622730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Evaluate quality and licenses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B6EA296-529C-40AF-BB87-BEFCF342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5B33D34-3926-4F79-95A6-54DE1706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27432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0F161A"/>
                </a:solidFill>
              </a:defRPr>
            </a:pPr>
            <a:r>
              <a:rPr sz="1200" b="0" i="0">
                <a:solidFill>
                  <a:srgbClr val="0F161A"/>
                </a:solidFill>
              </a:rPr>
              <a:t>Enterprise controls still apply</a:t>
            </a:r>
          </a:p>
        </p:txBody>
      </p:sp>
    </p:spTree>
    <p:extLst>
      <p:ext uri="{BB962C8B-B14F-4D97-AF65-F5344CB8AC3E}">
        <p14:creationId xmlns:p14="http://schemas.microsoft.com/office/powerpoint/2010/main" val="15672037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DE51C7-A95C-40E7-85E4-337A3768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691D5-142D-4859-83BA-D60A1B04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508AE-F6D5-4B63-80F2-BB7C8A4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0B4D0-88EC-4617-AF0D-E4750111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5AC4EF-45C4-4552-855E-9A483F49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B40F6-0BCF-4854-9EE8-DFB9DE44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956D8-1D24-4B2B-A4C0-602876BC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AABB5F-5DC8-4B10-928A-B39808B2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139B2F-488E-4655-A426-D69101BC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B6E7E-59FC-4F97-B769-A71AB57B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95ACE-52E6-4467-BC1E-F2E99BAB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17E12-8074-4AA3-8662-C4508B71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61135-35AF-49E6-BFBB-24DD7DB5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CD43AF-60BB-412D-8474-7D647ECC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660E79-F8FF-44E7-B69F-397409B7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E4820-7E14-4451-841A-1283B2D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7A6CE5-3C06-4075-A983-94E0F5CA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962D5-3D09-48E3-A5DF-E9DB4B4D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E8579-BB6A-49DA-BA77-97D832B8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BA9F8-4633-42A8-A39A-08A606D4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A4181-F975-46A2-8819-6EF394CC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58EB9E-5DA4-47E8-9F93-F8366817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1450FC-1DD3-4289-9E9B-28E07DD5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7EE33-E7B6-444C-BD1C-460F35A9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7A41E-834B-429D-A9B3-B8C00E51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49A63-509C-43A8-9F4F-B87D7F31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FE127-492C-477B-9526-AEB5F652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EEC3E-8EF7-4C00-952E-0CEF66D0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ee27811de42d6">
            <a:extLst>
              <a:ext uri="{96DAC541-7B7A-43D3-8B79-37D633B846F1}">
                <asvg:svgBlip xmlns:asvg="http://schemas.microsoft.com/office/drawing/2016/SVG/main" r:embed="R1a79635d6c5346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567EF3-A8B2-410F-B19A-BBE0B032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5769F-EB08-4EAA-B1AE-94B4910A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BE2F4A-F2C6-4EE7-932D-E0E37EC2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D985D7-391A-42A6-8569-63D97854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453AD"/>
                </a:solidFill>
              </a:defRPr>
            </a:pPr>
            <a:r>
              <a:rPr sz="975" b="1" i="0">
                <a:solidFill>
                  <a:srgbClr val="3453AD"/>
                </a:solidFill>
              </a:rPr>
              <a:t>RESPONSIBLE USE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E6ADD6-0D94-479E-BDA3-8800E4DA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F161A"/>
                </a:solidFill>
              </a:defRPr>
            </a:pPr>
            <a:r>
              <a:rPr sz="2850" b="1" i="0">
                <a:solidFill>
                  <a:srgbClr val="0F161A"/>
                </a:solidFill>
              </a:rPr>
              <a:t>A release checklist for analyst 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04FD2B-1C05-4839-82D7-5ED8A5FB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2FDF7-DCEE-47EA-9BFE-8E77CA0A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Use approved data locations and access controls.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55160B-40AE-41CE-9A28-C5E9AB77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3329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FACB4E-CFC5-43CB-9706-B66CDEDD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7129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Do not paste credentials, personal data, or client-confidential content into unapproved tools.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C87A72-936F-4140-90E2-E4B8C2D4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6407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C602F8-4CFE-47FB-9839-9D5B02A0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0207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Cite the source table, query, file, date range, and refresh time.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3CDF68-4665-4C0E-90DF-F253A3C8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9486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078469-4F8F-441A-B2B2-6B92622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73286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Run row-count, uniqueness, null, join, and reconciliation checks.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840710-3DF3-4286-9523-7BDCFC5D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32564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4A2D822-FC0E-429B-A5DE-CC33066B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6364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Separate computed facts, assumptions, hypotheses, and recommendations.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AFA750-56C9-4EE5-B461-0FD6AB18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5643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DA2130-8B97-4AE6-9147-5DA94CC3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9443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Store repeatable logic in Git; record manual exceptions.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AAB2A8-DACB-4E8F-957E-223C9944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8721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FB4388-A728-4B7C-8AD6-A15488B5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22521"/>
            <a:ext cx="5676900" cy="6354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0F161A"/>
                </a:solidFill>
              </a:defRPr>
            </a:pPr>
            <a:r>
              <a:rPr sz="1350" b="0" i="0">
                <a:solidFill>
                  <a:srgbClr val="0F161A"/>
                </a:solidFill>
              </a:rPr>
              <a:t>Require human review for business meaning, sensitive decisions, and publication.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07A7FD-3740-4805-86BA-5F3995E4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4095750" cy="32004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FCE8E9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65D297-F4BF-441A-84C6-6DB9ABCA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76200" cy="3200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968F3A-7EA3-47E5-AAD6-5F91D6A4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5484D"/>
                </a:solidFill>
              </a:defRPr>
            </a:pPr>
            <a:r>
              <a:rPr sz="1500" b="1" i="0">
                <a:solidFill>
                  <a:srgbClr val="E5484D"/>
                </a:solidFill>
              </a:rPr>
              <a:t>Evidence standard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F8ABA6-54BF-48EE-A87B-46BC5CA9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36385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If a number cannot be traced to a source and reproducible computation, it is not ready for a client decision.</a:t>
            </a:r>
          </a:p>
        </p:txBody>
      </p:sp>
    </p:spTree>
    <p:extLst>
      <p:ext uri="{BB962C8B-B14F-4D97-AF65-F5344CB8AC3E}">
        <p14:creationId xmlns:p14="http://schemas.microsoft.com/office/powerpoint/2010/main" val="569524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B72D43-4C6F-4554-8C09-076654A6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61563-4FCF-4691-BBE2-242D95AC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53B9E-A7B1-4E87-89AB-D6999A81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F7DB58-4FD2-4D1A-A0FC-F018EEA7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F3A7B-EA97-4668-A53D-E48F3D5D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EEBA1-456A-4072-BC46-B3174497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7CF0C-7C2C-47AA-BE03-02AC465A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5BADD-C6C1-41CA-B374-C06DD2F7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3387C-542E-404A-BB8B-57356612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3776F-10CB-48E3-AA7E-3F43FD8A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3AE5E-A2A5-44E3-948C-99438D6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BCCB0-E60C-4802-8D7C-D25A3C32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BC683-AF05-4506-AD09-B52ACA86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3DE31-4BE5-41A2-82B6-4ACAF48A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156A9-B1C3-45B4-9DC9-951A1CD4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168D8-2C4A-495A-81F8-361DCA6E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E896F-4C67-481A-958D-7BD8A4AA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9ADE8-A254-470E-81CA-38B4C700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82F34-4F08-4982-B2C1-67DD532A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7B232-3235-4CF5-9485-CBDB508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A3C0B-F37E-4670-BC8B-7CC9F73E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3CFEF-C5AF-427F-B0E7-3617C434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E140BC-6799-4D3A-A85B-A3595D10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33932E-B61D-4FF7-96E4-1206413D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1C5C48-41CF-4A4F-9E19-2C5879BE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E2B282-05BB-4859-A098-0741E163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232BC-F3D8-4A6A-B4EC-4A671476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0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9FA66-A1F2-41C6-A5CE-8B372E0E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e3a67fee14716">
            <a:extLst>
              <a:ext uri="{96DAC541-7B7A-43D3-8B79-37D633B846F1}">
                <asvg:svgBlip xmlns:asvg="http://schemas.microsoft.com/office/drawing/2016/SVG/main" r:embed="R1eede421a32048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228600"/>
            <a:ext cx="11811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8FB680-E731-4187-9D11-FD395B01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9DA7AA"/>
                </a:solidFill>
              </a:defRPr>
            </a:pPr>
            <a:r>
              <a:rPr sz="900" b="1" i="0">
                <a:solidFill>
                  <a:srgbClr val="9DA7AA"/>
                </a:solidFill>
              </a:rPr>
              <a:t>PART 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1D4160-D91F-4CE4-B7C3-1C0D0E3D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286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3453AD"/>
                </a:solidFill>
              </a:defRPr>
            </a:pPr>
            <a:r>
              <a:rPr sz="900" b="1" i="0">
                <a:solidFill>
                  <a:srgbClr val="3453AD"/>
                </a:solidFill>
              </a:rPr>
              <a:t>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42DE9F-2BA7-4D01-BA5B-15D000FE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543675"/>
            <a:ext cx="685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A32A47-BFCD-43D2-8DD1-6579CA00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453AD"/>
                </a:solidFill>
              </a:defRPr>
            </a:pPr>
            <a:r>
              <a:rPr sz="1050" b="1" i="0">
                <a:solidFill>
                  <a:srgbClr val="3453AD"/>
                </a:solidFill>
              </a:rPr>
              <a:t>NEXT STEP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196B30-E819-4798-9BE7-FAE85FAC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0F161A"/>
                </a:solidFill>
              </a:defRPr>
            </a:pPr>
            <a:r>
              <a:rPr sz="3450" b="1" i="0">
                <a:solidFill>
                  <a:srgbClr val="0F161A"/>
                </a:solidFill>
              </a:rPr>
              <a:t>Pilot one recurring analysis — with measurable controls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A5D0BB-3D38-45C7-B6D9-3EDFB9CB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85800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9EDFA"/>
          </a:solidFill>
          <a:ln xmlns:a="http://schemas.openxmlformats.org/drawingml/2006/main" w="9525">
            <a:solidFill>
              <a:srgbClr val="D7DD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357626-C773-4733-991A-81EDAE31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76200" cy="1790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13722E-3079-4044-9019-9CD17D56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53AD"/>
                </a:solidFill>
              </a:defRPr>
            </a:pPr>
            <a:r>
              <a:rPr sz="1500" b="1" i="0">
                <a:solidFill>
                  <a:srgbClr val="3453AD"/>
                </a:solidFill>
              </a:rPr>
              <a:t>Recommended pilot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AE654E-2D78-4237-9C32-3B18BFE2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6400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F161A"/>
                </a:solidFill>
              </a:defRPr>
            </a:pPr>
            <a:r>
              <a:rPr sz="1275" b="0" i="0">
                <a:solidFill>
                  <a:srgbClr val="0F161A"/>
                </a:solidFill>
              </a:rPr>
              <a:t>Choose one reusable KPI query or campaign-analysis workflow. Capture the baseline time, rework, defects, and review effort; then compare the assisted workflow.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92A2CD-F05E-495D-BCC4-4244544D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105150" cy="400050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3453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FD6271-58C3-4F49-94DF-5EC980B1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811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Bring to Part 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A2FB7F-CA87-48B6-B3A3-C08C7B33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860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5C984E-C9CF-4739-BCEF-DDEEED3C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One sanitized PBIX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362EB0-FB14-45E4-95D6-CAE896BB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953643D-46B1-49E9-AD4C-B29E14ED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575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One metric definition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EAD3B1-9954-4669-857F-1D3B242D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814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A6C89B-F6A4-437A-9CA2-8D32460B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9052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One GitHub repo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9D9A3D-C15F-416F-8408-304C68FC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29150"/>
            <a:ext cx="12382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92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C55EA6-A69F-4E13-96F6-CA21DC7B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1526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One reviewer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DB2B4B-43DE-4530-A2E0-210C57AC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DA7AA"/>
                </a:solidFill>
              </a:defRPr>
            </a:pPr>
            <a:r>
              <a:rPr sz="1275" b="1" i="0">
                <a:solidFill>
                  <a:srgbClr val="9DA7AA"/>
                </a:solidFill>
              </a:rPr>
              <a:t>DataArt — practical AI injection into analytics workflows</a:t>
            </a:r>
          </a:p>
        </p:txBody>
      </p:sp>
    </p:spTree>
    <p:extLst>
      <p:ext uri="{BB962C8B-B14F-4D97-AF65-F5344CB8AC3E}">
        <p14:creationId xmlns:p14="http://schemas.microsoft.com/office/powerpoint/2010/main" val="436989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2026-07-15T06:11:27.9320000Z</dcterms:created>
  <dcterms:modified xsi:type="dcterms:W3CDTF">2026-07-15T06:11:27.9320000Z</dcterms:modified>
</coreProperties>
</file>