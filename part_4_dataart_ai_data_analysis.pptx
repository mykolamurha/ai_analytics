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e3efcb8e3e4b2a" /><Relationship Type="http://schemas.openxmlformats.org/officeDocument/2006/relationships/extended-properties" Target="/docProps/app.xml" Id="R1f6d9171a1b34690" /><Relationship Type="http://schemas.openxmlformats.org/officeDocument/2006/relationships/officeDocument" Target="/ppt/presentation.xml" Id="Ra65896742beb4d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3c668d54844552"/>
  </p:sldMasterIdLst>
  <p:notesMasterIdLst>
    <p:notesMasterId xmlns:r="http://schemas.openxmlformats.org/officeDocument/2006/relationships" r:id="R50a9f7f20a8a444c"/>
  </p:notesMasterIdLst>
  <p:sldIdLst>
    <p:sldId xmlns:r="http://schemas.openxmlformats.org/officeDocument/2006/relationships" id="256" r:id="Rf625ad1caa324d39"/>
    <p:sldId xmlns:r="http://schemas.openxmlformats.org/officeDocument/2006/relationships" id="257" r:id="R6fbe66f519294e4e"/>
    <p:sldId xmlns:r="http://schemas.openxmlformats.org/officeDocument/2006/relationships" id="258" r:id="Re0e60bc60c784c15"/>
    <p:sldId xmlns:r="http://schemas.openxmlformats.org/officeDocument/2006/relationships" id="259" r:id="R5376e0a4f64e4544"/>
    <p:sldId xmlns:r="http://schemas.openxmlformats.org/officeDocument/2006/relationships" id="260" r:id="Rbc650fe71be14b59"/>
    <p:sldId xmlns:r="http://schemas.openxmlformats.org/officeDocument/2006/relationships" id="261" r:id="R5f6d3f3237574c95"/>
    <p:sldId xmlns:r="http://schemas.openxmlformats.org/officeDocument/2006/relationships" id="262" r:id="R560ce34267754ab9"/>
    <p:sldId xmlns:r="http://schemas.openxmlformats.org/officeDocument/2006/relationships" id="263" r:id="R29dcd0a7be014593"/>
    <p:sldId xmlns:r="http://schemas.openxmlformats.org/officeDocument/2006/relationships" id="264" r:id="Re811ce66feab4e9c"/>
    <p:sldId xmlns:r="http://schemas.openxmlformats.org/officeDocument/2006/relationships" id="265" r:id="Rb3dffa3dbda34869"/>
    <p:sldId xmlns:r="http://schemas.openxmlformats.org/officeDocument/2006/relationships" id="266" r:id="R7026118870ae4ed5"/>
    <p:sldId xmlns:r="http://schemas.openxmlformats.org/officeDocument/2006/relationships" id="267" r:id="R1c18db33fb9d4139"/>
    <p:sldId xmlns:r="http://schemas.openxmlformats.org/officeDocument/2006/relationships" id="268" r:id="Rea7f0880e6eb4c76"/>
    <p:sldId xmlns:r="http://schemas.openxmlformats.org/officeDocument/2006/relationships" id="269" r:id="Rd414384b093a468b"/>
    <p:sldId xmlns:r="http://schemas.openxmlformats.org/officeDocument/2006/relationships" id="270" r:id="R802646c7838243ed"/>
    <p:sldId xmlns:r="http://schemas.openxmlformats.org/officeDocument/2006/relationships" id="271" r:id="Rca85fee61fe54c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dd462a6e9246bb" /><Relationship Type="http://schemas.openxmlformats.org/officeDocument/2006/relationships/slideMaster" Target="/ppt/slideMasters/slideMaster1.xml" Id="R183c668d54844552" /><Relationship Type="http://schemas.openxmlformats.org/officeDocument/2006/relationships/notesMaster" Target="/ppt/notesMasters/notesMaster1.xml" Id="R50a9f7f20a8a444c" /><Relationship Type="http://schemas.openxmlformats.org/officeDocument/2006/relationships/presProps" Target="/ppt/presProps.xml" Id="R3b1a6bd1c7794639" /><Relationship Type="http://schemas.openxmlformats.org/officeDocument/2006/relationships/tableStyles" Target="/ppt/tableStyles.xml" Id="R84656f49b4164fb6" /><Relationship Type="http://schemas.openxmlformats.org/officeDocument/2006/relationships/slide" Target="/ppt/slides/slide1.xml" Id="Rf625ad1caa324d39" /><Relationship Type="http://schemas.openxmlformats.org/officeDocument/2006/relationships/slide" Target="/ppt/slides/slide2.xml" Id="R6fbe66f519294e4e" /><Relationship Type="http://schemas.openxmlformats.org/officeDocument/2006/relationships/slide" Target="/ppt/slides/slide3.xml" Id="Re0e60bc60c784c15" /><Relationship Type="http://schemas.openxmlformats.org/officeDocument/2006/relationships/slide" Target="/ppt/slides/slide4.xml" Id="R5376e0a4f64e4544" /><Relationship Type="http://schemas.openxmlformats.org/officeDocument/2006/relationships/slide" Target="/ppt/slides/slide5.xml" Id="Rbc650fe71be14b59" /><Relationship Type="http://schemas.openxmlformats.org/officeDocument/2006/relationships/slide" Target="/ppt/slides/slide6.xml" Id="R5f6d3f3237574c95" /><Relationship Type="http://schemas.openxmlformats.org/officeDocument/2006/relationships/slide" Target="/ppt/slides/slide7.xml" Id="R560ce34267754ab9" /><Relationship Type="http://schemas.openxmlformats.org/officeDocument/2006/relationships/slide" Target="/ppt/slides/slide8.xml" Id="R29dcd0a7be014593" /><Relationship Type="http://schemas.openxmlformats.org/officeDocument/2006/relationships/slide" Target="/ppt/slides/slide9.xml" Id="Re811ce66feab4e9c" /><Relationship Type="http://schemas.openxmlformats.org/officeDocument/2006/relationships/slide" Target="/ppt/slides/slide10.xml" Id="Rb3dffa3dbda34869" /><Relationship Type="http://schemas.openxmlformats.org/officeDocument/2006/relationships/slide" Target="/ppt/slides/slide11.xml" Id="R7026118870ae4ed5" /><Relationship Type="http://schemas.openxmlformats.org/officeDocument/2006/relationships/slide" Target="/ppt/slides/slide12.xml" Id="R1c18db33fb9d4139" /><Relationship Type="http://schemas.openxmlformats.org/officeDocument/2006/relationships/slide" Target="/ppt/slides/slide13.xml" Id="Rea7f0880e6eb4c76" /><Relationship Type="http://schemas.openxmlformats.org/officeDocument/2006/relationships/slide" Target="/ppt/slides/slide14.xml" Id="Rd414384b093a468b" /><Relationship Type="http://schemas.openxmlformats.org/officeDocument/2006/relationships/slide" Target="/ppt/slides/slide15.xml" Id="R802646c7838243ed" /><Relationship Type="http://schemas.openxmlformats.org/officeDocument/2006/relationships/slide" Target="/ppt/slides/slide16.xml" Id="Rca85fee61fe54c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4d1382a33d43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6fc759e8e84979" /><Relationship Type="http://schemas.openxmlformats.org/officeDocument/2006/relationships/notesMaster" Target="/ppt/notesMasters/notesMaster1.xml" Id="R2d19497bfe0545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3c4e368163411c" /><Relationship Type="http://schemas.openxmlformats.org/officeDocument/2006/relationships/notesMaster" Target="/ppt/notesMasters/notesMaster1.xml" Id="R4c7b5b28ad4f49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8087849316475d" /><Relationship Type="http://schemas.openxmlformats.org/officeDocument/2006/relationships/notesMaster" Target="/ppt/notesMasters/notesMaster1.xml" Id="R83fba8a416694a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484a89037b4a29" /><Relationship Type="http://schemas.openxmlformats.org/officeDocument/2006/relationships/notesMaster" Target="/ppt/notesMasters/notesMaster1.xml" Id="Rfb4cd3d343c948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40cb7ed34f4672" /><Relationship Type="http://schemas.openxmlformats.org/officeDocument/2006/relationships/notesMaster" Target="/ppt/notesMasters/notesMaster1.xml" Id="R5de7ee8142b047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fd1530eca7429e" /><Relationship Type="http://schemas.openxmlformats.org/officeDocument/2006/relationships/notesMaster" Target="/ppt/notesMasters/notesMaster1.xml" Id="Rb91820ef96c04a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d0e5df055e4f89" /><Relationship Type="http://schemas.openxmlformats.org/officeDocument/2006/relationships/notesMaster" Target="/ppt/notesMasters/notesMaster1.xml" Id="R663c48c1ce804e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6dc33101f8458c" /><Relationship Type="http://schemas.openxmlformats.org/officeDocument/2006/relationships/notesMaster" Target="/ppt/notesMasters/notesMaster1.xml" Id="R8af16881005641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69506e56b34e52" /><Relationship Type="http://schemas.openxmlformats.org/officeDocument/2006/relationships/notesMaster" Target="/ppt/notesMasters/notesMaster1.xml" Id="R6ba6f1948a174e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953d54e6c74822" /><Relationship Type="http://schemas.openxmlformats.org/officeDocument/2006/relationships/notesMaster" Target="/ppt/notesMasters/notesMaster1.xml" Id="Rba961d4f109d4c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43077985dd49fb" /><Relationship Type="http://schemas.openxmlformats.org/officeDocument/2006/relationships/notesMaster" Target="/ppt/notesMasters/notesMaster1.xml" Id="R5a6bca78c60843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1aa1611b1c4de7" /><Relationship Type="http://schemas.openxmlformats.org/officeDocument/2006/relationships/notesMaster" Target="/ppt/notesMasters/notesMaster1.xml" Id="R239dde04646149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8982402abd45c6" /><Relationship Type="http://schemas.openxmlformats.org/officeDocument/2006/relationships/notesMaster" Target="/ppt/notesMasters/notesMaster1.xml" Id="R0b58b32bbb2e4f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167db26a9d4100" /><Relationship Type="http://schemas.openxmlformats.org/officeDocument/2006/relationships/notesMaster" Target="/ppt/notesMasters/notesMaster1.xml" Id="R1080f62dd4984e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ac9905fa6d4a21" /><Relationship Type="http://schemas.openxmlformats.org/officeDocument/2006/relationships/notesMaster" Target="/ppt/notesMasters/notesMaster1.xml" Id="R41f0ef48a27446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deb63026944fa3" /><Relationship Type="http://schemas.openxmlformats.org/officeDocument/2006/relationships/notesMaster" Target="/ppt/notesMasters/notesMaster1.xml" Id="R7a414099ec3043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1b4274ede47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4d0cdf2ca4496a" /><Relationship Type="http://schemas.openxmlformats.org/officeDocument/2006/relationships/slideLayout" Target="/ppt/slideLayouts/slideLayout1.xml" Id="R5072231cdf7f4c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72231cdf7f4c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6d9eb46f14276" /><Relationship Type="http://schemas.openxmlformats.org/officeDocument/2006/relationships/image" Target="/ppt/media/image.png" Id="Rb000a4d5a55f4b0d" /><Relationship Type="http://schemas.openxmlformats.org/officeDocument/2006/relationships/image" Target="/ppt/media/image2.png" Id="R34a61e99ddb54cb0" /><Relationship Type="http://schemas.openxmlformats.org/officeDocument/2006/relationships/image" Target="/ppt/media/image.svg" Id="R4c021b5655ed4e7d" /><Relationship Type="http://schemas.openxmlformats.org/officeDocument/2006/relationships/notesSlide" Target="/ppt/notesSlides/notesSlide1.xml" Id="Rb62093ccf8294e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d8e4444904f97" /><Relationship Type="http://schemas.openxmlformats.org/officeDocument/2006/relationships/image" Target="/ppt/media/image3.png" Id="R558634aeccf64ffb" /><Relationship Type="http://schemas.openxmlformats.org/officeDocument/2006/relationships/image" Target="/ppt/media/image2.svg" Id="R0c6bcb04940a4197" /><Relationship Type="http://schemas.openxmlformats.org/officeDocument/2006/relationships/notesSlide" Target="/ppt/notesSlides/notesSlide2.xml" Id="R9e01d189417b43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0878db9d84954" /><Relationship Type="http://schemas.openxmlformats.org/officeDocument/2006/relationships/image" Target="/ppt/media/image4.png" Id="R97204c14cdf241c1" /><Relationship Type="http://schemas.openxmlformats.org/officeDocument/2006/relationships/image" Target="/ppt/media/image3.svg" Id="R5d51df2c58754e19" /><Relationship Type="http://schemas.openxmlformats.org/officeDocument/2006/relationships/notesSlide" Target="/ppt/notesSlides/notesSlide3.xml" Id="R82215c0559b440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1f4b3cc7549c5" /><Relationship Type="http://schemas.openxmlformats.org/officeDocument/2006/relationships/image" Target="/ppt/media/image5.png" Id="Ra9b352c5a4934f8f" /><Relationship Type="http://schemas.openxmlformats.org/officeDocument/2006/relationships/image" Target="/ppt/media/image4.svg" Id="R96a333bc78994d37" /><Relationship Type="http://schemas.openxmlformats.org/officeDocument/2006/relationships/notesSlide" Target="/ppt/notesSlides/notesSlide4.xml" Id="Rb00e0c5d142947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0b82130df4357" /><Relationship Type="http://schemas.openxmlformats.org/officeDocument/2006/relationships/image" Target="/ppt/media/image6.png" Id="R9813cf443b0641e4" /><Relationship Type="http://schemas.openxmlformats.org/officeDocument/2006/relationships/image" Target="/ppt/media/image5.svg" Id="R0584ceb93dab4ee2" /><Relationship Type="http://schemas.openxmlformats.org/officeDocument/2006/relationships/notesSlide" Target="/ppt/notesSlides/notesSlide5.xml" Id="R1167c29c97854c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85cddab324bd2" /><Relationship Type="http://schemas.openxmlformats.org/officeDocument/2006/relationships/image" Target="/ppt/media/image7.png" Id="R4160316e679f4e8d" /><Relationship Type="http://schemas.openxmlformats.org/officeDocument/2006/relationships/image" Target="/ppt/media/image6.svg" Id="Rea8d5aed8c6b458f" /><Relationship Type="http://schemas.openxmlformats.org/officeDocument/2006/relationships/notesSlide" Target="/ppt/notesSlides/notesSlide6.xml" Id="Rc937da91fd364b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3ac3f54594e8c" /><Relationship Type="http://schemas.openxmlformats.org/officeDocument/2006/relationships/image" Target="/ppt/media/image8.png" Id="R4294952822a54e50" /><Relationship Type="http://schemas.openxmlformats.org/officeDocument/2006/relationships/image" Target="/ppt/media/image7.svg" Id="R8c1222852ff546a3" /><Relationship Type="http://schemas.openxmlformats.org/officeDocument/2006/relationships/image" Target="/ppt/media/image9.png" Id="R671dd5be32374723" /><Relationship Type="http://schemas.openxmlformats.org/officeDocument/2006/relationships/notesSlide" Target="/ppt/notesSlides/notesSlide7.xml" Id="R941c06863f4a4e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5381ffd664cd5" /><Relationship Type="http://schemas.openxmlformats.org/officeDocument/2006/relationships/image" Target="/ppt/media/image10.png" Id="R67cb9621e3f446ae" /><Relationship Type="http://schemas.openxmlformats.org/officeDocument/2006/relationships/image" Target="/ppt/media/image8.svg" Id="R1a6d26fcb8ce48bf" /><Relationship Type="http://schemas.openxmlformats.org/officeDocument/2006/relationships/image" Target="/ppt/media/image11.png" Id="R0babab639cf44e57" /><Relationship Type="http://schemas.openxmlformats.org/officeDocument/2006/relationships/notesSlide" Target="/ppt/notesSlides/notesSlide8.xml" Id="R8e6289d039b443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611098a35492d" /><Relationship Type="http://schemas.openxmlformats.org/officeDocument/2006/relationships/image" Target="/ppt/media/image12.png" Id="R0f43f2ef6df84dfe" /><Relationship Type="http://schemas.openxmlformats.org/officeDocument/2006/relationships/image" Target="/ppt/media/image9.svg" Id="R38de8644720847d3" /><Relationship Type="http://schemas.openxmlformats.org/officeDocument/2006/relationships/image" Target="/ppt/media/image13.png" Id="Rad51fde163df4c48" /><Relationship Type="http://schemas.openxmlformats.org/officeDocument/2006/relationships/notesSlide" Target="/ppt/notesSlides/notesSlide9.xml" Id="R4be5d0490a784c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f5053c34745e9" /><Relationship Type="http://schemas.openxmlformats.org/officeDocument/2006/relationships/image" Target="/ppt/media/image14.png" Id="R660b86460c974278" /><Relationship Type="http://schemas.openxmlformats.org/officeDocument/2006/relationships/image" Target="/ppt/media/image10.svg" Id="R4ed92b1f32674523" /><Relationship Type="http://schemas.openxmlformats.org/officeDocument/2006/relationships/notesSlide" Target="/ppt/notesSlides/notesSlide10.xml" Id="Re3d45884df084f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cfae4fffc4d41" /><Relationship Type="http://schemas.openxmlformats.org/officeDocument/2006/relationships/image" Target="/ppt/media/image15.png" Id="Re29569ef038c43cf" /><Relationship Type="http://schemas.openxmlformats.org/officeDocument/2006/relationships/image" Target="/ppt/media/image11.svg" Id="Rd4b39ed82e804b6c" /><Relationship Type="http://schemas.openxmlformats.org/officeDocument/2006/relationships/notesSlide" Target="/ppt/notesSlides/notesSlide11.xml" Id="R51e3d9782e9446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2ea66522b4f45" /><Relationship Type="http://schemas.openxmlformats.org/officeDocument/2006/relationships/image" Target="/ppt/media/image16.png" Id="Rcf6b4f9a18464025" /><Relationship Type="http://schemas.openxmlformats.org/officeDocument/2006/relationships/image" Target="/ppt/media/image12.svg" Id="R28f6eda36cb24a80" /><Relationship Type="http://schemas.openxmlformats.org/officeDocument/2006/relationships/notesSlide" Target="/ppt/notesSlides/notesSlide12.xml" Id="R8135970b30684c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e29848f144bf0" /><Relationship Type="http://schemas.openxmlformats.org/officeDocument/2006/relationships/image" Target="/ppt/media/image17.png" Id="R18e2eeeb27394234" /><Relationship Type="http://schemas.openxmlformats.org/officeDocument/2006/relationships/image" Target="/ppt/media/image13.svg" Id="R63af4d80753b450a" /><Relationship Type="http://schemas.openxmlformats.org/officeDocument/2006/relationships/notesSlide" Target="/ppt/notesSlides/notesSlide13.xml" Id="R9b624bf7936247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4d07d3f644371" /><Relationship Type="http://schemas.openxmlformats.org/officeDocument/2006/relationships/image" Target="/ppt/media/image18.png" Id="R6e4ad8a8dda34388" /><Relationship Type="http://schemas.openxmlformats.org/officeDocument/2006/relationships/image" Target="/ppt/media/image14.svg" Id="R7e415a4752d647cc" /><Relationship Type="http://schemas.openxmlformats.org/officeDocument/2006/relationships/notesSlide" Target="/ppt/notesSlides/notesSlide14.xml" Id="R614ec05e960a41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7f2841f59416a" /><Relationship Type="http://schemas.openxmlformats.org/officeDocument/2006/relationships/image" Target="/ppt/media/image19.png" Id="R8516fcab47574f56" /><Relationship Type="http://schemas.openxmlformats.org/officeDocument/2006/relationships/image" Target="/ppt/media/image15.svg" Id="Rb19a56ee73f74037" /><Relationship Type="http://schemas.openxmlformats.org/officeDocument/2006/relationships/notesSlide" Target="/ppt/notesSlides/notesSlide15.xml" Id="R63ed9d7bd7264e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642c87d90404c" /><Relationship Type="http://schemas.openxmlformats.org/officeDocument/2006/relationships/image" Target="/ppt/media/image20.png" Id="R9bec3ba28a3d43fb" /><Relationship Type="http://schemas.openxmlformats.org/officeDocument/2006/relationships/image" Target="/ppt/media/image16.svg" Id="Rc47b61e3ddbd4d5c" /><Relationship Type="http://schemas.openxmlformats.org/officeDocument/2006/relationships/notesSlide" Target="/ppt/notesSlides/notesSlide16.xml" Id="R52b140f9cb8e48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0a4d5a55f4b0d"/>
          <a:srcRect xmlns:a="http://schemas.openxmlformats.org/drawingml/2006/main" l="3333" t="0" r="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8ED91-CA02-4319-9C31-8198E56B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15AD1-36B3-4824-8CD4-CA79C6F9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61e99ddb54cb0">
            <a:extLst>
              <a:ext uri="{96DAC541-7B7A-43D3-8B79-37D633B846F1}">
                <asvg:svgBlip xmlns:asvg="http://schemas.microsoft.com/office/drawing/2016/SVG/main" r:embed="R4c021b5655ed4e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52450"/>
            <a:ext cx="1524000" cy="38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D3B2E-AF3C-4601-BC82-A432B0B5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453AD"/>
                </a:solidFill>
              </a:defRPr>
            </a:pPr>
            <a:r>
              <a:rPr sz="1125" b="1" i="0">
                <a:solidFill>
                  <a:srgbClr val="3453AD"/>
                </a:solidFill>
              </a:rPr>
              <a:t>PART 4  / 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13D75-07DE-4F24-B627-4C6F0050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7627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F161A"/>
                </a:solidFill>
              </a:defRPr>
            </a:pPr>
            <a:r>
              <a:rPr sz="3900" b="1" i="0">
                <a:solidFill>
                  <a:srgbClr val="0F161A"/>
                </a:solidFill>
              </a:rPr>
              <a:t>End-to-End Analytics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947D9-0BDC-457B-97DE-8DA34A92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139"/>
                </a:solidFill>
              </a:defRPr>
            </a:pPr>
            <a:r>
              <a:rPr sz="1725" b="0" i="0">
                <a:solidFill>
                  <a:srgbClr val="263139"/>
                </a:solidFill>
              </a:rPr>
              <a:t>Codex, Databricks, GitHub, and Power BI PBIP working as one reviewable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85C00-8229-4148-A0B8-5151AF88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047750"/>
            <a:ext cx="3143250" cy="41910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453AD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F692F-5E0C-4C52-AB09-C90D77C1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76400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HANDS-ON</a:t>
            </a:r>
          </a:p>
          <a:p xmlns:a="http://schemas.openxmlformats.org/drawingml/2006/main">
            <a:pPr algn="l"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DEMO SERIES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42674-3C65-487B-B263-EA7A950A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Power BI  •  Databricks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GitHub  •  Codex  •  Excel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08BCA-E95A-4F23-ABFF-ECDEE968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33900"/>
            <a:ext cx="1676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B210C-2800-477C-AEFE-D7C37507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DA7AA"/>
                </a:solidFill>
              </a:defRPr>
            </a:pPr>
            <a:r>
              <a:rPr sz="1050" b="1" i="0">
                <a:solidFill>
                  <a:srgbClr val="9DA7AA"/>
                </a:solidFill>
              </a:rPr>
              <a:t>DataArt</a:t>
            </a:r>
          </a:p>
        </p:txBody>
      </p:sp>
    </p:spTree>
    <p:extLst>
      <p:ext uri="{BB962C8B-B14F-4D97-AF65-F5344CB8AC3E}">
        <p14:creationId xmlns:p14="http://schemas.microsoft.com/office/powerpoint/2010/main" val="1611984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443A80-4F13-40FD-A015-5DC26C94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9E5A2-D799-41BD-A13F-4C81593E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5DE05-12BC-470F-998A-0ECFBB79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4B312-81EA-46FB-AE0F-4DCF3F7A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9CF00-D422-41D9-ACA2-52EC496D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6ED20-60D7-48A6-ACFA-DCAD6F0D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B5907-47BE-4470-9100-920836C9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98633-8547-4546-B614-1A123A7F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E176C-6E70-4BB8-818C-C0F113FD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3DB79-4D4B-4033-AF97-680546DB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82B40-9007-472C-9B18-16FF4427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96FC8-C8B8-465D-8F75-E2E98D84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43E86-9681-4DE6-9E85-7B497929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1031E-7439-4EE8-917F-ED7605B2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D8310-97B2-48D8-A474-0585DE15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A679B-D2B9-49DB-89F7-E8B6F4C8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3BC82-8E75-4102-B5C0-79A08F57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6524E-72A2-476F-BD76-6C7DCA51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2FAB2-90AD-4A00-998D-41621DA0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918EB-7A30-4E59-86AF-9B0A818E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D0610D-5A55-4B06-8134-EC969CCB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8193E3-5A19-4606-845C-02837BF5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859167-6B82-4BDD-A2A3-A4B92FD2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EB6295-6D95-4932-8438-5120C991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D1D83-6493-468A-B391-709F832B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9DDEBB-61D0-4026-BD51-46C06736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7D64AE-993B-4012-8C64-3311739E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DE2D01-6AEE-4F30-93B5-152129D9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634aeccf64ffb">
            <a:extLst>
              <a:ext uri="{96DAC541-7B7A-43D3-8B79-37D633B846F1}">
                <asvg:svgBlip xmlns:asvg="http://schemas.microsoft.com/office/drawing/2016/SVG/main" r:embed="R0c6bcb04940a41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BD5742-6181-4550-8CD9-1B94FEB5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588024-A11C-4202-A6FF-E5BC700D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5A5C81-9D80-41F0-9039-66A3B8AB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DataArt workshop structure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FEB6A8-0D50-494C-BD80-D5998DD3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4CE0C9-AD40-4902-947B-2ECA693E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TODAY’S ROUTE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245A43-E5B3-4773-9DAD-B6950241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Agenda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EFDBA4-C276-47C9-AC66-DAD3A887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82F716-60BB-472F-A465-BC4B3339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F5FA35-F51A-47ED-A4ED-7B995DE6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9F0864-C925-4426-BA1C-4B544DEB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240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Target architecture and repository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110198-40E2-4E47-91B1-1405A1B6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218966-E284-4FD2-988E-152CB787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716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C8AC74-A108-4791-BC02-6D461BB5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71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21932B-53AE-45D4-B445-A1B0287A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Databricks CLI + OAuth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8A1BE5-BC3D-4F2C-955B-D2AEF6E6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BDBDFE-3E63-4291-934A-1798EB6C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D6AEE8-9D51-4810-BEF4-2505AD91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BCCF09-01BF-4EC7-BE9C-DBB55C2C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Codex connection smoke test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D95996-3285-4217-B02E-9452F5B2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265F18-DBC7-4AE4-851F-53EE09E1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22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7F3905-26A7-4848-8A82-D5662C42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22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88BE1F-4F81-4550-9D26-6D88F4F7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Power BI connection walkthrough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5C95FC-CD85-4C03-8B1D-69DA1431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A82E84-368D-47A0-8778-19E90BD2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E566B3-86F0-4D8C-B85F-8E07F349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229D91-50B0-42ED-9B72-35554DF6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Business requirement to reviewed PR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1E9854-04BC-44EF-B8CB-F97BD39A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96D5CE-9059-4F96-83A8-C556C81A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528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7F11C2-FB23-44BD-B976-981624BF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52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BAFB1E4-7839-4C50-B3A1-EE2C3A6C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Governed pilot proposal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2C16C99-3CE5-4248-AB63-018EC6ED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00700"/>
            <a:ext cx="8191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C6C26A-2F5C-47C9-8D43-D250E849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007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D357E6-F7BC-4CA6-9978-5D8D489F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72150"/>
            <a:ext cx="773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C6BF"/>
                </a:solidFill>
              </a:defRPr>
            </a:pPr>
            <a:r>
              <a:rPr sz="1500" b="1" i="0">
                <a:solidFill>
                  <a:srgbClr val="2BC6BF"/>
                </a:solidFill>
              </a:rPr>
              <a:t>How to use this deck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D8BF85-88D4-474E-80E9-8EC6D71F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153150"/>
            <a:ext cx="7734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Follow the checkpoints in order. Copy the prepared commands and prompts, replace only the bracketed placeholders, and stop when a checkpoint fails.</a:t>
            </a:r>
          </a:p>
        </p:txBody>
      </p:sp>
    </p:spTree>
    <p:extLst>
      <p:ext uri="{BB962C8B-B14F-4D97-AF65-F5344CB8AC3E}">
        <p14:creationId xmlns:p14="http://schemas.microsoft.com/office/powerpoint/2010/main" val="107387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64FC76-383F-477F-8206-F97484EE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70717-3CF6-481E-8AD5-CC4A2992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1F341-2781-4ADF-ADC0-0163AA3C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B6647-99EB-4CC9-B317-C71BCF08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F5EEA-4901-490C-830B-8021F4FF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C0C41-DCAF-4B35-A466-820EB961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9733B-D727-4220-988E-89B91466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C24BC-B07D-47F8-B906-7827B44E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A6D2D-50CE-41F0-8B36-4F2FD40D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70102-603C-4238-977A-679D0592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DAA94-D2B2-4ED2-B550-75A27AD8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19631-D99A-4A62-8832-21C35064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CBB5B-599C-4466-BD33-FD649DF6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E122C-29E3-4A8E-B295-296EE31F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D3CB9-317C-4B93-9333-66799D9F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D3AB1-4A54-4D73-BF4F-ADE0A86C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07983-9572-49FD-82DE-C6E22968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99B79-2AC7-423C-AF9D-34203C06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96C33-63EA-424B-A2F9-DF06DBC4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A1654-55C4-4F1E-9E57-080F7EED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02D10-1CCA-44D9-890F-7B9038D9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38749E-9A0D-49DF-B893-66E94C94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8DA2BD-61DE-4A80-A4FE-966F5094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4A104F-C8F7-4DC0-9DB2-88A3AA4C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CD71C2-D2EE-462F-9ACD-A1E18A40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FEB970-DC49-4B6B-B7D2-71295C16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8F719C-F160-4857-8A5E-426FCC70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90E440-5AB2-4D22-83B1-B86F4B0F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04c14cdf241c1">
            <a:extLst>
              <a:ext uri="{96DAC541-7B7A-43D3-8B79-37D633B846F1}">
                <asvg:svgBlip xmlns:asvg="http://schemas.microsoft.com/office/drawing/2016/SVG/main" r:embed="R5d51df2c58754e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2F5EE4-A98A-4AA9-8664-4A347867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674EF9-3FC6-493C-A818-B0828947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19E197-F259-4F26-A442-88062109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Codex best practices: https://learn.chatgpt.com/guides/best-practices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293F23-FF67-48BF-8151-D42FEA5E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A6E93E-E9AD-4888-87D7-2BDBE8F7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REPOSITORY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CE1961-B00D-4EB6-8EDA-4BD995CB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One repo connects the full workflow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3540C2-EC16-452F-BC7C-C38BB7C3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286500" cy="4267200"/>
          </a:xfrm>
          <a:prstGeom xmlns:a="http://schemas.openxmlformats.org/drawingml/2006/main" prst="roundRect">
            <a:avLst>
              <a:gd name="adj" fmla="val 4018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288EA8-0621-483F-AC84-12CFDDEF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57150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analytics-demo/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├─ AGENTS.md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├─ requirements/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│  └─ business_requirement.md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├─ databricks/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│  ├─ sql/active_supporters.sql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│  └─ tests/data_quality.sql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├─ powerbi/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│  ├─ CustomerProfitability.pbip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│  ├─ CustomerProfitability.Report/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│  └─ CustomerProfitability.SemanticModel/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└─ docs/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   └─ metric_dictionary.md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AD8A83-C6B3-4164-B77C-65020F49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409575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AE5ED7-AAD7-42E3-BE9C-EE9F5962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76200" cy="236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87F4B2-78AE-4D80-90C6-6121416D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336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Why this matters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B54C50-82F0-4FE1-8528-00049165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14600"/>
            <a:ext cx="3638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Requirements, data logic, tests, semantic definitions, visuals, and documentation can be reviewed in one pull request.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0E8F4C-CB72-4946-92DC-1BF31CB1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3A2B32-F211-486F-922B-A1B58745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76200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4DE213-06C9-466F-9FAE-263293FC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053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AGENTS.md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AD71B3-AC4B-413E-9DD4-8C89C1DE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86350"/>
            <a:ext cx="3638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Record project conventions, allowed commands, validation steps, and boundaries for Codex.</a:t>
            </a:r>
          </a:p>
        </p:txBody>
      </p:sp>
    </p:spTree>
    <p:extLst>
      <p:ext uri="{BB962C8B-B14F-4D97-AF65-F5344CB8AC3E}">
        <p14:creationId xmlns:p14="http://schemas.microsoft.com/office/powerpoint/2010/main" val="1099274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81FA9A-A89B-4037-9F70-650CFBA0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EA27E-3713-4C77-9E87-EC02169D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BDD2B-B581-45D1-B711-3891984B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8580C-341F-4060-96FB-0526B31B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5B256-0347-40BC-B154-4E147753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1052E-E4B5-47BA-8575-CACA4482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45850-DE0B-406C-A9EF-289C9926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3223B-1146-499C-907C-C356C390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A1B64-E026-4ADA-AEBB-A0EAEAA6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FDFD4-340F-40C6-BA04-AEF3C106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6E7D8-CB64-4B0B-A2EF-77A2B81D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0030C-362C-4A02-8C67-DD287333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97D79-7863-4DE3-9C00-C2B6358D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1C6D6-DD20-41CB-BE88-B20F7D62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9071E-F2D1-4CDF-94B3-81B17821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422FE-D69F-4FBF-B93A-735370B4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C654D-A50C-41B1-A5F2-77804D5A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C12D9-513E-4E49-95CD-B3ECA3FD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DB529-45BC-4F1E-8979-5A62541C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C31B8-9A34-42EB-9DF1-4C99C0F2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332D6B-FDD7-4C8E-8580-9B2D2A29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D5E4B-A3C6-4513-A291-1225C2F6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C56275-83F8-42A9-B418-DD6697E4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3BB10-26AB-4D74-B4DF-A17E532B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787745-DA96-4EAE-A8AF-9036D98E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F9AF4A-09C0-438F-BDF2-1C0EEA8F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067AE9-0707-44C5-9B2C-5286EEDC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8A5962-EA29-45EA-8FDF-11635D6B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352c5a4934f8f">
            <a:extLst>
              <a:ext uri="{96DAC541-7B7A-43D3-8B79-37D633B846F1}">
                <asvg:svgBlip xmlns:asvg="http://schemas.microsoft.com/office/drawing/2016/SVG/main" r:embed="R96a333bc78994d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84EE64-709B-4D1E-B980-255BD8AA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58CA21-4440-4DE6-B008-C97F805E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989EF0-215C-4327-95AF-AFE4462C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Official CLI tutorial: https://docs.databricks.com/aws/en/dev-tools/cli/tutorial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DA7D83-1D92-4C45-A246-D2C0DF8D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9D64B7-C2AE-45CF-9CAF-FA59CD5D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DATABRICKS CLI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DC1490-6B55-441B-A668-B46FD223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Install and verify the CLI on Windows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23BE37-6F2C-4F5D-999B-8D7C79B2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51D6C6-A2FC-4BCC-A05C-9DC335E3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ABE33F-A662-4C9D-8DA9-03B40918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C6BF"/>
                </a:solidFill>
              </a:defRPr>
            </a:pPr>
            <a:r>
              <a:rPr sz="900" b="1" i="0">
                <a:solidFill>
                  <a:srgbClr val="2BC6BF"/>
                </a:solidFill>
              </a:rPr>
              <a:t>POWERSHELL — COPY / PASTE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7218B2-246F-4D08-9ED4-DE67837E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7818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winget search databricks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winget install Databricks.DatabricksCLI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databricks -v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# The version should be 0.205 or later.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# Restart the terminal if the command is not found.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D5C9B0-DA1A-4DE2-A37D-AA7FB77E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5755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897E9D-32CA-4EFC-8FA1-BF7FBE7E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CC6B2C-1D65-4FCE-A2FB-BA25D264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Checkpoint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E9EBD0-8642-4A27-81E8-2F2E24E1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databricks -v prints an installed version. Record the version in workshop notes.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C67DA9-3E5D-4C56-9382-957202B5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2575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2B5AA6-AE99-4F5B-A968-AC01F021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7620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F71207-1331-4A3B-B518-40B0EDEF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Safe use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218B74-57EF-4B36-99BC-00A52C3A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800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Install software only with local IT approval. Use an approved workstation or prepared virtual machine.</a:t>
            </a:r>
          </a:p>
        </p:txBody>
      </p:sp>
    </p:spTree>
    <p:extLst>
      <p:ext uri="{BB962C8B-B14F-4D97-AF65-F5344CB8AC3E}">
        <p14:creationId xmlns:p14="http://schemas.microsoft.com/office/powerpoint/2010/main" val="19448182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A6E3CC-86BA-4BEB-8316-CBFEA2E6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8DDE7-B7E6-4D42-A065-2968E80E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A43E7-06D3-4A5D-B902-6AEB5768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60BB1-A0AF-48ED-841E-24899AD7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B6B89-A92A-483F-A71D-726D02C6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488FC-B39B-4770-B0E5-9366EE37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A696F-31D2-417E-BF7F-FAAE6C67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5447F-3711-4F2D-B78A-8C807372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6464A-2663-47A2-B352-717393C1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2571D-1992-4403-B447-C446BDD2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31DC9-C605-4958-A4DD-747CCEF4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AB074-15D1-45E1-B953-BFE6F80F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02A09-9B40-40C1-8628-CC5544EC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511B8-8474-4973-B037-02A75FE6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5A7AD-F0EB-4BAA-82F6-AB50BD6F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DFA2E-E07E-4328-BDDB-B4ABDA94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22ECC-45C1-4CAE-87C0-2A1F2F3E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1A94D-8C51-451B-9FA3-27585624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35F7F-64B8-44F9-A393-C74892B2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E90DC-539D-4D16-87D2-9298B36D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90D8A-0722-4AA1-BC9A-2C4ADF92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A661D-0AD5-4E68-8EE5-435E02DE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F1E5B-21BF-46A3-B4B2-C17ED212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E00DD4-EB73-4C7F-B807-93ACDC5F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CF985-9E04-43C5-A3A2-CD98A0B5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9DF87-9E5A-422C-A90E-5BF988C0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7AE1BB-D94C-445A-A3DB-C8DCA0BA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784621-8F1D-4925-9F9C-9E229F9C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3cf443b0641e4">
            <a:extLst>
              <a:ext uri="{96DAC541-7B7A-43D3-8B79-37D633B846F1}">
                <asvg:svgBlip xmlns:asvg="http://schemas.microsoft.com/office/drawing/2016/SVG/main" r:embed="R0584ceb93dab4e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9C15F3-A1B5-4F95-8AE3-6ED83891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C87696-A058-4B5C-B522-7A0BCB84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92624F-6089-44A8-9E7F-300A5588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OAuth U2M: https://docs.databricks.com/aws/en/dev-tools/auth/oauth-u2m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5E0128-FA60-4AB6-B180-196AC2E3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91376F-AE35-4310-BB0B-615452D7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OAUTH SIGN-IN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83008C-1A64-407A-906E-BAB46862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Authenticate with browser-based OAuth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B5A1DA-B2AF-4832-ACDA-79AD38F9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F066DE-871C-4CA8-B620-DC983D5C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A4A2C6-57A5-49B1-8E74-004D4B0A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C6BF"/>
                </a:solidFill>
              </a:defRPr>
            </a:pPr>
            <a:r>
              <a:rPr sz="900" b="1" i="0">
                <a:solidFill>
                  <a:srgbClr val="2BC6BF"/>
                </a:solidFill>
              </a:rPr>
              <a:t>POWERSHELL — COPY / PASTE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865A0E-A1A3-448A-8D86-1C0AF3A0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7818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$hostUrl = "https://&lt;your-workspace-host&gt;"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databricks auth login --host $hostUrl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# Then verify the authenticated identity and access: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databricks auth profiles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databricks current-user me -p &lt;profile-name&gt;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databricks warehouses list -p &lt;profile-name&gt;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3DAB95-44D8-448D-B028-75036598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5755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DFA72A-643A-4031-B192-1E3C43B2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4510E4-D5D1-42B4-A6BD-F58A7F20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Checkpoint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3861A3-3CD6-49A6-934B-C7EFA081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The current-user command returns your own identity and warehouses list returns only authorized resources.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F645B9-C94F-4C8E-8F29-287B2EDC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2575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0CFD91-2848-4139-9D35-C9FD0013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7620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ACAF8D-C9F4-46A9-A35A-4E408BEE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Safe use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BA7CEB-C4AB-4E4D-A563-DAC2117E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800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Do not paste tokens into prompts or source files. Browser-based OAuth keeps the credential out of the command text.</a:t>
            </a:r>
          </a:p>
        </p:txBody>
      </p:sp>
    </p:spTree>
    <p:extLst>
      <p:ext uri="{BB962C8B-B14F-4D97-AF65-F5344CB8AC3E}">
        <p14:creationId xmlns:p14="http://schemas.microsoft.com/office/powerpoint/2010/main" val="6710264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2D98E3-9951-407D-A3B4-1F1AD131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9201D-C578-4BCB-A498-783E463B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DEC3B-994F-4BBE-BE40-76301A14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C217F-D53C-4AA3-AA95-EE47ABD6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590D3-548A-4229-B488-11F17AD6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1D299-71D5-41B1-B2FC-3BCE6C1A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B7A51-3FB0-402B-BB24-F38AFDD4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3968E-66B8-438D-9DC3-D51D06F5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DF1BC-3876-44A3-85E4-8A2A59CB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B3AC9-70F4-4F83-BA48-5DACE817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BCDA1-5991-4DA4-97D6-71F4F802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2AE71-9954-4DEE-93F5-A98E21C1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7E5EB-B49E-4EEF-B187-72658238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3AE55-98CE-448B-9E8F-F97FB89F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49714-0308-46BE-8BC7-6316C033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4176F-606F-4F63-BDE6-5308A6AF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B5CCA-846F-4163-8891-DA492C2E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AE790-609F-4EC9-9D9B-1B1DFEEB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D13177-26C6-4131-9686-9A04CFFC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6BA82-A44D-4A49-AF2F-6EDC731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09A88C-E8DD-4BC7-A29A-3CF56451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D1112D-0AB0-4CCB-9FAD-51B2689A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25E6F2-AEB4-452E-921E-379D6576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96E0B-8C29-4670-ACD9-0576B0A1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B94C15-AC26-41C0-B11C-125594E2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B7F0D7-01C1-4FA2-AA17-790DD3CF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E1276B-D408-4335-9B3D-948079C8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864734-3309-4094-AB84-77746F7B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0316e679f4e8d">
            <a:extLst>
              <a:ext uri="{96DAC541-7B7A-43D3-8B79-37D633B846F1}">
                <asvg:svgBlip xmlns:asvg="http://schemas.microsoft.com/office/drawing/2016/SVG/main" r:embed="Rea8d5aed8c6b45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231969-7DEB-4B94-B5FF-60625352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5C19D0-A17C-41B4-9339-D2D86180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77A80A-E337-4A76-8D9E-A9B100E8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298616-5013-4A12-9613-B88A9C7E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CODEX CONNECTION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6B83DB-1B43-43A7-B343-A8E31E0F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Give Codex a read-only smoke test first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4D1877-CE73-48D6-9175-EE417508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603C89-00C8-4473-9243-5762E112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A89448-490C-41DC-9A8F-F2375A3E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C6BF"/>
                </a:solidFill>
              </a:defRPr>
            </a:pPr>
            <a:r>
              <a:rPr sz="900" b="1" i="0">
                <a:solidFill>
                  <a:srgbClr val="2BC6BF"/>
                </a:solidFill>
              </a:rPr>
              <a:t>PROMPT — COPY / PASTE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54514E-3CA3-47AA-827A-2942D821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7818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Goal: Verify my Databricks CLI connection.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Context: Use profile &lt;profile-name&gt;.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Boundaries: Read-only commands only. Do not create, edit,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start, stop, or delete resources. Never display credentials.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Tasks: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1. Run databricks current-user me.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2. List SQL warehouses.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3. Summarize the accessible names and states.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Done when: Commands and outputs are recorded without secrets.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2AE7D8-B2C0-44E0-B9FB-BB1D5862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5755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B55B96-B6E4-45E2-827A-5223D7CE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FD38D9-1DD1-4A3C-A34D-948DC5BA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Checkpoint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1AC9E4-8C42-4C0D-A07C-719BBC5A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Codex runs only the two approved read-only commands and reports the correct user and warehouse state.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EFD942-D1C0-4F51-ABE2-FDCD8423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2575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1F7AB0-03E3-4163-9124-A97BCFC8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7620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3B0D00-905F-4A8B-91C8-2BA90A9B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Safe use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6DB303-C0AD-44F4-A5E3-755BD4B3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800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Expand permissions one task at a time. Keep destructive or costly operations behind explicit human approval.</a:t>
            </a:r>
          </a:p>
        </p:txBody>
      </p:sp>
    </p:spTree>
    <p:extLst>
      <p:ext uri="{BB962C8B-B14F-4D97-AF65-F5344CB8AC3E}">
        <p14:creationId xmlns:p14="http://schemas.microsoft.com/office/powerpoint/2010/main" val="1724737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9AF905-4E0E-4C26-ACD0-CB16CD43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BBFCA-4929-4F0D-BD9F-2536C0DD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1F925-6D61-43B3-96FD-EC1D907E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DBBC3-0C63-4B2A-9488-17BDD59C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E3810-4605-45D0-9D69-F20B43B3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D29CA-D398-4449-A950-966DD627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92E7A-1FDC-4C08-A2A9-CBEB829C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8C768-50A3-4E77-889C-1A2DDF83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67B9B-EEC9-4DF9-98BA-A90DAB97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8960F-3247-405D-BDA8-697849D3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8819A-A892-4EB4-8299-883FC305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77B9B-313A-438C-8BE7-9D7EC0DC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7A393-AF3E-4241-9037-367FF707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CAC3B-E9E1-4125-8F4A-70BA6F69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3F3C3-D138-4DB4-BFE9-7750FA01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C1A6C-2FCA-48D4-8173-840FA6C9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E865A-FA8E-4125-8200-BFD5D9FD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987E2-CAD9-48F3-BDF8-5E1A6259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9441E-E41F-4601-A8B6-17ABF36B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B4FD8C-6FDD-43A8-9872-7D0C6AC2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D6748-24A9-41FF-A064-9B904D5A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F7BAA4-9010-4765-B1EC-F4A9CF36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E6F5B1-0A9F-4B23-A2D0-934B81C4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41D1B6-3D53-4E05-B9C6-24A8CCDE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FAA91E-1995-4AE4-8820-661CBD94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3CE1B0-30DC-4BD9-9A74-C4F108D2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C7397-119D-4DA1-A8C8-6769FA9A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E092AB-C3D0-419C-BB16-B52BC9B7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4952822a54e50">
            <a:extLst>
              <a:ext uri="{96DAC541-7B7A-43D3-8B79-37D633B846F1}">
                <asvg:svgBlip xmlns:asvg="http://schemas.microsoft.com/office/drawing/2016/SVG/main" r:embed="R8c1222852ff546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F138DD-AAA6-4E67-BFEB-F7B35971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E64FCD-ED88-433E-9E59-8125B713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349C8F-D6B7-4F8D-841D-172C4515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User-provided screenshot; workspace-specific values selectively masked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6AF038-EEEF-4A5A-911C-25B776A1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78EBD4-F4C5-49CF-A4FE-11745A43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CONNECTION VALUES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179926-69F1-4DC4-A519-625056DE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Locate the Server Hostname and HTTP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CD2154-8011-4073-92BC-00EEF433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4210050"/>
          </a:xfrm>
          <a:prstGeom xmlns:a="http://schemas.openxmlformats.org/drawingml/2006/main" prst="roundRect">
            <a:avLst>
              <a:gd name="adj" fmla="val 4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dd5be32374723"/>
          <a:stretch xmlns:a="http://schemas.openxmlformats.org/drawingml/2006/main"/>
        </p:blipFill>
        <p:spPr>
          <a:xfrm xmlns:a="http://schemas.openxmlformats.org/drawingml/2006/main">
            <a:off x="857250" y="1970944"/>
            <a:ext cx="7239000" cy="3735262"/>
          </a:xfrm>
          <a:prstGeom xmlns:a="http://schemas.openxmlformats.org/drawingml/2006/main" prst="roundRect">
            <a:avLst>
              <a:gd name="adj" fmla="val 2463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E78A12-0A76-4A3F-B6E1-0C372F7D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05000"/>
            <a:ext cx="56197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8FEAA1-0088-4AC9-B34B-CBE5E663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05000"/>
            <a:ext cx="2667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06AEAC-0B0B-4536-A048-54D41C87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48125"/>
            <a:ext cx="2571750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A8F57D-C4A8-4C25-A3CC-E8C1E613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5765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&lt;workspace hostname&gt;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6C7D12-8A37-42C2-A35C-EB4083E0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2571750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4979A3-783B-416C-889B-9767778A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48175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&lt;workspace ID&gt;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680041-5B40-4A44-A142-6D123271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9650"/>
            <a:ext cx="33337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D0C3FB-772C-41CF-826F-AB36A59F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29175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&lt;HTTP path&gt;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74FB75-3E1C-4B02-946C-7C3E42A8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67325"/>
            <a:ext cx="571500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237AE0-F6B3-4703-90D2-20198D98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76850"/>
            <a:ext cx="556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&lt;JDBC URL / workspace-specific connection string&gt;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D6FAFF-8EF1-44F4-B294-D93A5ADF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453AD"/>
                </a:solidFill>
              </a:defRPr>
            </a:pPr>
            <a:r>
              <a:rPr sz="1650" b="1" i="0">
                <a:solidFill>
                  <a:srgbClr val="3453AD"/>
                </a:solidFill>
              </a:rPr>
              <a:t>Use in Power BI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F959AF-964A-47DC-A9A4-6F1435E0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4AC6B2-5FF3-4974-99D1-980F1D46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Open SQL Warehouse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7874F2-C0A5-4DE7-BC71-D21A5044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6494C5-3376-4EC4-A1B1-AF5B06E5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671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Connection details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90E3CA-2352-461D-BD46-D08C4A39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10624F-563C-467A-9C5B-32080978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81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Copy hostname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4EED16-F295-4F0A-94A1-487E7968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0AFED8-5A1B-4C6E-8184-A10D08AB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292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Copy HTTP path</a:t>
            </a:r>
          </a:p>
        </p:txBody>
      </p:sp>
    </p:spTree>
    <p:extLst>
      <p:ext uri="{BB962C8B-B14F-4D97-AF65-F5344CB8AC3E}">
        <p14:creationId xmlns:p14="http://schemas.microsoft.com/office/powerpoint/2010/main" val="19038925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C0B5A-8931-4254-B670-66B2802B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CE5E6-1A3E-4069-8D41-4EDE059A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A2664-050A-4472-A8C8-1E55F6B9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8C048-4710-4EC7-B137-37B78EA3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0830D-1CD3-4DB4-977F-AF30F946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BFE6E-6779-4B20-B642-11179996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8E93B-9C4C-41A0-9EB1-8B56CA6D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B5563-6634-4717-BEBD-F2F56626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9E533-631B-4E99-A97B-7EA5542B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5271B-3AC0-443D-B62C-88B82B54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23C6E-12B1-485A-A5D9-97EBF74B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15305-BBD4-41E4-839F-14A118D2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FD528-C8D1-44F5-B236-4D6C61BC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5C68B-5611-4FA2-8D80-9BB4E7C4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55F68-27A3-4292-A8BC-B74DC4FC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206D7-BD50-4A8A-AB2D-3EF70C0D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8A6F6-BFD1-4F78-9398-E40A4DAD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6A90D-B63C-430D-BE2C-D7867972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ECFAA-3406-47B7-A787-230A9922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D6E65-1E2C-4724-ACFB-E01A54E7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A2012B-C54C-469A-B26F-DC84991E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3DC904-AC52-4C66-ACB7-68805D0F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A5DBD-0AAB-4753-85D5-7904D422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0D645-1687-495D-9F7B-02BFB09D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B14BC8-15F9-4336-8125-49BF8A31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6D429F-2EAA-4C15-92F9-8B540271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E5FB8F-29AA-4DC3-B8DB-BDB03951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FF965F-5788-4798-9D3B-3B94018F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b9621e3f446ae">
            <a:extLst>
              <a:ext uri="{96DAC541-7B7A-43D3-8B79-37D633B846F1}">
                <asvg:svgBlip xmlns:asvg="http://schemas.microsoft.com/office/drawing/2016/SVG/main" r:embed="R1a6d26fcb8ce48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7DB650-2F1A-4258-A0D8-E42DDA3D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AFC9A8-EB56-4243-A32E-C06F9502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FCF4C2-D971-47E5-ABCC-A2E62EE2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User-provided screenshot; only connection values masked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8358B2-43FB-4DC0-B34A-014C15E2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32E47A-82F8-4796-A663-FD599336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POWER BI CONNECTOR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54A6F9-0A99-49DC-AF94-1D49D09E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Connect Power BI Desktop to Databricks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21CC30-7AEF-4CA8-8DF7-AB28DCA0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4210050"/>
          </a:xfrm>
          <a:prstGeom xmlns:a="http://schemas.openxmlformats.org/drawingml/2006/main" prst="roundRect">
            <a:avLst>
              <a:gd name="adj" fmla="val 4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bab639cf44e57"/>
          <a:stretch xmlns:a="http://schemas.openxmlformats.org/drawingml/2006/main"/>
        </p:blipFill>
        <p:spPr>
          <a:xfrm xmlns:a="http://schemas.openxmlformats.org/drawingml/2006/main">
            <a:off x="857250" y="2018192"/>
            <a:ext cx="7239000" cy="3640766"/>
          </a:xfrm>
          <a:prstGeom xmlns:a="http://schemas.openxmlformats.org/drawingml/2006/main" prst="roundRect">
            <a:avLst>
              <a:gd name="adj" fmla="val 2463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567E18-75F0-40EE-8A84-AD16E11B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42672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A21C0E-518C-4745-82C5-3BC47018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9875"/>
            <a:ext cx="4114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&lt;server hostname&gt;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3A7DF8-AA67-463C-B6EA-0DB0A82C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43275"/>
            <a:ext cx="42672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4BB2AC-C140-4726-BDE4-D1372106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4114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&lt;HTTP path&gt;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2C77F6-6CC1-4939-8DED-E044D8A7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453AD"/>
                </a:solidFill>
              </a:defRPr>
            </a:pPr>
            <a:r>
              <a:rPr sz="1650" b="1" i="0">
                <a:solidFill>
                  <a:srgbClr val="3453AD"/>
                </a:solidFill>
              </a:rPr>
              <a:t>Connector steps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1ADDA2-6B27-437C-B156-638264A9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A90D2F-9EFF-475C-AD96-D8939654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Get Data → Azure Databricks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2C051B-BC96-4E34-8539-00040633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F4B3CF-53F1-445A-8FEE-75A3C65F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671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Enter host and HTTP path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E03F81-370D-4DA4-A955-F2108547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8D90B1-5494-4F1B-B869-72304BE0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81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Choose OAuth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BE7814-0C19-4FB4-A1EC-EC2CAD8A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9B4B81-04A9-4B9D-8A33-310960C4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292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Prefer DirectQuery for demo</a:t>
            </a:r>
          </a:p>
        </p:txBody>
      </p:sp>
    </p:spTree>
    <p:extLst>
      <p:ext uri="{BB962C8B-B14F-4D97-AF65-F5344CB8AC3E}">
        <p14:creationId xmlns:p14="http://schemas.microsoft.com/office/powerpoint/2010/main" val="20982686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9633BB-9CE0-4BBC-8DB9-C2507792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7E1DC-C34F-495D-976F-78A011EE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A88C3-F3BE-4CFC-B5FA-73114D54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C805B-411A-4BC8-89D8-27CA15F8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2AA8C-477A-4D4B-B5B2-81B238DA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8F987-62BD-4455-917A-1B15F3C2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AC039-BBE1-4478-BBCA-9B805387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957DA-3558-40C2-9BF7-3A381600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92EE1-44B3-486D-90B7-BC537692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CEAEE-1309-4B2D-B67C-246154F5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DB248-F83D-4163-84E8-095DE43E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41076-55EF-412F-80EA-BD4CC7A8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F7A23-8D5C-40C4-93C4-F27003CB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80E56-88D3-4A17-AA63-501F1943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ED717-4352-43E2-8E69-DF307BE0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5707E-EDA6-4EAF-8DEB-7B9B180E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34480-B72E-4B2B-83EC-90096548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B63EE-D5F0-4377-89A3-3F8F70EB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84E41-8FF6-45CF-9D1F-6FBBFFC5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60AEA-FAB4-4892-8191-E1E71412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EFC326-F184-47ED-BCE6-21293A1B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A8D964-05EB-40F3-BDE4-F6F8B202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54E6F-DB81-4337-BD34-C8A43798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555854-1027-452B-8283-95774C8E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969AC6-A4EC-46A4-81ED-B22F9089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C8C39E-4A0D-4529-8D08-68E1E430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F1E99D-F112-4596-89B9-7ED5EB7D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FE56C1-5B84-4FA2-A4D9-581AA16C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3f2ef6df84dfe">
            <a:extLst>
              <a:ext uri="{96DAC541-7B7A-43D3-8B79-37D633B846F1}">
                <asvg:svgBlip xmlns:asvg="http://schemas.microsoft.com/office/drawing/2016/SVG/main" r:embed="R38de8644720847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3BD21D-A1AE-4716-8545-4F74FEFD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94A7D0-9AA6-4DC1-920E-B737218F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EB215E-0B0E-4887-8580-65B92140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User-provided screenshot; workspace host masked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5B455F-D98E-4E26-87B9-1FCF9C24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E71082-F638-4399-B72D-CE65C90B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NAVIGATOR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076D48-E631-41D9-9025-9857B4D5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Select a sample table and verify mode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D9DFBF-C04A-4FCC-B4B8-C2D5986E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4210050"/>
          </a:xfrm>
          <a:prstGeom xmlns:a="http://schemas.openxmlformats.org/drawingml/2006/main" prst="roundRect">
            <a:avLst>
              <a:gd name="adj" fmla="val 4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1fde163df4c48"/>
          <a:stretch xmlns:a="http://schemas.openxmlformats.org/drawingml/2006/main"/>
        </p:blipFill>
        <p:spPr>
          <a:xfrm xmlns:a="http://schemas.openxmlformats.org/drawingml/2006/main">
            <a:off x="2069370" y="1905000"/>
            <a:ext cx="4814760" cy="3867150"/>
          </a:xfrm>
          <a:prstGeom xmlns:a="http://schemas.openxmlformats.org/drawingml/2006/main" prst="roundRect">
            <a:avLst>
              <a:gd name="adj" fmla="val 2463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84BE35-DC59-4760-9469-9A4BBAE1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71750"/>
            <a:ext cx="17907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E3C932-A4F1-4CB3-AC48-4EB02293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453AD"/>
                </a:solidFill>
              </a:defRPr>
            </a:pPr>
            <a:r>
              <a:rPr sz="1650" b="1" i="0">
                <a:solidFill>
                  <a:srgbClr val="3453AD"/>
                </a:solidFill>
              </a:rPr>
              <a:t>Checkpoint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6E40CE-28F0-4D28-A5FD-79E7F0EB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3FC7A8-A13F-49DB-A042-27FEA8CD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Browse samples catalog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8642B0-8707-404F-8825-1B4E5E66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54904F-5C3A-4CE6-B3CE-3D3BB870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671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Preview intended table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A39853-4ACC-4A3E-BDFB-4D640A55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925065-B54F-4680-A647-81680ED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81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Confirm DirectQuery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123B7D-505E-40F9-BDAA-8DD1D19A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CEC45C-57B8-4648-9C3F-FB68822E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292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Load a small model</a:t>
            </a:r>
          </a:p>
        </p:txBody>
      </p:sp>
    </p:spTree>
    <p:extLst>
      <p:ext uri="{BB962C8B-B14F-4D97-AF65-F5344CB8AC3E}">
        <p14:creationId xmlns:p14="http://schemas.microsoft.com/office/powerpoint/2010/main" val="18834060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D745E4-13D3-4BE8-9E24-9E68C1F7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B1513-6998-4B59-8D4E-BF792893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68250-8D65-41AD-B43E-0AA80908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065BB-367C-42FB-9B96-A955C0CB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C9AE6-D8BE-4DF6-9687-FE8BABA0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3837E-238C-42BD-9953-1E5C69D8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4604C-C09B-4A42-A2DB-A66682B6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CD146-86A3-4E03-94B8-97B141A9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CD79E-D9FA-46DF-A759-6C60F22B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47C65-BE4B-42A2-A6F2-03575661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D4A42-43E4-4868-90D2-25515C0F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FFC8E-864D-4F2A-A70E-44DCBC80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9EF51-260F-4159-BB58-66A086D3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2AB8E-4F4D-478D-AA41-71D5224B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9BBD3-AACF-49A6-A4B9-60E29DC7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5EE1B-D457-4326-97F6-7A2A6929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3860F-D128-421B-95FF-25BD13FC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4FCFB-9B48-4F6E-A3E1-A99A79DE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D934D-979D-416F-9A59-7761669F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55292D-7417-4034-8BFC-DD0964DD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1D2B2-722C-4B8A-BA01-A43EC53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86769F-8B3C-4A94-BE94-F5DFD7CA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4BB2C-A63C-4B61-9CA2-03CFBA86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82919-2239-4E10-9B19-F770DBF9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9B5964-FA10-4C96-9BB3-65792BD5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AE496B-3B38-4FEC-93C3-4490F93F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2BBEE0-54ED-4A99-BB95-A4F10A2A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1AF6FE-B2B1-43AB-9324-0C1BD261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b86460c974278">
            <a:extLst>
              <a:ext uri="{96DAC541-7B7A-43D3-8B79-37D633B846F1}">
                <asvg:svgBlip xmlns:asvg="http://schemas.microsoft.com/office/drawing/2016/SVG/main" r:embed="R4ed92b1f326745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8DD93-8DAA-4B08-9324-F0194F51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FCB2CA-EF62-4473-8D77-F84646C9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D9BC51-F3E4-492F-9A2F-426A25FC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914295-68CF-448B-AC76-F6BEB11A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BUSINESS REQUIREMENT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FFE8A0-88F3-4B8A-9884-64177816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Example: identify active supporters for an email campaign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71A74A-8550-4E2A-ADBA-6FE507A8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C60212-07DB-43E6-9815-CDC7851C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Decision: which supporters should receive the next campaign?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7EF0CA-BA1C-4829-B7F6-EDF88942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3329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587C9D-0798-4E37-B4D5-E2EF9B8B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7129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Population: consented supporters with a valid email.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FAD1CA-0265-4AF1-B749-DA65A33A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6407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2E225C-32E6-448C-83D8-3D5FAEBB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0207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Active definition: at least one qualifying action in the last 90 days.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FCA9B0-FB0A-466F-9F7A-E1A55710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9486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DAE57B-0AE7-41FF-BAB6-2BCD71C1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3286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Exclusions: unsubscribed, bounced, suppressed, employees, test records.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8AF33D-F8A8-40C2-849B-817BCD54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2564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4C8EF9-6684-422A-951C-C244C557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6364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Output grain: one row per supporter with segment and reason.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1A4614-1264-46F0-9043-2EC6DE3C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5643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310033-8535-4E16-B4B7-286EF859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9443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Dashboard: eligible count, trend, segment, exclusion reasons, and data freshness.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23F931-50C2-494A-9AB6-135F24C2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8721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230CD9-2D99-481A-B8CE-1E6C21D5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22521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Acceptance: reconcile to CRM totals and sample at least 20 records.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DDFD66-4542-459A-B67F-B9D01622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409575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CE8E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56D60F-6457-4FF0-BBD9-FC616050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76200" cy="3200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350EE4-A123-46E4-8B6B-B45E1466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336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5484D"/>
                </a:solidFill>
              </a:defRPr>
            </a:pPr>
            <a:r>
              <a:rPr sz="1500" b="1" i="0">
                <a:solidFill>
                  <a:srgbClr val="E5484D"/>
                </a:solidFill>
              </a:rPr>
              <a:t>Open decision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2FF346-A21C-41FD-9047-B90E5D4A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4600"/>
            <a:ext cx="36385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The client must approve the exact meaning of “active,” the qualification window, and consent rules before build.</a:t>
            </a:r>
          </a:p>
        </p:txBody>
      </p:sp>
    </p:spTree>
    <p:extLst>
      <p:ext uri="{BB962C8B-B14F-4D97-AF65-F5344CB8AC3E}">
        <p14:creationId xmlns:p14="http://schemas.microsoft.com/office/powerpoint/2010/main" val="24909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BE42AA-3D69-46DD-B640-999A8C27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57282-E0BC-4D6B-A602-C0E75334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2B66C-607D-4298-A6A6-EF342E73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FBD36-45A0-4960-B62D-CB720ECF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34A5B-4891-4E98-9E51-2CAE6463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5D5EC-1569-4D21-A313-758CCE46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51602-6FF0-4B3E-9A20-9ECF1E48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D7035-F8C5-41B9-9674-07CF78CE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FD701-33AC-4E3B-94CD-1FD3DB88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4405F-2463-49F0-8B63-BD92FBD2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23DC1-33ED-480E-BBE6-63032D19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6EDFF-54E1-40E0-A29E-012AF0D0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9AE93-4433-4A26-93DE-15A769DE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8790A-1C96-4C1B-84F4-7470D0E6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7FDDC-F11B-420C-92D3-58800CC2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92873-5438-41D5-84E3-FC0E6D55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3D452-AA9B-4098-AFED-341BC8E4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18AC6-B8D0-4587-B543-E3E82A1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CEEDB-579C-4590-8027-E501830D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019D3-287E-41E1-BB8B-9E55FDB7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56242D-FFCE-4135-8CD6-DA0E08C1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FB960-2ABC-47A7-B646-8B50DD19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E5438D-9516-4D11-8B2A-091AD921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0AD3D9-10AA-475B-A944-79DE9A31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B8D345-44AE-416B-B376-689A2898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78CCBD-2B17-47F8-954C-7DF70BA6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5DA40F-F99D-41DE-8936-8E9B1955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62BB78-79CE-40F7-A130-FA47209D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569ef038c43cf">
            <a:extLst>
              <a:ext uri="{96DAC541-7B7A-43D3-8B79-37D633B846F1}">
                <asvg:svgBlip xmlns:asvg="http://schemas.microsoft.com/office/drawing/2016/SVG/main" r:embed="Rd4b39ed82e804b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869674-A548-4127-AB45-BABDC270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F307A7-D428-4978-8210-C9B34A72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18736C-04C9-427E-BAD8-1162AFEF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074789-BC70-40FE-B5DC-D032F381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CODEX WORK ORDER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05D35A-8739-4A6D-A915-DC0A1964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Turn the requirement into a controlled implementation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68D323-4ED2-48F8-BE1B-D8D781B4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61BE58-F750-4AB6-B4FE-D73A600E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8E3FC2-CBEA-4881-BEC4-8A17748E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C6BF"/>
                </a:solidFill>
              </a:defRPr>
            </a:pPr>
            <a:r>
              <a:rPr sz="900" b="1" i="0">
                <a:solidFill>
                  <a:srgbClr val="2BC6BF"/>
                </a:solidFill>
              </a:rPr>
              <a:t>PROMPT — COPY / PASTE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B53F8F-637B-4C53-B5B5-A027D651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7818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1F5F5"/>
                </a:solidFill>
              </a:defRPr>
            </a:pPr>
            <a:r>
              <a:rPr sz="1125" b="0" i="0">
                <a:solidFill>
                  <a:srgbClr val="F1F5F5"/>
                </a:solidFill>
              </a:rPr>
              <a:t>Goal: Deliver the active-supporters dashboard change.</a:t>
            </a:r>
          </a:p>
          <a:p xmlns:a="http://schemas.openxmlformats.org/drawingml/2006/main">
            <a:pPr algn="l">
              <a:defRPr sz="1125" b="0" i="0">
                <a:solidFill>
                  <a:srgbClr val="F1F5F5"/>
                </a:solidFill>
              </a:defRPr>
            </a:pPr>
            <a:r>
              <a:rPr sz="1125" b="0" i="0">
                <a:solidFill>
                  <a:srgbClr val="F1F5F5"/>
                </a:solidFill>
              </a:rPr>
              <a:t>Read first: AGENTS.md and requirements/business_requirement.md.</a:t>
            </a:r>
          </a:p>
          <a:p xmlns:a="http://schemas.openxmlformats.org/drawingml/2006/main">
            <a:pPr algn="l">
              <a:defRPr sz="1125" b="0" i="0">
                <a:solidFill>
                  <a:srgbClr val="F1F5F5"/>
                </a:solidFill>
              </a:defRPr>
            </a:pPr>
            <a:r>
              <a:rPr sz="1125" b="0" i="0">
                <a:solidFill>
                  <a:srgbClr val="F1F5F5"/>
                </a:solidFill>
              </a:rPr>
              <a:t>Plan only first; list assumptions and blocked definitions.</a:t>
            </a:r>
          </a:p>
          <a:p xmlns:a="http://schemas.openxmlformats.org/drawingml/2006/main">
            <a:pPr algn="l">
              <a:defRPr sz="1125" b="0" i="0">
                <a:solidFill>
                  <a:srgbClr val="F1F5F5"/>
                </a:solidFill>
              </a:defRPr>
            </a:pPr>
            <a:r>
              <a:rPr sz="1125" b="0" i="0">
                <a:solidFill>
                  <a:srgbClr val="F1F5F5"/>
                </a:solidFill>
              </a:rPr>
              <a:t>After approval:</a:t>
            </a:r>
          </a:p>
          <a:p xmlns:a="http://schemas.openxmlformats.org/drawingml/2006/main">
            <a:pPr algn="l">
              <a:defRPr sz="1125" b="0" i="0">
                <a:solidFill>
                  <a:srgbClr val="F1F5F5"/>
                </a:solidFill>
              </a:defRPr>
            </a:pPr>
            <a:r>
              <a:rPr sz="1125" b="0" i="0">
                <a:solidFill>
                  <a:srgbClr val="F1F5F5"/>
                </a:solidFill>
              </a:rPr>
              <a:t>- update databricks/sql/active_supporters.sql;</a:t>
            </a:r>
          </a:p>
          <a:p xmlns:a="http://schemas.openxmlformats.org/drawingml/2006/main">
            <a:pPr algn="l">
              <a:defRPr sz="1125" b="0" i="0">
                <a:solidFill>
                  <a:srgbClr val="F1F5F5"/>
                </a:solidFill>
              </a:defRPr>
            </a:pPr>
            <a:r>
              <a:rPr sz="1125" b="0" i="0">
                <a:solidFill>
                  <a:srgbClr val="F1F5F5"/>
                </a:solidFill>
              </a:rPr>
              <a:t>- add data-quality tests;</a:t>
            </a:r>
          </a:p>
          <a:p xmlns:a="http://schemas.openxmlformats.org/drawingml/2006/main">
            <a:pPr algn="l">
              <a:defRPr sz="1125" b="0" i="0">
                <a:solidFill>
                  <a:srgbClr val="F1F5F5"/>
                </a:solidFill>
              </a:defRPr>
            </a:pPr>
            <a:r>
              <a:rPr sz="1125" b="0" i="0">
                <a:solidFill>
                  <a:srgbClr val="F1F5F5"/>
                </a:solidFill>
              </a:rPr>
              <a:t>- update PBIP measures and one report page;</a:t>
            </a:r>
          </a:p>
          <a:p xmlns:a="http://schemas.openxmlformats.org/drawingml/2006/main">
            <a:pPr algn="l">
              <a:defRPr sz="1125" b="0" i="0">
                <a:solidFill>
                  <a:srgbClr val="F1F5F5"/>
                </a:solidFill>
              </a:defRPr>
            </a:pPr>
            <a:r>
              <a:rPr sz="1125" b="0" i="0">
                <a:solidFill>
                  <a:srgbClr val="F1F5F5"/>
                </a:solidFill>
              </a:rPr>
              <a:t>- update docs/metric_dictionary.md.</a:t>
            </a:r>
          </a:p>
          <a:p xmlns:a="http://schemas.openxmlformats.org/drawingml/2006/main">
            <a:pPr algn="l">
              <a:defRPr sz="1125" b="0" i="0">
                <a:solidFill>
                  <a:srgbClr val="F1F5F5"/>
                </a:solidFill>
              </a:defRPr>
            </a:pPr>
            <a:r>
              <a:rPr sz="1125" b="0" i="0">
                <a:solidFill>
                  <a:srgbClr val="F1F5F5"/>
                </a:solidFill>
              </a:rPr>
              <a:t>Boundaries: no secrets, no production writes, no metric invention.</a:t>
            </a:r>
          </a:p>
          <a:p xmlns:a="http://schemas.openxmlformats.org/drawingml/2006/main">
            <a:pPr algn="l">
              <a:defRPr sz="1125" b="0" i="0">
                <a:solidFill>
                  <a:srgbClr val="F1F5F5"/>
                </a:solidFill>
              </a:defRPr>
            </a:pPr>
            <a:r>
              <a:rPr sz="1125" b="0" i="0">
                <a:solidFill>
                  <a:srgbClr val="F1F5F5"/>
                </a:solidFill>
              </a:rPr>
              <a:t>Done when: tests pass, diff is summarized, Desktop validation</a:t>
            </a:r>
          </a:p>
          <a:p xmlns:a="http://schemas.openxmlformats.org/drawingml/2006/main">
            <a:pPr algn="l">
              <a:defRPr sz="1125" b="0" i="0">
                <a:solidFill>
                  <a:srgbClr val="F1F5F5"/>
                </a:solidFill>
              </a:defRPr>
            </a:pPr>
            <a:r>
              <a:rPr sz="1125" b="0" i="0">
                <a:solidFill>
                  <a:srgbClr val="F1F5F5"/>
                </a:solidFill>
              </a:rPr>
              <a:t>is clearly marked run/not run, and a PR description is drafted.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F0FEC1-76B3-49F6-85FE-2134A010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5755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317D7F-94FD-4411-B626-164F75BC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3834C3-F08A-4897-BE34-AC847567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Checkpoint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965CA5-FE03-48CE-8B14-4504EA3B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The plan identifies unanswered definitions before code. Each file change maps to a requirement and a test.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031872-ED7C-46F0-B413-204A2116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2575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43AD31-3907-4194-B8FB-A2536D88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7620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2F8DD5-CAFC-45F3-AB97-6F5E7F36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Safe use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A9A10F-87DB-4F82-AEE4-0A2CC7EF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800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Do not let convenience silently redefine eligibility, consent, activity, or campaign exclusions.</a:t>
            </a:r>
          </a:p>
        </p:txBody>
      </p:sp>
    </p:spTree>
    <p:extLst>
      <p:ext uri="{BB962C8B-B14F-4D97-AF65-F5344CB8AC3E}">
        <p14:creationId xmlns:p14="http://schemas.microsoft.com/office/powerpoint/2010/main" val="15009326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E2FB9-C54E-4459-9665-F668F764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13052-3D48-46EA-9DD9-A6B1A991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42BC8-A465-4249-AE3C-2AEB610D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AD1C8-51D0-462E-92E0-3586DD76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1A42F-FB21-48F1-A8F6-2D9D8001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5B87B-4138-42C1-B183-87DB1467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4F160-E805-49F9-B65B-F0F9D7B8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1D4E8-8F8A-4231-8B38-D5B47F35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5C918-EC1A-4261-ACC2-116091C6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9716D-2B93-48C6-AC38-8E3B456E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29F76-F08F-47C4-8E31-3DF31850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65BEB-C2BF-43CA-919C-FE923551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E7034-62CE-4B71-B413-AE62AAB2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73903-8F9E-41C8-BFB3-7FA4D195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A19BF-90D6-417E-84FD-2D80C166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6648A-23D8-4DBA-A231-8E011A59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B0C86-2A97-4887-9DC2-453B213F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05EEF4-7761-4BFD-9E8D-5E768DEB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26521-0172-4686-939D-01133653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B3A7D-08C9-496B-8773-7044603E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C48D24-D9FC-410C-949B-96833F5F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0190A-24E6-4794-BFF6-4D878760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35EBF-5F18-4F7C-A235-1D3EDC1D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F55D5-6B0A-4D42-A6AF-437911BC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DB3343-88A2-4C88-96B9-8D54137E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E31594-533F-4A5C-A569-B82DE9A6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3D6031-D9F1-4640-BE76-56561EA9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E3F359-E045-439C-AD6A-8AA7601E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b4f9a18464025">
            <a:extLst>
              <a:ext uri="{96DAC541-7B7A-43D3-8B79-37D633B846F1}">
                <asvg:svgBlip xmlns:asvg="http://schemas.microsoft.com/office/drawing/2016/SVG/main" r:embed="R28f6eda36cb24a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016219-F24B-4602-9A97-8F1F99D9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4C9D8A-E929-4CF7-A442-AA15E927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4B383C-B1D0-45B9-8D12-D986142E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634206-FD05-468A-B26E-00324F10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F91F12-4879-4D9B-B371-3AD27322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Codex coordinates work across the repository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412000-3A80-4255-A53C-D8A2DBC4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FB1C75-3EE0-4962-9E76-0B7AB82B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E253D0-BAB6-443B-A7FD-FE4305A5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75FF06-DEE2-46AF-BDD1-08AB8A1C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Read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99FA85-8327-400E-AD69-073C695D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Requirement, AGENTS.md, current SQL, model, and report.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4FEEF0-23C0-492D-B793-7C25FCE7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12665A-859F-4FAB-BE21-20317D5E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D8156D-5747-40AF-B312-063C0266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911877-D0A0-4CD5-9909-78F41948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F5CFD2-6B89-4425-9C2F-1943221D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Plan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95FE41-581E-431D-88BB-FC9AF4BE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Files, definitions, risks, tests, and validation.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D0B74D-166E-4BC6-9261-920B388C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66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BD12F1-CBBD-4427-B8FD-CD4EFF77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9A787E-F25E-4176-A50B-03021757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489F3E-D5C4-4968-8457-4803D1CA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2CEFF9-E728-4652-867D-E31BBF1D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Edit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F8777F-20B2-497C-AC71-BF68F3E9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Scoped branch changes across SQL, PBIP, and docs.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B920F3-3F53-4693-817E-3313281E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69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7ACCA2-F21A-4AB3-A3D3-89C2B091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29F36B-7E5D-4756-8DFF-08E3615D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F904CDB-56AB-4173-94B3-D37C6D82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79FDC1-C412-49DF-806A-D938703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Run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67B885-E1B9-40DD-9CE1-07A13FAD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Read-only/sample queries and local tests.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C904B3-8F0B-4385-A227-E0F5EE79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C86E41-D441-49F8-84D2-8EF19E8B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22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395F6A-9FDE-4808-B35D-867E05A1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AC9BD32-919D-4A86-A493-4936DE16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B11177-C63A-4971-8808-BC062E03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Review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18A57C-5EE7-4504-9E7D-7576B9EC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Diff summary, PR, evidence, and human sign-off.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A84E3D-5001-4624-A322-00AD1D71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95A9F96-E510-43AD-ABE7-938EF4E5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90D637-8D67-43C0-8277-B78BB91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97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C6BF"/>
                </a:solidFill>
              </a:defRPr>
            </a:pPr>
            <a:r>
              <a:rPr sz="1500" b="1" i="0">
                <a:solidFill>
                  <a:srgbClr val="2BC6BF"/>
                </a:solidFill>
              </a:rPr>
              <a:t>The promise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578E538-0A5B-4BBC-8673-F9B963DE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00700"/>
            <a:ext cx="697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One conversation can coordinate many artifacts; Git provides the audit trail and review boundary.</a:t>
            </a:r>
          </a:p>
        </p:txBody>
      </p:sp>
    </p:spTree>
    <p:extLst>
      <p:ext uri="{BB962C8B-B14F-4D97-AF65-F5344CB8AC3E}">
        <p14:creationId xmlns:p14="http://schemas.microsoft.com/office/powerpoint/2010/main" val="13666409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AF61B5-27FC-4DB4-88D0-158867DB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16DB7-79AA-4C76-A7E1-70DC89AF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A3017-BAB1-4FC8-8FD8-89AF249B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BD92D-8058-4C1B-900E-3DAE22D5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D9C8D-BF29-44EF-8ACE-77E23083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B8B5C-832B-4F97-8D3F-B275A281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5D53A-1AC5-44E8-9BC3-062F8CFF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248C2-0BA0-4B1C-9E0C-D2B085C9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B6AA5-7F0E-4979-995B-962C33B1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B1232-169F-4523-A59C-D2B29EB6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BDB37-C1F7-4316-B224-BCEB900F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59010-2A18-42B1-A8A4-CBA7E0CF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0A2A7-FC8F-4595-A734-647FA353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DD492-2117-4EE2-84B1-A23FDD1F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AAF08-27F5-4203-B5D8-00427ADA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912A8-AEED-49B5-8C4F-F81DF471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8D08F-63A0-4AA9-87A7-0058B55D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07ABD-13F2-4F44-8AC1-DD545FE5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54C50-E3F0-46C6-B424-246C1617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EBBA4-95AE-4D73-9D6C-5102D974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37B03-FB87-465D-A8FB-8132C61A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5369E-8289-43FA-8645-E241082B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764508-EFF6-4635-AED4-EB6B55D0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9FC5F8-2480-467B-882E-BE99A9C1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5C3FD9-BBE3-4AAB-96AE-42F1D67E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8378C2-105A-4143-AC8D-DA9EE3BB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D41ED9-7861-4092-BB98-50AA458E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E85B22-13DF-4063-AE09-4A515034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2eeeb27394234">
            <a:extLst>
              <a:ext uri="{96DAC541-7B7A-43D3-8B79-37D633B846F1}">
                <asvg:svgBlip xmlns:asvg="http://schemas.microsoft.com/office/drawing/2016/SVG/main" r:embed="R63af4d80753b45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89251C-D7C4-4A2B-B44F-42D151CD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4E101D-5615-44C9-A5F0-A9DC71BE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0C6272-F25B-488B-85AF-6890A00F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ADF999-D18E-48C8-91C8-B5D807AC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DATA-QUALITY 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A764A2-27BB-43E3-9B06-26885DC6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No dashboard is complete without these checks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49F4FA-3D0E-4FD3-9C4D-A4ADD9C4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3A9D82-3C85-4A56-85FE-95C6C317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645DE4-5DF5-43D9-B237-4B6DB942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EDC7DB-3D6D-4D66-B806-D7B3CC2F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Grain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0E334F-151A-43CB-9F4E-A5BF50A1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One row per supporter; duplicates quantified and resolved.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909D64-061D-4BB6-AEC6-38EF0DCE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B55E18-8C85-4154-9F8B-072C0B17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56111C-3BA5-44FE-8646-6092D698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350AC8-6E65-4C67-A0F4-B4CA0BC6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Eligibility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2390A9-4929-40E2-AA03-DE9B0E3C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Consent, suppression, bounce, employee, and test exclusions proven.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BE970C-52E7-4D47-BC39-0A2515F9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D8AA1E-2592-4892-85C8-BB5A7464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ED4941-E917-4843-A801-197B3CBF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FE49CC-A8F9-454A-972C-045588BF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Time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73F7F2-47C2-4FDE-A9D1-248D75B2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90-day boundary, timezone, and late-arriving data tested.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8ABEC2-F832-4E6A-82E5-561FA6D8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745299-46C2-43EE-88EA-C8BDEA21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428816-25FA-4D74-9461-5EE6B6C0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8A178F-7157-466C-B7A6-9CF314A6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Reconciliation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2D4491-1836-4E82-8E83-5F364D3D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Counts reconcile to approved CRM controls and explained differences.</a:t>
            </a:r>
          </a:p>
        </p:txBody>
      </p:sp>
    </p:spTree>
    <p:extLst>
      <p:ext uri="{BB962C8B-B14F-4D97-AF65-F5344CB8AC3E}">
        <p14:creationId xmlns:p14="http://schemas.microsoft.com/office/powerpoint/2010/main" val="19613186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91B2A8-0286-468B-92C5-87B9D50A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28E28-4BB4-4BEB-9FC5-3AB8135E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542A0-44E1-4E60-BB5A-E6CDA0EA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F0529-A523-46FF-9579-2A0AD565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E23E3-049F-47E6-9172-4E46BF73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3C3F2-0D98-437F-B9D3-654A470C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8D909-AF21-4DF8-9CA1-CB74075A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D821A-A744-4CB0-8F99-2DF2AF8B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AA374-9BA8-48E1-BC04-D17AF5AC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2B20B-7DD4-4DC8-A55D-06FB6377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E60A7-08AD-4E03-9E9D-13D2DB1D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F040C-D152-49A8-ADE3-F2F1DA1B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4DE0D-ACDD-4C5F-941E-F6B9821B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BE592-1B51-4605-9882-65C48016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73481-A9EF-4999-9282-137F373E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8B80C-8254-4873-A6D6-10FEEB7F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F23C9-A382-42D0-9CAA-289966D9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BB5C4-3D7A-4E42-8AE8-934289C2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D081F-9316-4FEC-9EEA-D5DB4767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49BD5-CB40-405B-AFD6-40F89DE0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74821-8BD7-4731-91C3-0D47F96B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A430E-F236-43BD-B741-64FCB828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629E29-D0BA-46E9-97AF-BA623BC0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A4559-9F1B-42A7-A6FB-4027E4EE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05BEF-41DA-4F53-BE3C-2B7A1D26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BDEB5-780E-4B98-A0CB-530547A0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B8719E-8CA5-4C73-8BDB-63040B80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7373D2-6E76-4F98-8AB8-22C19338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ad8a8dda34388">
            <a:extLst>
              <a:ext uri="{96DAC541-7B7A-43D3-8B79-37D633B846F1}">
                <asvg:svgBlip xmlns:asvg="http://schemas.microsoft.com/office/drawing/2016/SVG/main" r:embed="R7e415a4752d647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AD9B95-3A09-4858-A695-C7AE7E13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38AD33-F969-40D0-ABBA-03BD385F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F20AA5-DAB4-4BD0-80A4-EA81BD0C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F8F631-00E5-4760-B9FF-2CBCA228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REPORT + PR 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2DF2AB-5D0B-4665-BF94-C36A6C27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Release evidence travels with the change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F425FD-82C2-4E7A-935E-8B056584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6E7F1F-49F7-4FE6-B749-3DB5CDC0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621E04-29F4-4708-B063-073A005B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F3E4A4-5D52-493B-B2DE-E23632EE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Power BI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DA0861-9B99-4B2A-BC2C-E4BE09F3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Desktop reopens PBIP; measures compile; visuals render; interactions work.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643E41-C7A0-49B8-9587-C3BCFBA2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C3AF11-0978-4274-BC2B-C02833B6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26CAD0-2EA4-4FAB-A614-92444BDB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3699D7-F61C-4EEE-A306-E67B13A7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Performance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0CD580-B151-4244-88C8-2BCA69CA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Query plan, DirectQuery behavior, and refresh time are acceptable.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B5CFED-B353-49EC-A99A-347D80D1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88D433-7A6B-4D37-A37A-1095998B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88A8D3-D4A6-45DF-BA84-31435094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582252-AE94-4972-A912-57EF9CB0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GitHub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A95446-D589-4BD1-AE02-06149911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Small diff, clear commit, reviewer, screenshots, test evidence, rollback note.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B15542-7B2F-4547-990A-0BEC66BD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57D07F-23DD-45C6-B7BF-58AFE090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0CDA9B-1CD6-465F-8902-2CD9E171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0B7F00-8E6E-4956-A4AD-3322005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Business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D0CDE7-6754-4FD4-BF9E-3AB65B14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Metric owner confirms definition and a user confirms the decision view.</a:t>
            </a:r>
          </a:p>
        </p:txBody>
      </p:sp>
    </p:spTree>
    <p:extLst>
      <p:ext uri="{BB962C8B-B14F-4D97-AF65-F5344CB8AC3E}">
        <p14:creationId xmlns:p14="http://schemas.microsoft.com/office/powerpoint/2010/main" val="6679319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5F967C-C588-4668-863C-4DC26C13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ED4C1-9780-443D-A1EF-F227BD85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2B8D7-1DAA-4865-975D-AF71CDBC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50A1C-76C4-4C8D-994F-E11F55AC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4ABD3-7A95-42EF-8971-92332F8D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F06B8-871D-4C58-8B61-8BCF26B8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1D103-0F60-4DE8-8D8C-8BAF81B8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B0FAC-EEC0-4054-9C84-D49C8424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C0EE5-4AE8-4D50-8D4F-6748A90C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5921C-AAC7-46B2-AE45-E7904B78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417FF-EFAB-4B6C-AC60-D1A9F2F2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CD808-7DE8-401C-BA00-F03ECF7B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BEA63-24BD-4E40-B32A-79201B03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A5B05-0436-4800-81D7-425D3811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7E74B-5A60-44DA-B894-939D9CB3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27A46-7702-439D-9C33-5125F0CF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B9EC9-D591-47D0-AB90-9863DBA1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38B4E-0847-4EB8-8F67-C734EABC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9386B-393B-4A53-9873-18B1E245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67553-6D7A-4495-BDCA-797E3580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1DCA13-81F5-4658-B6CC-8990D4E8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E06C8-EEC9-426A-84C3-1D295E9B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3BB789-EC21-4609-89DD-0F47BE6B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2CDC02-0AE7-44C2-BF6A-030D8E4A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6CBAF3-54E2-49B8-82FF-228F87E9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42DE33-6539-4CEF-84A5-8B5B3053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C8F683-DFB3-42D5-A3EA-C0E5A014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EF75F7-D706-4078-BDC0-1F177740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6fcab47574f56">
            <a:extLst>
              <a:ext uri="{96DAC541-7B7A-43D3-8B79-37D633B846F1}">
                <asvg:svgBlip xmlns:asvg="http://schemas.microsoft.com/office/drawing/2016/SVG/main" r:embed="Rb19a56ee73f740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8E93C5-8EDA-49E1-8F1F-C5091A87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3F8802-8ADF-4415-B2AB-27E4D308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1C9FC6-6E35-4D3C-A4C4-62DC2D83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166B02-FD74-40D2-8BF6-EEB772E3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CAPACITY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7E6DE3-2F83-4F87-AF25-C36A49B3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Codex raises coverage; the analyst raises meaning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2BEB40-7853-4733-AE61-AF9BF315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467100" cy="40386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DDA775-7F00-4076-B8F3-7FC046F2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61A"/>
                </a:solidFill>
              </a:defRPr>
            </a:pPr>
            <a:r>
              <a:rPr sz="1725" b="1" i="0">
                <a:solidFill>
                  <a:srgbClr val="0F161A"/>
                </a:solidFill>
              </a:rPr>
              <a:t>Without assistance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C7674D-F985-40A7-AE42-6A6D6B4E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AB02B3-B114-4120-93AD-F166A1B9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More manual repetition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21527E-3033-4F79-B5ED-A8726C98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A8509A-2AC2-4E16-B45C-79D7836F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Tests often deferred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70DC9C-D091-4EDF-965C-C0E0828D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78FAF6-F2F8-4325-9DF0-8FA63A31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Documentation lags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AC5DD3-B703-4CE9-8A1A-B9F2F15E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FABE37-5DE2-4A6A-BE1B-43F1B29D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Fewer alternatives explored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EEFCD0-33BF-4533-B958-FC8665F1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3467100" cy="40386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3453A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2237CF-3DE4-4B3C-87BB-5BDA4F75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453AD"/>
                </a:solidFill>
              </a:defRPr>
            </a:pPr>
            <a:r>
              <a:rPr sz="1725" b="1" i="0">
                <a:solidFill>
                  <a:srgbClr val="3453AD"/>
                </a:solidFill>
              </a:rPr>
              <a:t>With Codex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B2B28A-F390-48ED-8299-717FED8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08E7F5-6065-4EC2-8B96-23A09C71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Broader systematic checks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3D42A3-D64D-43E2-8A14-A1A16422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CE795F-75B5-4555-931E-F4519F8D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528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Faster repeatable edits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D7AA59-90CC-4039-9860-8B88B8F3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239757-AD4D-4943-B7EF-DA749AE2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814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Living documentation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2D210C-7D62-4692-8BE0-12F60285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4C76B2-707F-4E87-9D3D-05B1962A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101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More reviewable evidence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19B992-C69C-4712-98F7-EAE2E472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90700"/>
            <a:ext cx="3467100" cy="40386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3B0D0E-D74F-47FF-B6B2-48B8E932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61A"/>
                </a:solidFill>
              </a:defRPr>
            </a:pPr>
            <a:r>
              <a:rPr sz="1725" b="1" i="0">
                <a:solidFill>
                  <a:srgbClr val="0F161A"/>
                </a:solidFill>
              </a:rPr>
              <a:t>Human authority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F9F406-B633-4FB9-BAD3-8CAB6A35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F20727-0AA2-482C-9AE4-C0419A6F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Approves definitions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309BA1-E1A0-4AF5-9D29-7D61AB2A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DB3DF72-C979-48A1-A743-4096F1AA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Judges materiality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28266C-AF6D-4C16-B933-06C4A2A8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FBA5B0-2265-46A2-9FDF-780E721F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Challenges outputs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F48D4A-FDAC-4494-AD5B-21DFE1E3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7BFCE5-6ABE-4600-B706-91D2B386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101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Owns release and impact</a:t>
            </a:r>
          </a:p>
        </p:txBody>
      </p:sp>
    </p:spTree>
    <p:extLst>
      <p:ext uri="{BB962C8B-B14F-4D97-AF65-F5344CB8AC3E}">
        <p14:creationId xmlns:p14="http://schemas.microsoft.com/office/powerpoint/2010/main" val="16596457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6A4616-0C51-40E9-BB21-8190116D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E58EE-2BF9-425A-9F1C-40CB9CD3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45843-9DA9-419B-A9E7-D0DD6FD5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698A2-EC6C-49AC-811A-184DDE0C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C75BA-E88D-4B1E-B974-286DEA14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FB600-E2FA-4089-B273-5C32E4B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4F420-3D4E-40F7-9350-87B89892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08D02-A002-4140-A4EF-8938C041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072DE-92DF-4187-971B-03135803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442D1-160B-4DD0-ACE3-CB5E4C3C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67A6C-8048-42E6-92CD-9CBB00A6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09E66-62C1-4B79-8C78-82A27579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A9AEF-F8EA-4C56-B30B-209CBC57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25E47-631A-49CD-B962-DE35F00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61C63-4A2E-4787-B802-60AF1225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0176D-5F35-4E59-8A98-768A105B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4BFE5-EED8-4202-A5B4-3C59D385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8B3D5-9D3B-424C-9152-8D928C1C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67455-B6F3-447C-A440-2CB7DB9A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3C44F-CEF4-47D0-BC6F-F2672A60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0E0E5-B3B7-45C9-B939-32DEB818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C2336-C159-4C7C-AF06-D9D55FF3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6C90D5-6C2F-43F9-A164-C415666E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B07CFC-C915-4E78-A435-6E339F51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74713-3CF7-4E14-951D-E9A5CAFD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B895CC-0AB6-4AD7-AB72-4792FD28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C1EB6-BDA9-4405-87BE-16AD7C87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809F01-96CE-4C74-87FF-4C0CADF5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c3ba28a3d43fb">
            <a:extLst>
              <a:ext uri="{96DAC541-7B7A-43D3-8B79-37D633B846F1}">
                <asvg:svgBlip xmlns:asvg="http://schemas.microsoft.com/office/drawing/2016/SVG/main" r:embed="Rc47b61e3ddbd4d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5D820A-65CF-45A9-B541-7C7BFB0B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DBDB1D-1087-49E1-B29D-5A2FCD33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75E579-6BF6-49F1-BCE7-AC55AAC9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8EA1B8-EAEE-4D78-BA39-651E80D7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53AD"/>
                </a:solidFill>
              </a:defRPr>
            </a:pPr>
            <a:r>
              <a:rPr sz="1050" b="1" i="0">
                <a:solidFill>
                  <a:srgbClr val="3453AD"/>
                </a:solidFill>
              </a:rPr>
              <a:t>PROPOSED PILOT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C033CF-73FD-4561-B6B9-9EC23276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F161A"/>
                </a:solidFill>
              </a:defRPr>
            </a:pPr>
            <a:r>
              <a:rPr sz="3450" b="1" i="0">
                <a:solidFill>
                  <a:srgbClr val="0F161A"/>
                </a:solidFill>
              </a:rPr>
              <a:t>A small, governed pilot proves value quickly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90E0E9-F619-4C32-BE66-79F252D8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85800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3F6078-BC36-4F38-99F2-C32B7DB0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6200" cy="1790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8C12EE-B23E-4D37-B4E7-A1FF9056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640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Two-week shape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268F27-9736-4F85-A3D0-3D20EE00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6400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Select one sanitized report and one recurring query. Convert to PBIP, connect a training Databricks source, implement one change through Git, and measure cycle time, rework, test coverage, and reviewer effort.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3C6376-7841-48A8-8848-C39E3583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23950"/>
            <a:ext cx="3105150" cy="400050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04701E-9E88-47E9-A054-AA34754A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811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Client decisions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9764C8-D71C-4BAD-A58E-790FCCA4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90F797-0EB0-4543-B3D0-33ACE020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2152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Pilot use case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015F1E-B76A-4A60-8170-0D5A2552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0D5C1B-E186-4B30-89E6-30257F26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57550"/>
            <a:ext cx="2152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Approved workspace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AD648D-B2F4-40D8-BFBC-30DBA608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814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C08F75-2C75-43A1-8C9C-98A8F9FD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0"/>
            <a:ext cx="2152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Data owner + reviewer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C08562-9A68-4614-B867-E3D9A344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291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5B4279-C2B4-451D-A3A0-7407E359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52950"/>
            <a:ext cx="2152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Success measures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2559F2-1B66-4066-A673-7C362EC5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DA7AA"/>
                </a:solidFill>
              </a:defRPr>
            </a:pPr>
            <a:r>
              <a:rPr sz="1275" b="1" i="0">
                <a:solidFill>
                  <a:srgbClr val="9DA7AA"/>
                </a:solidFill>
              </a:rPr>
              <a:t>DataArt — hands-on enablement, engineering, and governed AI adoption</a:t>
            </a:r>
          </a:p>
        </p:txBody>
      </p:sp>
    </p:spTree>
    <p:extLst>
      <p:ext uri="{BB962C8B-B14F-4D97-AF65-F5344CB8AC3E}">
        <p14:creationId xmlns:p14="http://schemas.microsoft.com/office/powerpoint/2010/main" val="364657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2026-07-15T06:19:31.7900000Z</dcterms:created>
  <dcterms:modified xsi:type="dcterms:W3CDTF">2026-07-15T06:19:31.7900000Z</dcterms:modified>
</coreProperties>
</file>