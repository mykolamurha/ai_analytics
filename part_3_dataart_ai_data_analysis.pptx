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d5da7b55b24dc5" /><Relationship Type="http://schemas.openxmlformats.org/officeDocument/2006/relationships/extended-properties" Target="/docProps/app.xml" Id="R4aeb6de40c2a480f" /><Relationship Type="http://schemas.openxmlformats.org/officeDocument/2006/relationships/officeDocument" Target="/ppt/presentation.xml" Id="R064d6a85953042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1a5c7911794612"/>
  </p:sldMasterIdLst>
  <p:notesMasterIdLst>
    <p:notesMasterId xmlns:r="http://schemas.openxmlformats.org/officeDocument/2006/relationships" r:id="Rb34ff21e1bc846ad"/>
  </p:notesMasterIdLst>
  <p:sldIdLst>
    <p:sldId xmlns:r="http://schemas.openxmlformats.org/officeDocument/2006/relationships" id="256" r:id="R6ede705c6fd04364"/>
    <p:sldId xmlns:r="http://schemas.openxmlformats.org/officeDocument/2006/relationships" id="257" r:id="R29520ccfef7d42b7"/>
    <p:sldId xmlns:r="http://schemas.openxmlformats.org/officeDocument/2006/relationships" id="258" r:id="R8048b72c576a451e"/>
    <p:sldId xmlns:r="http://schemas.openxmlformats.org/officeDocument/2006/relationships" id="259" r:id="Re81bb144d5be4489"/>
    <p:sldId xmlns:r="http://schemas.openxmlformats.org/officeDocument/2006/relationships" id="260" r:id="R244d1e2ffd6e4297"/>
    <p:sldId xmlns:r="http://schemas.openxmlformats.org/officeDocument/2006/relationships" id="261" r:id="Rc391cf469117422f"/>
    <p:sldId xmlns:r="http://schemas.openxmlformats.org/officeDocument/2006/relationships" id="262" r:id="Ra2a7f8fa0d994276"/>
    <p:sldId xmlns:r="http://schemas.openxmlformats.org/officeDocument/2006/relationships" id="263" r:id="Rbecfb0699ec748fc"/>
    <p:sldId xmlns:r="http://schemas.openxmlformats.org/officeDocument/2006/relationships" id="264" r:id="R1aa1c4fbf34f4320"/>
    <p:sldId xmlns:r="http://schemas.openxmlformats.org/officeDocument/2006/relationships" id="265" r:id="R55b6d3addf30413f"/>
    <p:sldId xmlns:r="http://schemas.openxmlformats.org/officeDocument/2006/relationships" id="266" r:id="Rf576dce8806444d7"/>
    <p:sldId xmlns:r="http://schemas.openxmlformats.org/officeDocument/2006/relationships" id="267" r:id="Rf3f286d368864556"/>
    <p:sldId xmlns:r="http://schemas.openxmlformats.org/officeDocument/2006/relationships" id="268" r:id="R0685c76c8cd84381"/>
    <p:sldId xmlns:r="http://schemas.openxmlformats.org/officeDocument/2006/relationships" id="269" r:id="R7861d102751d4fd4"/>
    <p:sldId xmlns:r="http://schemas.openxmlformats.org/officeDocument/2006/relationships" id="270" r:id="Rc4381883c5094cd5"/>
    <p:sldId xmlns:r="http://schemas.openxmlformats.org/officeDocument/2006/relationships" id="271" r:id="R9f9a1fb2dc274d9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810ab1b641426d" /><Relationship Type="http://schemas.openxmlformats.org/officeDocument/2006/relationships/slideMaster" Target="/ppt/slideMasters/slideMaster1.xml" Id="Rc61a5c7911794612" /><Relationship Type="http://schemas.openxmlformats.org/officeDocument/2006/relationships/notesMaster" Target="/ppt/notesMasters/notesMaster1.xml" Id="Rb34ff21e1bc846ad" /><Relationship Type="http://schemas.openxmlformats.org/officeDocument/2006/relationships/presProps" Target="/ppt/presProps.xml" Id="R995561c9861a4da1" /><Relationship Type="http://schemas.openxmlformats.org/officeDocument/2006/relationships/tableStyles" Target="/ppt/tableStyles.xml" Id="R45b8ad3fd3804c48" /><Relationship Type="http://schemas.openxmlformats.org/officeDocument/2006/relationships/slide" Target="/ppt/slides/slide1.xml" Id="R6ede705c6fd04364" /><Relationship Type="http://schemas.openxmlformats.org/officeDocument/2006/relationships/slide" Target="/ppt/slides/slide2.xml" Id="R29520ccfef7d42b7" /><Relationship Type="http://schemas.openxmlformats.org/officeDocument/2006/relationships/slide" Target="/ppt/slides/slide3.xml" Id="R8048b72c576a451e" /><Relationship Type="http://schemas.openxmlformats.org/officeDocument/2006/relationships/slide" Target="/ppt/slides/slide4.xml" Id="Re81bb144d5be4489" /><Relationship Type="http://schemas.openxmlformats.org/officeDocument/2006/relationships/slide" Target="/ppt/slides/slide5.xml" Id="R244d1e2ffd6e4297" /><Relationship Type="http://schemas.openxmlformats.org/officeDocument/2006/relationships/slide" Target="/ppt/slides/slide6.xml" Id="Rc391cf469117422f" /><Relationship Type="http://schemas.openxmlformats.org/officeDocument/2006/relationships/slide" Target="/ppt/slides/slide7.xml" Id="Ra2a7f8fa0d994276" /><Relationship Type="http://schemas.openxmlformats.org/officeDocument/2006/relationships/slide" Target="/ppt/slides/slide8.xml" Id="Rbecfb0699ec748fc" /><Relationship Type="http://schemas.openxmlformats.org/officeDocument/2006/relationships/slide" Target="/ppt/slides/slide9.xml" Id="R1aa1c4fbf34f4320" /><Relationship Type="http://schemas.openxmlformats.org/officeDocument/2006/relationships/slide" Target="/ppt/slides/slide10.xml" Id="R55b6d3addf30413f" /><Relationship Type="http://schemas.openxmlformats.org/officeDocument/2006/relationships/slide" Target="/ppt/slides/slide11.xml" Id="Rf576dce8806444d7" /><Relationship Type="http://schemas.openxmlformats.org/officeDocument/2006/relationships/slide" Target="/ppt/slides/slide12.xml" Id="Rf3f286d368864556" /><Relationship Type="http://schemas.openxmlformats.org/officeDocument/2006/relationships/slide" Target="/ppt/slides/slide13.xml" Id="R0685c76c8cd84381" /><Relationship Type="http://schemas.openxmlformats.org/officeDocument/2006/relationships/slide" Target="/ppt/slides/slide14.xml" Id="R7861d102751d4fd4" /><Relationship Type="http://schemas.openxmlformats.org/officeDocument/2006/relationships/slide" Target="/ppt/slides/slide15.xml" Id="Rc4381883c5094cd5" /><Relationship Type="http://schemas.openxmlformats.org/officeDocument/2006/relationships/slide" Target="/ppt/slides/slide16.xml" Id="R9f9a1fb2dc274d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d1e5d5b80943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d231e4c5814964" /><Relationship Type="http://schemas.openxmlformats.org/officeDocument/2006/relationships/notesMaster" Target="/ppt/notesMasters/notesMaster1.xml" Id="R8e708545507049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8aaaf916f94d0f" /><Relationship Type="http://schemas.openxmlformats.org/officeDocument/2006/relationships/notesMaster" Target="/ppt/notesMasters/notesMaster1.xml" Id="R06ca237377e340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1eca7ba5004e37" /><Relationship Type="http://schemas.openxmlformats.org/officeDocument/2006/relationships/notesMaster" Target="/ppt/notesMasters/notesMaster1.xml" Id="R3420929112f24a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6f02644e0a446b" /><Relationship Type="http://schemas.openxmlformats.org/officeDocument/2006/relationships/notesMaster" Target="/ppt/notesMasters/notesMaster1.xml" Id="R659c5b0e44ce49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d55689058b4ecd" /><Relationship Type="http://schemas.openxmlformats.org/officeDocument/2006/relationships/notesMaster" Target="/ppt/notesMasters/notesMaster1.xml" Id="R83f69614065844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a580e062ce4788" /><Relationship Type="http://schemas.openxmlformats.org/officeDocument/2006/relationships/notesMaster" Target="/ppt/notesMasters/notesMaster1.xml" Id="Rd0f8e548103a40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7e62db45404a83" /><Relationship Type="http://schemas.openxmlformats.org/officeDocument/2006/relationships/notesMaster" Target="/ppt/notesMasters/notesMaster1.xml" Id="R8672b00e88f3466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76b53ddd0a4268" /><Relationship Type="http://schemas.openxmlformats.org/officeDocument/2006/relationships/notesMaster" Target="/ppt/notesMasters/notesMaster1.xml" Id="R00e96b1076ae472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4f751e7e7c4de0" /><Relationship Type="http://schemas.openxmlformats.org/officeDocument/2006/relationships/notesMaster" Target="/ppt/notesMasters/notesMaster1.xml" Id="R9dd4819c157d41b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3f9d7ba036844d4" /><Relationship Type="http://schemas.openxmlformats.org/officeDocument/2006/relationships/notesMaster" Target="/ppt/notesMasters/notesMaster1.xml" Id="R82a406a810db4d6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6a8f9764e0d4ae7" /><Relationship Type="http://schemas.openxmlformats.org/officeDocument/2006/relationships/notesMaster" Target="/ppt/notesMasters/notesMaster1.xml" Id="R994e7a4c113b43a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8fab406fbf9446a" /><Relationship Type="http://schemas.openxmlformats.org/officeDocument/2006/relationships/notesMaster" Target="/ppt/notesMasters/notesMaster1.xml" Id="R983015b5ee414b1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4679f34bb3346fa" /><Relationship Type="http://schemas.openxmlformats.org/officeDocument/2006/relationships/notesMaster" Target="/ppt/notesMasters/notesMaster1.xml" Id="Rc746ace441d14ca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d25b1bece2946ef" /><Relationship Type="http://schemas.openxmlformats.org/officeDocument/2006/relationships/notesMaster" Target="/ppt/notesMasters/notesMaster1.xml" Id="Ree63080379134bb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baed7aad32048b0" /><Relationship Type="http://schemas.openxmlformats.org/officeDocument/2006/relationships/notesMaster" Target="/ppt/notesMasters/notesMaster1.xml" Id="Rd7d351fa3312464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53fca260f5944de" /><Relationship Type="http://schemas.openxmlformats.org/officeDocument/2006/relationships/notesMaster" Target="/ppt/notesMasters/notesMaster1.xml" Id="R79d0191e31e64f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4028625c5c45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58cc6f7aeb4280" /><Relationship Type="http://schemas.openxmlformats.org/officeDocument/2006/relationships/slideLayout" Target="/ppt/slideLayouts/slideLayout1.xml" Id="R335b2a0e158c4c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5b2a0e158c4c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d16e1c2b024c26" /><Relationship Type="http://schemas.openxmlformats.org/officeDocument/2006/relationships/image" Target="/ppt/media/image.png" Id="R3ca8211a8cc84e0a" /><Relationship Type="http://schemas.openxmlformats.org/officeDocument/2006/relationships/image" Target="/ppt/media/image2.png" Id="Re373f6638cac4efd" /><Relationship Type="http://schemas.openxmlformats.org/officeDocument/2006/relationships/image" Target="/ppt/media/image.svg" Id="R6e758b79954840e9" /><Relationship Type="http://schemas.openxmlformats.org/officeDocument/2006/relationships/notesSlide" Target="/ppt/notesSlides/notesSlide1.xml" Id="R085c9d38fa6040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729c3815094c17" /><Relationship Type="http://schemas.openxmlformats.org/officeDocument/2006/relationships/image" Target="/ppt/media/image3.png" Id="Rbe6fd09db82a4279" /><Relationship Type="http://schemas.openxmlformats.org/officeDocument/2006/relationships/image" Target="/ppt/media/image2.svg" Id="Rba883e265da04014" /><Relationship Type="http://schemas.openxmlformats.org/officeDocument/2006/relationships/notesSlide" Target="/ppt/notesSlides/notesSlide2.xml" Id="Rbae285fe248044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7b580f4bf4438" /><Relationship Type="http://schemas.openxmlformats.org/officeDocument/2006/relationships/image" Target="/ppt/media/image4.png" Id="R13b606f24f1a4aeb" /><Relationship Type="http://schemas.openxmlformats.org/officeDocument/2006/relationships/image" Target="/ppt/media/image3.svg" Id="Rcb4c33f377f24e91" /><Relationship Type="http://schemas.openxmlformats.org/officeDocument/2006/relationships/notesSlide" Target="/ppt/notesSlides/notesSlide3.xml" Id="Re3025af8db9d42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808e6cd35641dc" /><Relationship Type="http://schemas.openxmlformats.org/officeDocument/2006/relationships/image" Target="/ppt/media/image5.png" Id="R98167cfdaef24635" /><Relationship Type="http://schemas.openxmlformats.org/officeDocument/2006/relationships/image" Target="/ppt/media/image4.svg" Id="Raa838a5dd10f433f" /><Relationship Type="http://schemas.openxmlformats.org/officeDocument/2006/relationships/notesSlide" Target="/ppt/notesSlides/notesSlide4.xml" Id="R99787ef5a7d544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6e2aab46404eee" /><Relationship Type="http://schemas.openxmlformats.org/officeDocument/2006/relationships/image" Target="/ppt/media/image6.png" Id="R6b68e52d3d214648" /><Relationship Type="http://schemas.openxmlformats.org/officeDocument/2006/relationships/image" Target="/ppt/media/image5.svg" Id="R79cf134765e74d58" /><Relationship Type="http://schemas.openxmlformats.org/officeDocument/2006/relationships/image" Target="/ppt/media/image7.png" Id="Ra03812f4f6564e5b" /><Relationship Type="http://schemas.openxmlformats.org/officeDocument/2006/relationships/notesSlide" Target="/ppt/notesSlides/notesSlide5.xml" Id="R3d83f4dae61148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5ff707a4554503" /><Relationship Type="http://schemas.openxmlformats.org/officeDocument/2006/relationships/image" Target="/ppt/media/image8.png" Id="R3d8ce54ef8ff4bfa" /><Relationship Type="http://schemas.openxmlformats.org/officeDocument/2006/relationships/image" Target="/ppt/media/image6.svg" Id="R4fff35217c1740b4" /><Relationship Type="http://schemas.openxmlformats.org/officeDocument/2006/relationships/notesSlide" Target="/ppt/notesSlides/notesSlide6.xml" Id="R3294e450c0134f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74093952f14fcf" /><Relationship Type="http://schemas.openxmlformats.org/officeDocument/2006/relationships/image" Target="/ppt/media/image9.png" Id="R9a07c1bd94ca4715" /><Relationship Type="http://schemas.openxmlformats.org/officeDocument/2006/relationships/image" Target="/ppt/media/image7.svg" Id="R28f7467c5f014668" /><Relationship Type="http://schemas.openxmlformats.org/officeDocument/2006/relationships/notesSlide" Target="/ppt/notesSlides/notesSlide7.xml" Id="Rae18eb2a855f47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f3c349307c4409" /><Relationship Type="http://schemas.openxmlformats.org/officeDocument/2006/relationships/image" Target="/ppt/media/image10.png" Id="R1191dc0fab074bf2" /><Relationship Type="http://schemas.openxmlformats.org/officeDocument/2006/relationships/image" Target="/ppt/media/image8.svg" Id="R423e2ec53e744be7" /><Relationship Type="http://schemas.openxmlformats.org/officeDocument/2006/relationships/notesSlide" Target="/ppt/notesSlides/notesSlide8.xml" Id="R4b8c4ccfa3bc438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a7d63f15334199" /><Relationship Type="http://schemas.openxmlformats.org/officeDocument/2006/relationships/image" Target="/ppt/media/image11.png" Id="R30a9eb83da68438a" /><Relationship Type="http://schemas.openxmlformats.org/officeDocument/2006/relationships/image" Target="/ppt/media/image9.svg" Id="R6a418b0dfb5e478c" /><Relationship Type="http://schemas.openxmlformats.org/officeDocument/2006/relationships/notesSlide" Target="/ppt/notesSlides/notesSlide9.xml" Id="R79d90a1a2ad549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f9b4ad70654622" /><Relationship Type="http://schemas.openxmlformats.org/officeDocument/2006/relationships/image" Target="/ppt/media/image12.png" Id="Ra766521a9d274f7c" /><Relationship Type="http://schemas.openxmlformats.org/officeDocument/2006/relationships/image" Target="/ppt/media/image10.svg" Id="Rad4690cd6848421d" /><Relationship Type="http://schemas.openxmlformats.org/officeDocument/2006/relationships/notesSlide" Target="/ppt/notesSlides/notesSlide10.xml" Id="R1f17201c910d4ac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2a8e3940b4e9a" /><Relationship Type="http://schemas.openxmlformats.org/officeDocument/2006/relationships/image" Target="/ppt/media/image13.png" Id="Rce9a9a636b9d44a1" /><Relationship Type="http://schemas.openxmlformats.org/officeDocument/2006/relationships/image" Target="/ppt/media/image11.svg" Id="R78987cc43d7a4eae" /><Relationship Type="http://schemas.openxmlformats.org/officeDocument/2006/relationships/notesSlide" Target="/ppt/notesSlides/notesSlide11.xml" Id="R13140163fda0453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61d4995674d4c" /><Relationship Type="http://schemas.openxmlformats.org/officeDocument/2006/relationships/image" Target="/ppt/media/image14.png" Id="R8507123a804143ad" /><Relationship Type="http://schemas.openxmlformats.org/officeDocument/2006/relationships/image" Target="/ppt/media/image12.svg" Id="R9f0e892954f74915" /><Relationship Type="http://schemas.openxmlformats.org/officeDocument/2006/relationships/notesSlide" Target="/ppt/notesSlides/notesSlide12.xml" Id="R8bb8ac2b4b5d467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37f87fbcb4019" /><Relationship Type="http://schemas.openxmlformats.org/officeDocument/2006/relationships/image" Target="/ppt/media/image15.png" Id="R1b07be661a754a11" /><Relationship Type="http://schemas.openxmlformats.org/officeDocument/2006/relationships/image" Target="/ppt/media/image13.svg" Id="R98dff9346c1245df" /><Relationship Type="http://schemas.openxmlformats.org/officeDocument/2006/relationships/notesSlide" Target="/ppt/notesSlides/notesSlide13.xml" Id="R90cbde6975254c6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549cae352b4d37" /><Relationship Type="http://schemas.openxmlformats.org/officeDocument/2006/relationships/image" Target="/ppt/media/image16.png" Id="R7b3dbb8f7aa346a8" /><Relationship Type="http://schemas.openxmlformats.org/officeDocument/2006/relationships/image" Target="/ppt/media/image14.svg" Id="Rfb64134c09334ef6" /><Relationship Type="http://schemas.openxmlformats.org/officeDocument/2006/relationships/notesSlide" Target="/ppt/notesSlides/notesSlide14.xml" Id="R9a0846c421f54ce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d8f38ec0d64d9e" /><Relationship Type="http://schemas.openxmlformats.org/officeDocument/2006/relationships/image" Target="/ppt/media/image17.png" Id="R2106d1d55a3d4fad" /><Relationship Type="http://schemas.openxmlformats.org/officeDocument/2006/relationships/image" Target="/ppt/media/image15.svg" Id="Rf95c4e9819a74acb" /><Relationship Type="http://schemas.openxmlformats.org/officeDocument/2006/relationships/notesSlide" Target="/ppt/notesSlides/notesSlide15.xml" Id="Re3cba2509b9e4a0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bcb1752a7483d" /><Relationship Type="http://schemas.openxmlformats.org/officeDocument/2006/relationships/image" Target="/ppt/media/image18.png" Id="Rae9cdce8b0934f25" /><Relationship Type="http://schemas.openxmlformats.org/officeDocument/2006/relationships/image" Target="/ppt/media/image16.svg" Id="R95b8b7aedc8b463d" /><Relationship Type="http://schemas.openxmlformats.org/officeDocument/2006/relationships/notesSlide" Target="/ppt/notesSlides/notesSlide16.xml" Id="R7a9c9741bb7e406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a8211a8cc84e0a"/>
          <a:srcRect xmlns:a="http://schemas.openxmlformats.org/drawingml/2006/main" l="3333" t="0" r="33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C94A8F-0245-47DC-9F1E-8611C94F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666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BA3942-3926-48B7-B00F-11EA6D8A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73f6638cac4efd">
            <a:extLst>
              <a:ext uri="{96DAC541-7B7A-43D3-8B79-37D633B846F1}">
                <asvg:svgBlip xmlns:asvg="http://schemas.microsoft.com/office/drawing/2016/SVG/main" r:embed="R6e758b79954840e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3900" y="552450"/>
            <a:ext cx="1524000" cy="381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1F035D-45FB-4F80-8A5F-FED29A4A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453AD"/>
                </a:solidFill>
              </a:defRPr>
            </a:pPr>
            <a:r>
              <a:rPr sz="1125" b="1" i="0">
                <a:solidFill>
                  <a:srgbClr val="3453AD"/>
                </a:solidFill>
              </a:rPr>
              <a:t>PART 3  /  DATABRICKS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F939ED-3B40-4FA5-9BED-EC627672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67627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0F161A"/>
                </a:solidFill>
              </a:defRPr>
            </a:pPr>
            <a:r>
              <a:rPr sz="3900" b="1" i="0">
                <a:solidFill>
                  <a:srgbClr val="0F161A"/>
                </a:solidFill>
              </a:rPr>
              <a:t>Databricks AI — Hands 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FE948C-9D89-43E0-871A-33AB0B27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619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263139"/>
                </a:solidFill>
              </a:defRPr>
            </a:pPr>
            <a:r>
              <a:rPr sz="1725" b="0" i="0">
                <a:solidFill>
                  <a:srgbClr val="263139"/>
                </a:solidFill>
              </a:rPr>
              <a:t>Free Edition setup, SQL, AI/BI, Git, classification, and a tiny language-model exercise.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EEB75C-DB04-42D5-929E-C7B029AD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047750"/>
            <a:ext cx="3143250" cy="41910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3453AD">
              <a:alpha val="9098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FEE807-6CDA-4E6C-B04B-BE03BA6B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76400"/>
            <a:ext cx="2381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FFFFFF"/>
                </a:solidFill>
              </a:defRPr>
            </a:pPr>
            <a:r>
              <a:rPr sz="2400" b="1" i="0">
                <a:solidFill>
                  <a:srgbClr val="FFFFFF"/>
                </a:solidFill>
              </a:rPr>
              <a:t>HANDS-ON</a:t>
            </a:r>
          </a:p>
          <a:p xmlns:a="http://schemas.openxmlformats.org/drawingml/2006/main">
            <a:pPr algn="l">
              <a:defRPr sz="2400" b="1" i="0">
                <a:solidFill>
                  <a:srgbClr val="FFFFFF"/>
                </a:solidFill>
              </a:defRPr>
            </a:pPr>
            <a:r>
              <a:rPr sz="2400" b="1" i="0">
                <a:solidFill>
                  <a:srgbClr val="FFFFFF"/>
                </a:solidFill>
              </a:rPr>
              <a:t>DEMO SERIES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38B068-E572-43C3-BC41-05F4D90E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19450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Power BI  •  Databricks</a:t>
            </a:r>
          </a:p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GitHub  •  Codex  •  Excel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4314C3-B7A3-4F23-BF62-9AC259FA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33900"/>
            <a:ext cx="1676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A7FAA6-79AD-4989-A249-3C1921ED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9DA7AA"/>
                </a:solidFill>
              </a:defRPr>
            </a:pPr>
            <a:r>
              <a:rPr sz="1050" b="1" i="0">
                <a:solidFill>
                  <a:srgbClr val="9DA7AA"/>
                </a:solidFill>
              </a:rPr>
              <a:t>DataArt</a:t>
            </a:r>
          </a:p>
        </p:txBody>
      </p:sp>
    </p:spTree>
    <p:extLst>
      <p:ext uri="{BB962C8B-B14F-4D97-AF65-F5344CB8AC3E}">
        <p14:creationId xmlns:p14="http://schemas.microsoft.com/office/powerpoint/2010/main" val="11376558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D3E471-87DE-4D1E-BFA1-B560FACC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690287-7B7C-447B-B97D-499DEEBB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AC03D0-63AF-45E8-9B28-288F450A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BB7D86-FDD0-4C01-97D2-2E1ADDD0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7AFA93-9292-4B6E-A6F5-941178F2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C8F51D-4CAE-4B3C-9BD2-28F2E622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BD95DD-FEF2-4D4C-98DF-1C3BD2CC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8C564D-AC07-4BDA-9F1B-2E60ACF9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1414BE-3DBF-4993-B37F-02D3069F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ADE70F-7C97-4DB4-888D-F4382EED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A2596E-7C03-4C29-A42E-20A5FBD3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686023-5B1A-4EE0-8623-96018D86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3F60EA-0F96-49BC-9912-337ACD9B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E5A748-263A-47EB-8459-0E7B4A95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50B27D-3017-4E5B-BC25-907EE558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2BCD40-3125-4F90-BC90-8212DD65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CB9A2B-02AB-4B34-A4FA-C9567D9C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DDA6F5-2519-414F-8D87-EB285E05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602495-281B-467A-A1A7-BA9E886C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3B4161-2710-4F77-9D24-2BE1D804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12BCA1-5597-4902-80F2-1E75DDB7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EC5BA0-0A73-4103-B402-4EDBB92A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AAE44D-C348-4011-B5C9-5019811A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4497F8-9510-4735-9E39-B19EAD28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21B985-4B7A-4339-94D0-BAEEF778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2CB65F-9A91-497D-9DBB-E2A9E1BA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C0A818-9818-49C9-A035-2832EDB2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1420ED-C376-425E-A829-A4324236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6fd09db82a4279">
            <a:extLst>
              <a:ext uri="{96DAC541-7B7A-43D3-8B79-37D633B846F1}">
                <asvg:svgBlip xmlns:asvg="http://schemas.microsoft.com/office/drawing/2016/SVG/main" r:embed="Rba883e265da0401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CE45FE-0D3B-4050-8DDF-3A17FDFB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94E53E-BC97-4256-934D-6A93DEB4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02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57688E-406A-4DF1-9BF7-813C39AA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9DA7AA"/>
                </a:solidFill>
              </a:defRPr>
            </a:pPr>
            <a:r>
              <a:rPr sz="675" b="0" i="0">
                <a:solidFill>
                  <a:srgbClr val="9DA7AA"/>
                </a:solidFill>
              </a:rPr>
              <a:t>DataArt workshop structure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520EDF-C694-4D7F-982E-36B20A95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403DC4-C427-4736-B1FA-D126BD98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TODAY’S ROUTE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C9CA21-9EEA-4E1C-BD56-E85C4577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Agenda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2147E0-271F-4479-B511-C52153CB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3149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855943-32C2-4C96-8CC3-7E879E6D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71675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A6DC56-BED6-4B0A-ABCC-D486BBDA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716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A30CDA-26E0-4330-AA5C-BD27045E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240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F161A"/>
                </a:solidFill>
              </a:defRPr>
            </a:pPr>
            <a:r>
              <a:rPr sz="1425" b="1" i="0">
                <a:solidFill>
                  <a:srgbClr val="0F161A"/>
                </a:solidFill>
              </a:rPr>
              <a:t>Free Edition setup and limits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70EE92-87D0-402A-A592-93DF520C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53149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F858674-7056-4A9E-9B75-F80517AE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71675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135B592-DADC-4754-AE2A-96AD4894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716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F093486-EE6D-4130-8EB7-75CD5817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240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F161A"/>
                </a:solidFill>
              </a:defRPr>
            </a:pPr>
            <a:r>
              <a:rPr sz="1425" b="1" i="0">
                <a:solidFill>
                  <a:srgbClr val="0F161A"/>
                </a:solidFill>
              </a:rPr>
              <a:t>Databricks AI capability map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F4598A0-AE2D-4CE1-9A7D-1F726A4B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53149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AE17A6C-83AA-4110-BE86-3F9CBE3D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62275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74FB4E3-B40A-4CF6-AB66-D9A1FE39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622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8B3E30D-28BD-4E0F-A94D-7F75D0F6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14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F161A"/>
                </a:solidFill>
              </a:defRPr>
            </a:pPr>
            <a:r>
              <a:rPr sz="1425" b="1" i="0">
                <a:solidFill>
                  <a:srgbClr val="0F161A"/>
                </a:solidFill>
              </a:rPr>
              <a:t>SQL, Genie Code, and dashboard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A3CC170-5847-4EF5-AFB7-A4EAF47C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00350"/>
            <a:ext cx="53149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73C354F-CF00-48F1-ABF5-CDDC7D75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62275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EEA645D-476C-4C41-B387-3CEA8767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622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302174A-4AB6-4B01-B22D-B542EAF9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14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F161A"/>
                </a:solidFill>
              </a:defRPr>
            </a:pPr>
            <a:r>
              <a:rPr sz="1425" b="1" i="0">
                <a:solidFill>
                  <a:srgbClr val="0F161A"/>
                </a:solidFill>
              </a:rPr>
              <a:t>GitHub integration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C4DED7D-019D-4113-BF02-E11FA6F8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53149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4012BB7-A865-4E70-9DF0-E47CE28E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A4E95D5-9EB6-4966-94F1-8480C9E1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3DEAD53-BDD2-4929-BC83-797C0A73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05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F161A"/>
                </a:solidFill>
              </a:defRPr>
            </a:pPr>
            <a:r>
              <a:rPr sz="1425" b="1" i="0">
                <a:solidFill>
                  <a:srgbClr val="0F161A"/>
                </a:solidFill>
              </a:rPr>
              <a:t>Neural classification demo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AB875D7-28E5-455B-9C59-4334EA78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90950"/>
            <a:ext cx="53149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9EDFA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A478EA6-71FD-4384-8886-84768387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52875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355B5E7-D8C6-43AD-8BDD-FDE46DEE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528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607CD0D-948C-4A48-A2CC-F6B274C7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05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F161A"/>
                </a:solidFill>
              </a:defRPr>
            </a:pPr>
            <a:r>
              <a:rPr sz="1425" b="1" i="0">
                <a:solidFill>
                  <a:srgbClr val="0F161A"/>
                </a:solidFill>
              </a:rPr>
              <a:t>Tiny language-model demo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0794F86-A8CF-4480-8ED7-F2804389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00700"/>
            <a:ext cx="81915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DFF8F6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D7EFCE9-00D3-40B5-A83D-BAC847DD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00700"/>
            <a:ext cx="762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C6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519364E-F672-48F4-991F-7F76E5EB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772150"/>
            <a:ext cx="7734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BC6BF"/>
                </a:solidFill>
              </a:defRPr>
            </a:pPr>
            <a:r>
              <a:rPr sz="1500" b="1" i="0">
                <a:solidFill>
                  <a:srgbClr val="2BC6BF"/>
                </a:solidFill>
              </a:rPr>
              <a:t>How to use this deck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DFB4E14-535E-4617-8615-613E1BEF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6153150"/>
            <a:ext cx="77343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Follow the checkpoints in order. Copy the prepared commands and prompts, replace only the bracketed placeholders, and stop when a checkpoint fails.</a:t>
            </a:r>
          </a:p>
        </p:txBody>
      </p:sp>
    </p:spTree>
    <p:extLst>
      <p:ext uri="{BB962C8B-B14F-4D97-AF65-F5344CB8AC3E}">
        <p14:creationId xmlns:p14="http://schemas.microsoft.com/office/powerpoint/2010/main" val="20840734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7A564C-5EBB-40F1-A1E0-E826C2E9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37B8CE-D7DB-469A-AAEF-4543C7CB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E64A28-3A25-45EC-B610-3033ED17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01ECC-0029-4437-994B-B0C76F52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5A122D-C04E-4B35-9D75-CA35A83D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2CB377-1EDA-4E98-9883-019A18A5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CD11B0-99F7-4D3F-98DE-2860066C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7D06AF-2926-43A2-8608-0ED674D5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1583D6-4F53-470C-A2F2-35A705CA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B21925-1523-46AA-8B6A-6FF831E9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25750F-2E92-4C36-B6F2-DC24FF4B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41F55A-4C2A-42CE-8AB6-0D10F917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EB0528-A231-408F-B24F-6B6DCB38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E5553F-F952-4911-AB32-AC88DDD4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047A71-AFE3-4CE8-975D-4AA08A20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F5BACD-7097-4B2A-90DE-499A7A86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C2064F-A4B5-459C-AB8D-3E8FC50F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58FB95-96B7-4544-B7FA-8E9BFCF9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C4FA68-F6F4-46E3-9212-8B8CA7DB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078F59-59E7-4F4E-BC98-8F0D3B7A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2095E8-5065-4D5E-927A-3F6CEE00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A1A067-2482-49CD-8719-F9F70C55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4A6031-F70D-4901-9F21-3E51E348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08BEA5-50F1-439E-A8BD-9BFC10D8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63B6FA-9B57-4056-9CB3-ADA0B361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722691-6766-4372-AA37-F58148DB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590F16-2121-47BC-8C64-B8CBDCF2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49011E-DB7D-4224-B830-037A4854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b606f24f1a4aeb">
            <a:extLst>
              <a:ext uri="{96DAC541-7B7A-43D3-8B79-37D633B846F1}">
                <asvg:svgBlip xmlns:asvg="http://schemas.microsoft.com/office/drawing/2016/SVG/main" r:embed="Rcb4c33f377f24e9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ADDFD6-77D0-4343-BC9A-9E8952D1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A2EA2D-DB77-4E91-8667-C3F048C3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03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7ED0E9-2027-4C92-A521-1F575D0C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9DA7AA"/>
                </a:solidFill>
              </a:defRPr>
            </a:pPr>
            <a:r>
              <a:rPr sz="675" b="0" i="0">
                <a:solidFill>
                  <a:srgbClr val="9DA7AA"/>
                </a:solidFill>
              </a:rPr>
              <a:t>Databricks: https://docs.databricks.com/aws/en/getting-started/free-trial-vs-free-edition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ADFC2F-8658-4918-B551-45DCBD81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F0BE26-A7FA-42CC-B721-4DF867F5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CHOOSE THE RIGHT ENVIRONMENT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BBDCD4-B252-46B4-91A0-8327BBAF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Free Edition is for learning — not client production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B6590B-52F5-4B15-8725-DA76D45C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305425" cy="4038600"/>
          </a:xfrm>
          <a:prstGeom xmlns:a="http://schemas.openxmlformats.org/drawingml/2006/main" prst="roundRect">
            <a:avLst>
              <a:gd name="adj" fmla="val 4245"/>
            </a:avLst>
          </a:prstGeom>
          <a:solidFill xmlns:a="http://schemas.openxmlformats.org/drawingml/2006/main">
            <a:srgbClr val="E9EDFA"/>
          </a:solidFill>
          <a:ln xmlns:a="http://schemas.openxmlformats.org/drawingml/2006/main" w="9525">
            <a:solidFill>
              <a:srgbClr val="3453A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C54009-36B3-45E3-A22B-A6F95B3B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48482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3453AD"/>
                </a:solidFill>
              </a:defRPr>
            </a:pPr>
            <a:r>
              <a:rPr sz="1725" b="1" i="0">
                <a:solidFill>
                  <a:srgbClr val="3453AD"/>
                </a:solidFill>
              </a:rPr>
              <a:t>Free Edition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FA67E86-E864-441B-BDA2-A1BCBFCC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1FE03C-146D-4678-8D7A-C04D562E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24150"/>
            <a:ext cx="45815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No-cost personal learning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000FD6-9EF2-4F25-ABF0-9284BA10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236B09C-AC4F-4EF5-8118-87C080C0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52800"/>
            <a:ext cx="45815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Serverless-only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A7EDA0D-BD58-4F21-ADCE-1511C663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856C3B2-2E05-4C8F-8E8E-423D8C35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81450"/>
            <a:ext cx="45815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Quota-limited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A946BD6-9FAF-4257-981B-45A897B9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6072E08-1CAA-4E0D-970D-24A7E9A8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10100"/>
            <a:ext cx="45815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Public/synthetic data only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3E4FC85-1C8C-447A-B1A8-9747B7D5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790700"/>
            <a:ext cx="5305425" cy="4038600"/>
          </a:xfrm>
          <a:prstGeom xmlns:a="http://schemas.openxmlformats.org/drawingml/2006/main" prst="roundRect">
            <a:avLst>
              <a:gd name="adj" fmla="val 4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BBD9389-F8D1-4024-9757-EDC048DA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00250"/>
            <a:ext cx="48482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F161A"/>
                </a:solidFill>
              </a:defRPr>
            </a:pPr>
            <a:r>
              <a:rPr sz="1725" b="1" i="0">
                <a:solidFill>
                  <a:srgbClr val="0F161A"/>
                </a:solidFill>
              </a:rPr>
              <a:t>Free trial / training workspace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A5E578C-1EE7-4052-A097-9655CA35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003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2F77996-2530-4254-9F6C-21D1A1C5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724150"/>
            <a:ext cx="45815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Business evaluation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0467F69-26D8-45FC-AA94-3A81EFD8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4290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69DA974-2DB4-49E7-9B3D-2A762EE8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352800"/>
            <a:ext cx="45815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Organization controls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513560C-5A2D-47EC-B345-6B53872A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576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FD28929-22F8-4211-A10B-5AEEFB64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981450"/>
            <a:ext cx="45815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Broader product scope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77400C5-E3BB-450A-98D9-734ADAFA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6863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0741071-BD84-4266-97D1-C1F18AAC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610100"/>
            <a:ext cx="45815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Preferred for client demo data</a:t>
            </a:r>
          </a:p>
        </p:txBody>
      </p:sp>
    </p:spTree>
    <p:extLst>
      <p:ext uri="{BB962C8B-B14F-4D97-AF65-F5344CB8AC3E}">
        <p14:creationId xmlns:p14="http://schemas.microsoft.com/office/powerpoint/2010/main" val="6584763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0FE550-02E5-45F6-982F-ED0716FB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ABE2A5-BAC9-43CA-BF07-906A0151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11D099-21C6-46CE-B696-3B9571C0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A511E8-21A2-4950-B21C-01EEAC5E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F52A8D-E0A3-4E26-821C-E5BF4FA2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384184-156D-48A6-B519-960F5012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E8E242-786C-42CF-9DA1-71B8CE20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533007-B1D7-4A82-B588-836E7C79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745CF4-B037-4F2E-A3E6-6BE2D101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B8205F-1CD4-4711-BBBF-450A62EC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7B6ACF-1C4B-4229-8706-234FE7F9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2C8F9F-015B-4366-B643-685F298E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5826DD-54CF-46BB-A968-33D7B5FB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B473AA-1A50-4548-8AA4-BCCD97DF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201E79-8631-439C-940F-14827E71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D2F75C-642E-4E2F-9588-61FB90C6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258091-CE3A-457E-94C3-86B45579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8022AA-C783-41A2-B589-FCDF944E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911D6F-7CB1-44D1-89D5-294F0997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8A7DF0-9AF6-4DB6-94C2-97A6EEA7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88D35B-4F9A-4BEC-A84F-60FF9325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E1FC99-F261-4ECB-B575-B7FFEA02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D39737-44C2-4CC8-8FFD-3E77BCF0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DF9E4D-0AA9-4495-A2D9-051683F5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4EDF88-A321-42A0-890F-2E92D12F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602FD4-D371-4FBD-A6CF-355A53E4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D9797F-2329-42C1-98A5-F540802A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7C9E4F-CAA5-4EB5-98AF-C462107E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167cfdaef24635">
            <a:extLst>
              <a:ext uri="{96DAC541-7B7A-43D3-8B79-37D633B846F1}">
                <asvg:svgBlip xmlns:asvg="http://schemas.microsoft.com/office/drawing/2016/SVG/main" r:embed="Raa838a5dd10f433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A13284-D68B-4FBD-BBE1-9028F70E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CCACC3-1E05-48A1-910E-17D56170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25BB26-28F3-428E-A83A-43038D39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9DA7AA"/>
                </a:solidFill>
              </a:defRPr>
            </a:pPr>
            <a:r>
              <a:rPr sz="675" b="0" i="0">
                <a:solidFill>
                  <a:srgbClr val="9DA7AA"/>
                </a:solidFill>
              </a:rPr>
              <a:t>Setup: https://docs.databricks.com/aws/en/getting-started/free-edition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F66838-B4ED-48CC-BE4D-820F739D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0F2944-532F-4C1C-84AF-4C85194C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ACCOUNT SETUP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F814E3-2D84-4EA8-8F24-CDCF58B9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Create a Databricks Free Edition account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5590E5-245B-42E6-9318-9229BC1A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1992630" cy="2266950"/>
          </a:xfrm>
          <a:prstGeom xmlns:a="http://schemas.openxmlformats.org/drawingml/2006/main" prst="roundRect">
            <a:avLst>
              <a:gd name="adj" fmla="val 8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C485E3-BDB6-4D86-BEC2-27D2D99D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145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1BC345-9090-41A7-A37B-3F496A5A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145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C9E6CB2-58CB-4547-A4AF-B92FDFAF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19400"/>
            <a:ext cx="164973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161A"/>
                </a:solidFill>
              </a:defRPr>
            </a:pPr>
            <a:r>
              <a:rPr sz="1500" b="1" i="0">
                <a:solidFill>
                  <a:srgbClr val="0F161A"/>
                </a:solidFill>
              </a:rPr>
              <a:t>Open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0B3640-2F36-42B4-A809-2EA5EECF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09950"/>
            <a:ext cx="164973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Go to databricks.com/learn/free-edition.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310295-512D-4465-B3AE-E4EDD58B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312420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39200"/>
                </a:solidFill>
              </a:defRPr>
            </a:pPr>
            <a:r>
              <a:rPr sz="1950" b="1" i="0">
                <a:solidFill>
                  <a:srgbClr val="F39200"/>
                </a:solidFill>
              </a:rPr>
              <a:t>→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0A214B-324E-41BD-96D9-785015D3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130" y="2362200"/>
            <a:ext cx="1992630" cy="2266950"/>
          </a:xfrm>
          <a:prstGeom xmlns:a="http://schemas.openxmlformats.org/drawingml/2006/main" prst="roundRect">
            <a:avLst>
              <a:gd name="adj" fmla="val 8604"/>
            </a:avLst>
          </a:prstGeom>
          <a:solidFill xmlns:a="http://schemas.openxmlformats.org/drawingml/2006/main">
            <a:srgbClr val="E9EDFA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CD5342A-91A8-473B-B537-84F22848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21145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4AF10FB-C5D6-4644-8CB0-5BB9FB73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21145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72BE471-E455-4662-B4A1-9BF6CBB4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2819400"/>
            <a:ext cx="164973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161A"/>
                </a:solidFill>
              </a:defRPr>
            </a:pPr>
            <a:r>
              <a:rPr sz="1500" b="1" i="0">
                <a:solidFill>
                  <a:srgbClr val="0F161A"/>
                </a:solidFill>
              </a:rPr>
              <a:t>Register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D54672E-7489-4268-8F31-996F81EC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3409950"/>
            <a:ext cx="164973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Use a permitted personal email and complete verification.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6A9D5D6-0F82-4898-ABB4-95669C99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9660" y="312420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39200"/>
                </a:solidFill>
              </a:defRPr>
            </a:pPr>
            <a:r>
              <a:rPr sz="1950" b="1" i="0">
                <a:solidFill>
                  <a:srgbClr val="F39200"/>
                </a:solidFill>
              </a:rPr>
              <a:t>→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C86ECB9-6AED-4898-A602-76AED314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160" y="2362200"/>
            <a:ext cx="1992630" cy="2266950"/>
          </a:xfrm>
          <a:prstGeom xmlns:a="http://schemas.openxmlformats.org/drawingml/2006/main" prst="roundRect">
            <a:avLst>
              <a:gd name="adj" fmla="val 8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63B1DB8-9D9F-414C-905B-826F0EAC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610" y="21145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34539A6-6FC3-471E-805F-7B9716A2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610" y="21145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2AC320B-D85E-4D2F-8895-F0748168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610" y="2819400"/>
            <a:ext cx="164973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161A"/>
                </a:solidFill>
              </a:defRPr>
            </a:pPr>
            <a:r>
              <a:rPr sz="1500" b="1" i="0">
                <a:solidFill>
                  <a:srgbClr val="0F161A"/>
                </a:solidFill>
              </a:rPr>
              <a:t>Enter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0B66255-6169-4ECF-99A2-B0B8C163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610" y="3409950"/>
            <a:ext cx="164973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Open the single provisioned workspace.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D5D133D-5FE5-4299-A7FE-639AF0C7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4690" y="312420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39200"/>
                </a:solidFill>
              </a:defRPr>
            </a:pPr>
            <a:r>
              <a:rPr sz="1950" b="1" i="0">
                <a:solidFill>
                  <a:srgbClr val="F39200"/>
                </a:solidFill>
              </a:rPr>
              <a:t>→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2AB5C44-8160-4B91-9EA2-3ADBA260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5190" y="2362200"/>
            <a:ext cx="1992630" cy="2266950"/>
          </a:xfrm>
          <a:prstGeom xmlns:a="http://schemas.openxmlformats.org/drawingml/2006/main" prst="roundRect">
            <a:avLst>
              <a:gd name="adj" fmla="val 8604"/>
            </a:avLst>
          </a:prstGeom>
          <a:solidFill xmlns:a="http://schemas.openxmlformats.org/drawingml/2006/main">
            <a:srgbClr val="E9EDFA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529D57F-11D8-4CB2-B11B-541FF398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1145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B49F705-CCFA-4865-AA2F-7A512CDC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1145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18698A4-C429-42DD-BCDC-8B62F3E2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819400"/>
            <a:ext cx="164973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161A"/>
                </a:solidFill>
              </a:defRPr>
            </a:pPr>
            <a:r>
              <a:rPr sz="1500" b="1" i="0">
                <a:solidFill>
                  <a:srgbClr val="0F161A"/>
                </a:solidFill>
              </a:rPr>
              <a:t>Accept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CD181BF-9D6D-4B1D-929C-36F0B1FB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3409950"/>
            <a:ext cx="164973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Review terms, privacy, and data-use limitations.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C2DCC99-4D7B-488E-A90C-E9902224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312420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39200"/>
                </a:solidFill>
              </a:defRPr>
            </a:pPr>
            <a:r>
              <a:rPr sz="1950" b="1" i="0">
                <a:solidFill>
                  <a:srgbClr val="F39200"/>
                </a:solidFill>
              </a:rPr>
              <a:t>→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2F568EB-C6BF-44A7-93A5-880CC1B4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0220" y="2362200"/>
            <a:ext cx="1992630" cy="2266950"/>
          </a:xfrm>
          <a:prstGeom xmlns:a="http://schemas.openxmlformats.org/drawingml/2006/main" prst="roundRect">
            <a:avLst>
              <a:gd name="adj" fmla="val 8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2ACB89F-427B-4D3E-BA9A-7C9AC5FB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670" y="21145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4DE0E23-05AA-46C2-8B3B-0FDE9DC1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670" y="21145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79384F5-CB77-472D-B940-4AAC0BA9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670" y="2819400"/>
            <a:ext cx="164973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161A"/>
                </a:solidFill>
              </a:defRPr>
            </a:pPr>
            <a:r>
              <a:rPr sz="1500" b="1" i="0">
                <a:solidFill>
                  <a:srgbClr val="0F161A"/>
                </a:solidFill>
              </a:rPr>
              <a:t>Verify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BAC9BCA-EEEF-4E69-8F57-2F5E8132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670" y="3409950"/>
            <a:ext cx="164973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Open SQL Editor and confirm sample catalogs are visible.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FF4650F-956D-4508-A1AD-9FBF38E6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48250"/>
            <a:ext cx="74295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DFF8F6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E14A176-AB06-4DCC-A0CD-38FFBC36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48250"/>
            <a:ext cx="7620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C6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82A5E0E-7E88-4177-BAC1-894A6B55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219700"/>
            <a:ext cx="697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BC6BF"/>
                </a:solidFill>
              </a:defRPr>
            </a:pPr>
            <a:r>
              <a:rPr sz="1500" b="1" i="0">
                <a:solidFill>
                  <a:srgbClr val="2BC6BF"/>
                </a:solidFill>
              </a:rPr>
              <a:t>If company policy prohibits it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3F3B7D8-9BCE-4A54-A9F9-83FF4D28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600700"/>
            <a:ext cx="697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Use a DataArt-provided training workspace or an approved free trial. Do not work around organizational controls.</a:t>
            </a:r>
          </a:p>
        </p:txBody>
      </p:sp>
    </p:spTree>
    <p:extLst>
      <p:ext uri="{BB962C8B-B14F-4D97-AF65-F5344CB8AC3E}">
        <p14:creationId xmlns:p14="http://schemas.microsoft.com/office/powerpoint/2010/main" val="10615733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5DE6CD-AF5E-49D6-9FB3-B3E40768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568ED2-D3ED-43AE-AE3E-B56998C2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A88758-AB77-42BE-A8A4-FDD13330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AFA1BB-0544-4C96-B42C-A59D8350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8E3377-7167-4D47-9BBE-8572E3B7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1230DF-A8C6-436D-B329-224AF9C9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1FCCCF-93DD-4BC1-9C1D-E1A4A94E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341781-FB7E-4218-9EB3-02904A93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EDF0D3-A0D7-40E1-A19B-72A79D09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8EFE56-057D-49C2-BF96-902E5816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75E1DF-4E53-4A9C-BF52-934A73ED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7BCCB9-F507-4F5E-B2D9-52EA4568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4A9330-A390-4B5D-A1F6-8CDA70FE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E8C6D9-240A-42F7-9C77-074E42B9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6C3839-D151-4BAF-BD68-C00474E2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5E88B9-9FE4-4EFA-81C0-22B040F5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51F9E1-0E7A-49CE-8B7F-D474A844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B291D6-EA36-41CC-88E5-2E369BA9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9C9296-3027-4CF7-8203-7B1BE711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D2B7E9-2B55-4B7B-BF8F-164E0674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2D8572-CA79-4F07-9190-DC4F76BF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9FC4FE-F995-49B4-99F5-96BDF0A9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5625D7-8A7F-4C51-BE70-AA2E3080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04B659-F5D7-4C96-B792-5E56226A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F06FD6-06C3-400D-BD11-F97F89B8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B7CCF0-95EE-47FF-A928-C9DB15CF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F68162-B1C4-4961-9655-F4ECB56A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529856-985C-4EA3-BE6D-E7F4E8F7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68e52d3d214648">
            <a:extLst>
              <a:ext uri="{96DAC541-7B7A-43D3-8B79-37D633B846F1}">
                <asvg:svgBlip xmlns:asvg="http://schemas.microsoft.com/office/drawing/2016/SVG/main" r:embed="R79cf134765e74d5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75C2D5-80B6-4DF3-8AA2-51E01389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3E210B-8919-4E82-8F14-3AD0B65D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928E1E-1036-41EE-BE7E-0337FF52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9DA7AA"/>
                </a:solidFill>
              </a:defRPr>
            </a:pPr>
            <a:r>
              <a:rPr sz="675" b="0" i="0">
                <a:solidFill>
                  <a:srgbClr val="9DA7AA"/>
                </a:solidFill>
              </a:rPr>
              <a:t>User-provided screenshot; workspace-specific values selectively masked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6D9BB4-05E1-4DC4-80C4-71CCFE09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F3C0E1-9AAB-4C0E-8264-3D44136A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WORKSPACE CHECK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AC1DBF-2474-48F3-BC47-237D0871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Find the starter SQL warehouse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623E81-1B57-438E-A7E8-A8FB6A09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4210050"/>
          </a:xfrm>
          <a:prstGeom xmlns:a="http://schemas.openxmlformats.org/drawingml/2006/main" prst="roundRect">
            <a:avLst>
              <a:gd name="adj" fmla="val 40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3812f4f6564e5b"/>
          <a:stretch xmlns:a="http://schemas.openxmlformats.org/drawingml/2006/main"/>
        </p:blipFill>
        <p:spPr>
          <a:xfrm xmlns:a="http://schemas.openxmlformats.org/drawingml/2006/main">
            <a:off x="857250" y="1970944"/>
            <a:ext cx="7239000" cy="3735262"/>
          </a:xfrm>
          <a:prstGeom xmlns:a="http://schemas.openxmlformats.org/drawingml/2006/main" prst="roundRect">
            <a:avLst>
              <a:gd name="adj" fmla="val 2463"/>
            </a:avLst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C09473-8FE7-4207-A9FC-DE48D943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905000"/>
            <a:ext cx="5619750" cy="2095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631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E5ED13-0D82-4176-9A63-D1C499E9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05000"/>
            <a:ext cx="266700" cy="228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631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D29A573-785B-461B-BFF2-077164BE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048125"/>
            <a:ext cx="2571750" cy="190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631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A26846-A115-41EB-B7F6-91CE1C6D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057650"/>
            <a:ext cx="241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&lt;workspace hostname&gt;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C7FB2C7-660C-4800-8B51-85121A9D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438650"/>
            <a:ext cx="2571750" cy="190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631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F4FA315-2CEA-4B07-8025-5562F644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48175"/>
            <a:ext cx="241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&lt;workspace ID&gt;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9DCC70A-987A-468E-87B8-950C89AD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19650"/>
            <a:ext cx="3333750" cy="2667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631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88F211E-5C3B-4CBF-A96F-EF5CC667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829175"/>
            <a:ext cx="3181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&lt;HTTP path&gt;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9B9AEE4-E140-452F-95A9-8B64FCFA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267325"/>
            <a:ext cx="5715000" cy="42862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2631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263880D-948F-49F6-A387-8BD1132E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276850"/>
            <a:ext cx="556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&lt;JDBC URL / workspace-specific connection string&gt;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966C6DA-5476-45A7-94FC-8D8E790B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38350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453AD"/>
                </a:solidFill>
              </a:defRPr>
            </a:pPr>
            <a:r>
              <a:rPr sz="1650" b="1" i="0">
                <a:solidFill>
                  <a:srgbClr val="3453AD"/>
                </a:solidFill>
              </a:rPr>
              <a:t>Checkpoint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45E26A4-D891-4482-B19D-CA3CACCF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622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582C083-0558-4A7A-AD16-866FBE26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4574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Warehouse is running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5403203-9FD6-4422-A6ED-E3D02F9F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433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90D726B-A413-453F-BAA6-6F1351D5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67100"/>
            <a:ext cx="24574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Size is serverless starter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F81173D-508E-4253-8969-3F3D13FD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243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842032F-BCC9-4350-9473-F9621767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48150"/>
            <a:ext cx="24574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Connection details open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B772268-FB1F-4C25-AAEF-64C652D3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054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D0C2EB4-D5C6-449B-B697-FDC06AFF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029200"/>
            <a:ext cx="24574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No client data uploaded</a:t>
            </a:r>
          </a:p>
        </p:txBody>
      </p:sp>
    </p:spTree>
    <p:extLst>
      <p:ext uri="{BB962C8B-B14F-4D97-AF65-F5344CB8AC3E}">
        <p14:creationId xmlns:p14="http://schemas.microsoft.com/office/powerpoint/2010/main" val="18002032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7C4CAD-DFFE-42FE-A4C7-2187D72D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F43575-5737-4461-854C-07F8B5D9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6AB78F-0ADF-4834-867F-80E87C43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C500D2-A7E5-4C9F-B7B4-D41C1416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196081-DF7D-466A-A0C9-4FE9A7A0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ADDC55-73E8-4071-A8EF-72638591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C04ABC-97EF-4ACF-BE53-E74541AB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BF74E5-5D06-4F17-ACD4-0C42CA0A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2C16F6-5C63-4EE0-B63F-D096F34D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52655B-D769-49E8-8C3C-75F3E7ED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F3D959-82F6-4299-BD7E-B017CFDA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70D1BE-596F-4BE2-9952-F6C78751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69D50F-B544-4548-A820-CCBCEEC5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50608D-3022-4765-ADEC-83654ECD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A7C8AE-A10F-4E1D-87C1-B72E749C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79DB24-B5F2-4307-B6B1-B1715A81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620B62-73C0-4ACB-9FD1-FCAA0327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E71315-E027-4239-A562-9EE3357D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AFADB7-283D-4533-ACD0-4FFD8813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E2F8C0-DA97-4203-8BA3-C1F0A8FB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1285C2-B901-489E-AFA5-791E9837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8142BB-2E05-481D-9E68-D09FCDC9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2E0CD2-E44C-429E-A5BC-AA6BC114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3286EA-0379-4983-A206-97963EB6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0DAF2F-6A1F-4D69-B541-91757E6D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242359-4BC9-4016-9CD9-DD85C071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213F79-7344-4886-AD1B-07934089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E09A5A-D320-402E-8581-3C6CCCEB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8ce54ef8ff4bfa">
            <a:extLst>
              <a:ext uri="{96DAC541-7B7A-43D3-8B79-37D633B846F1}">
                <asvg:svgBlip xmlns:asvg="http://schemas.microsoft.com/office/drawing/2016/SVG/main" r:embed="R4fff35217c1740b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1AA48A-D424-480B-9684-1229136E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8135A8-E99C-4132-BA69-569E1BB2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694D89-49C5-4A1A-803D-27EBEC21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9DA7AA"/>
                </a:solidFill>
              </a:defRPr>
            </a:pPr>
            <a:r>
              <a:rPr sz="675" b="0" i="0">
                <a:solidFill>
                  <a:srgbClr val="9DA7AA"/>
                </a:solidFill>
              </a:rPr>
              <a:t>Limitations: https://docs.databricks.com/aws/en/getting-started/free-edition-limitations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FC47FF-DE67-4DF8-9C81-6CB6374E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6A18B5-54A8-4645-9242-818CB831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KNOW THE LIMITS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33C977-0F84-43A6-8170-9AD6E46F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Free Edition constraints that affect the demo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C609C4-6E2C-4CDD-A4B8-886DFFCA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B096DE-C6E9-4F52-8FF6-5FCE5496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24050"/>
            <a:ext cx="5676900" cy="635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F161A"/>
                </a:solidFill>
              </a:defRPr>
            </a:pPr>
            <a:r>
              <a:rPr sz="1350" b="0" i="0">
                <a:solidFill>
                  <a:srgbClr val="0F161A"/>
                </a:solidFill>
              </a:rPr>
              <a:t>One workspace and a limited serverless environment.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ADC15C-47C5-4091-BD97-7CC038E4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3329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66B4375-4BF3-4CA1-B473-BFC6DB8A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07129"/>
            <a:ext cx="5676900" cy="635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F161A"/>
                </a:solidFill>
              </a:defRPr>
            </a:pPr>
            <a:r>
              <a:rPr sz="1350" b="0" i="0">
                <a:solidFill>
                  <a:srgbClr val="0F161A"/>
                </a:solidFill>
              </a:rPr>
              <a:t>One SQL warehouse, with small maximum sizing.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2DA64F-2F61-449E-8827-677427B1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66407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E56FF4-C578-4F63-A068-E8C99884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0207"/>
            <a:ext cx="5676900" cy="635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F161A"/>
                </a:solidFill>
              </a:defRPr>
            </a:pPr>
            <a:r>
              <a:rPr sz="1350" b="0" i="0">
                <a:solidFill>
                  <a:srgbClr val="0F161A"/>
                </a:solidFill>
              </a:rPr>
              <a:t>Daily usage quotas can stop or delay exercises.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96A2440-33A4-42AB-A6BE-97C0C8B1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49486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E300F45-7DF1-4AC5-82A2-46024EF1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73286"/>
            <a:ext cx="5676900" cy="635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F161A"/>
                </a:solidFill>
              </a:defRPr>
            </a:pPr>
            <a:r>
              <a:rPr sz="1350" b="0" i="0">
                <a:solidFill>
                  <a:srgbClr val="0F161A"/>
                </a:solidFill>
              </a:rPr>
              <a:t>Restricted outbound internet and limited integrations.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33557CB-91FF-4EEB-8118-DEA5AAED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32564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E1D6BE1-C834-46B9-9EDC-C4AEF837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56364"/>
            <a:ext cx="5676900" cy="635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F161A"/>
                </a:solidFill>
              </a:defRPr>
            </a:pPr>
            <a:r>
              <a:rPr sz="1350" b="0" i="0">
                <a:solidFill>
                  <a:srgbClr val="0F161A"/>
                </a:solidFill>
              </a:rPr>
              <a:t>No production SLA or enterprise support model.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0386E1B-8BB8-4E95-88E5-B52F2B95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5643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9E7FB06-16B5-421D-857F-0C13FAA3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39443"/>
            <a:ext cx="5676900" cy="635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F161A"/>
                </a:solidFill>
              </a:defRPr>
            </a:pPr>
            <a:r>
              <a:rPr sz="1350" b="0" i="0">
                <a:solidFill>
                  <a:srgbClr val="0F161A"/>
                </a:solidFill>
              </a:rPr>
              <a:t>Databricks describes Free Edition as non-commercial learning/prototyping.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4EDF7E6-26C5-411E-BB38-CE98D729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8721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BAC0D42-AA91-4566-97FA-A4CC6718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22521"/>
            <a:ext cx="5676900" cy="635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F161A"/>
                </a:solidFill>
              </a:defRPr>
            </a:pPr>
            <a:r>
              <a:rPr sz="1350" b="0" i="0">
                <a:solidFill>
                  <a:srgbClr val="0F161A"/>
                </a:solidFill>
              </a:rPr>
              <a:t>Review the data-use terms; use only public or synthetic data.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790AAAD-B386-457F-A308-38565F05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62150"/>
            <a:ext cx="4095750" cy="32004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8D5D69A-04F9-42E9-B144-869B80A6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62150"/>
            <a:ext cx="76200" cy="3200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1CD24D0-14B9-4325-ABA3-0323AF8C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33600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39200"/>
                </a:solidFill>
              </a:defRPr>
            </a:pPr>
            <a:r>
              <a:rPr sz="1500" b="1" i="0">
                <a:solidFill>
                  <a:srgbClr val="F39200"/>
                </a:solidFill>
              </a:rPr>
              <a:t>Plan B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03D0E51-CF1A-4B1F-A674-507F1647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14600"/>
            <a:ext cx="363855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Prepare screenshots and expected outputs so the workshop can continue if a quota or provisioning delay occurs.</a:t>
            </a:r>
          </a:p>
        </p:txBody>
      </p:sp>
    </p:spTree>
    <p:extLst>
      <p:ext uri="{BB962C8B-B14F-4D97-AF65-F5344CB8AC3E}">
        <p14:creationId xmlns:p14="http://schemas.microsoft.com/office/powerpoint/2010/main" val="4477930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447FE2-79A5-416F-88B7-1272765B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380B57-8152-4F0B-9FC3-1FC4FEB4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3D5FBE-817E-44C5-8DE2-5D7C1014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E0CC3-DE8E-4AC9-A405-FF14EFA4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888E02-6BEE-4606-9F61-04B72D54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5558DE-15B9-4D5D-B0E9-E015FE17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D03E29-EFEF-4038-AB6A-8FE4BADC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57D0B9-9737-451F-8721-AFB7B390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B4EF26-1425-496A-896B-99ACCCB3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C8E205-03D8-4C20-BE85-82D1CDAC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2B6E7B-6CBB-4C37-93E5-5621ABCA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106F53-F2CD-47A1-8659-D284B5BF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88567D-1100-4DAC-B784-BCB46C32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AA9513-0426-4E93-BBB4-DFE72D24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251088-2E1A-470E-87F4-F66AD7CF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B8CB40-CC71-4CF3-9D87-7D7F2161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D19618-AD91-44EF-BAB7-A9077B5E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95301E-30CE-46A9-BB40-59F99F13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722396-CAD3-4546-85CE-CF4ABD02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69F923-04E9-4F47-A171-7089851B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8BBB6C-59FD-41F4-A10A-FF80755F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67CF22-1BC4-4031-AD85-C652EABB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246A52-453A-4B53-ACF2-3ECC07E5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397081-058A-41ED-9EE7-4A7DE96E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987DCE-6E9A-48B2-85BB-5D06EDCA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875A51-2BDC-4E4A-B5B1-E790FD34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C227B5-C3E8-4FAC-84C8-5BD68CA0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BAEFEE-6D17-4CF9-A675-4C36AE6E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07c1bd94ca4715">
            <a:extLst>
              <a:ext uri="{96DAC541-7B7A-43D3-8B79-37D633B846F1}">
                <asvg:svgBlip xmlns:asvg="http://schemas.microsoft.com/office/drawing/2016/SVG/main" r:embed="R28f7467c5f01466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1456BC-6431-4C3F-8542-664991AB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23352E-27FC-4BE8-8447-B61ABD3C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E7ABE6-DE84-4ED4-9DB3-7C4E39C9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9DA7AA"/>
                </a:solidFill>
              </a:defRPr>
            </a:pPr>
            <a:r>
              <a:rPr sz="675" b="0" i="0">
                <a:solidFill>
                  <a:srgbClr val="9DA7AA"/>
                </a:solidFill>
              </a:rPr>
              <a:t>Databricks AI/BI: https://docs.databricks.com/aws/en/ai-bi/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C015A9-1968-46F5-B055-C0B288DC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31A66B-34D7-4AE6-BDCB-909937E0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AI CAPABILITY MAP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A12FC1-2D57-4307-87B8-AA0E81FD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Databricks AI for an analyst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F7556C-A3AA-4D52-AC38-20006366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562225" cy="3714750"/>
          </a:xfrm>
          <a:prstGeom xmlns:a="http://schemas.openxmlformats.org/drawingml/2006/main" prst="roundRect">
            <a:avLst>
              <a:gd name="adj" fmla="val 66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49EAD8-6440-4938-918A-78916528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5622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46511F-1172-4B46-924B-73A68D78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9DA7AA"/>
                </a:solidFill>
              </a:defRPr>
            </a:pPr>
            <a:r>
              <a:rPr sz="975" b="1" i="0">
                <a:solidFill>
                  <a:srgbClr val="9DA7AA"/>
                </a:solidFill>
              </a:rPr>
              <a:t>01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64666D0-13D6-459D-9CD3-10536D13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21812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F161A"/>
                </a:solidFill>
              </a:defRPr>
            </a:pPr>
            <a:r>
              <a:rPr sz="1575" b="1" i="0">
                <a:solidFill>
                  <a:srgbClr val="0F161A"/>
                </a:solidFill>
              </a:rPr>
              <a:t>Genie Code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E8ACBA-AD69-4A0D-A317-FB6DBB0A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2181225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Assist with SQL and Python in notebooks and editors.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530895-6280-4047-BF24-63B376F5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809750"/>
            <a:ext cx="2562225" cy="3714750"/>
          </a:xfrm>
          <a:prstGeom xmlns:a="http://schemas.openxmlformats.org/drawingml/2006/main" prst="roundRect">
            <a:avLst>
              <a:gd name="adj" fmla="val 66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B613B6F-3001-469E-943A-C617A1B8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809750"/>
            <a:ext cx="25622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29E81E6-20CC-46C2-AC54-7AB5A250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0002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9DA7AA"/>
                </a:solidFill>
              </a:defRPr>
            </a:pPr>
            <a:r>
              <a:rPr sz="975" b="1" i="0">
                <a:solidFill>
                  <a:srgbClr val="9DA7AA"/>
                </a:solidFill>
              </a:rPr>
              <a:t>02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1B65B92-F9BB-4D9F-8A71-AF81466B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362200"/>
            <a:ext cx="21812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F161A"/>
                </a:solidFill>
              </a:defRPr>
            </a:pPr>
            <a:r>
              <a:rPr sz="1575" b="1" i="0">
                <a:solidFill>
                  <a:srgbClr val="0F161A"/>
                </a:solidFill>
              </a:rPr>
              <a:t>AI/BI Genie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FDF4AC6-EB68-49A5-B233-2FC0BD3E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990850"/>
            <a:ext cx="2181225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Natural-language exploration over a curated semantic space.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4F585B8-7B7B-4FED-A210-C58021E1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562225" cy="3714750"/>
          </a:xfrm>
          <a:prstGeom xmlns:a="http://schemas.openxmlformats.org/drawingml/2006/main" prst="roundRect">
            <a:avLst>
              <a:gd name="adj" fmla="val 66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4CEFD78-E40F-458B-A96F-67590BB0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5622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C6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3402892-AFDC-493C-886E-F73ABDF2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9DA7AA"/>
                </a:solidFill>
              </a:defRPr>
            </a:pPr>
            <a:r>
              <a:rPr sz="975" b="1" i="0">
                <a:solidFill>
                  <a:srgbClr val="9DA7AA"/>
                </a:solidFill>
              </a:rPr>
              <a:t>03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4ADCDCB-4971-4389-AC7A-D1601656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21812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F161A"/>
                </a:solidFill>
              </a:defRPr>
            </a:pPr>
            <a:r>
              <a:rPr sz="1575" b="1" i="0">
                <a:solidFill>
                  <a:srgbClr val="0F161A"/>
                </a:solidFill>
              </a:rPr>
              <a:t>AI/BI dashboards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6AC4543-07CE-40BE-A2CD-0B9FDFF5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90850"/>
            <a:ext cx="2181225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Create and share governed interactive analysis.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73E8832-A0F1-4810-8C17-935D5DDD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809750"/>
            <a:ext cx="2562225" cy="3714750"/>
          </a:xfrm>
          <a:prstGeom xmlns:a="http://schemas.openxmlformats.org/drawingml/2006/main" prst="roundRect">
            <a:avLst>
              <a:gd name="adj" fmla="val 66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20A00E0-A963-420C-B61D-ED31E422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809750"/>
            <a:ext cx="25622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A511636-3DA3-4466-BB51-66834A67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0002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9DA7AA"/>
                </a:solidFill>
              </a:defRPr>
            </a:pPr>
            <a:r>
              <a:rPr sz="975" b="1" i="0">
                <a:solidFill>
                  <a:srgbClr val="9DA7AA"/>
                </a:solidFill>
              </a:rPr>
              <a:t>04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501560A-8397-4DD9-A4A3-1D2B682E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362200"/>
            <a:ext cx="21812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F161A"/>
                </a:solidFill>
              </a:defRPr>
            </a:pPr>
            <a:r>
              <a:rPr sz="1575" b="1" i="0">
                <a:solidFill>
                  <a:srgbClr val="0F161A"/>
                </a:solidFill>
              </a:rPr>
              <a:t>AI Functions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3C8205F-2DAB-4FA2-9D03-B1180BEC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990850"/>
            <a:ext cx="2181225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Apply supported models from SQL for classification, extraction, and summarization.</a:t>
            </a:r>
          </a:p>
        </p:txBody>
      </p:sp>
    </p:spTree>
    <p:extLst>
      <p:ext uri="{BB962C8B-B14F-4D97-AF65-F5344CB8AC3E}">
        <p14:creationId xmlns:p14="http://schemas.microsoft.com/office/powerpoint/2010/main" val="21266186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D4BF63-423D-4A2E-A3DC-2C705AAB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A8B3D0-02F3-4C69-86EC-030BB1A6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72160F-729E-425E-BC05-EA82415D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C16559-F4AD-4347-B425-A1726EE4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389F6E-5076-4B04-AC35-5B5832D9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55AE73-94C1-4DEE-88D8-026B8C69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A85D67-2A3B-4F2A-A6B6-D3B4B694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D06EC7-7C61-4233-B023-6007B2A2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42240E-11B6-4C78-A18A-99740606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C10BE0-BAC6-4552-AFAE-A6058821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0039EE-5285-41BD-8057-5D9344E7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133A1C-56B8-4E95-AB68-5C757F83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2C1110-D9EA-4F27-9A13-2AEAFE56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CFDDD8-DE41-423A-8385-17263A4B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D311D7-4C7D-40FA-AF88-2DD17BC7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0D7DD1-1F4F-415E-BACB-AACFC0AA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317410-402C-49B1-9E75-25BB0C7F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F1C70D-113B-4CDA-9E78-80B5D21F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64AB5F-6373-4736-B066-D5D91C1C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B07845-2012-4E0A-9242-770E298F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906F06-2D27-4575-8B3E-331577B5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EBBD5B-2B0E-4662-9270-49690823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FDA0CA-C528-4C23-B301-0FBE97D2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B52B27-5349-4789-927D-4DDB3FEF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05485E-EFC9-4E0B-9A34-A9A68C1A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693A55-0149-461F-A3F0-1134528F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987502-D48F-4C2D-B975-48EA398F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77958E-E579-4EDB-BD7D-57DDE6E2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91dc0fab074bf2">
            <a:extLst>
              <a:ext uri="{96DAC541-7B7A-43D3-8B79-37D633B846F1}">
                <asvg:svgBlip xmlns:asvg="http://schemas.microsoft.com/office/drawing/2016/SVG/main" r:embed="R423e2ec53e744be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8214BF-C38B-4E17-BDCD-83177C84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7B52AE-E804-46CF-A5EC-5B649998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08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829699-BAAA-422F-B35D-55379BBC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9DA7AA"/>
                </a:solidFill>
              </a:defRPr>
            </a:pPr>
            <a:r>
              <a:rPr sz="675" b="0" i="0">
                <a:solidFill>
                  <a:srgbClr val="9DA7AA"/>
                </a:solidFill>
              </a:rPr>
              <a:t>Databricks sample data: https://docs.databricks.com/aws/en/discover/databricks-datasets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093F8A-0AEB-49C2-BED4-063F1897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7A7050-13E9-4E3F-98E2-8A2E7ACC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HANDS-ON SQL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448B73-69AE-4F3A-8BBC-BAD5003C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Query a built-in sample — no upload required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ACD3A0-EBA2-4B4E-A8E4-92D534AF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239000" cy="419100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0F16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ACF5A1-68E1-4C60-9FC7-D303EA27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23900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631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C3EDA1-A97A-4C08-A3E0-0090254F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BC6BF"/>
                </a:solidFill>
              </a:defRPr>
            </a:pPr>
            <a:r>
              <a:rPr sz="900" b="1" i="0">
                <a:solidFill>
                  <a:srgbClr val="2BC6BF"/>
                </a:solidFill>
              </a:rPr>
              <a:t>DATABRICKS SQL — COPY / PASTE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A9A2A9-1258-4FC3-AF3A-CE9C44D3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6781800" cy="3562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SELECT pickup_zip,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       COUNT(*) AS trips,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       ROUND(AVG(fare_amount), 2) AS avg_fare,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       ROUND(AVG(trip_distance), 2) AS avg_distance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FROM samples.nyctaxi.trips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WHERE trip_distance &gt; 0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GROUP BY pickup_zip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ORDER BY trips DESC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LIMIT 10;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9C1C7E0-5CAD-4C1B-9B6B-938F3A06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52600"/>
            <a:ext cx="3257550" cy="1847850"/>
          </a:xfrm>
          <a:prstGeom xmlns:a="http://schemas.openxmlformats.org/drawingml/2006/main" prst="roundRect">
            <a:avLst>
              <a:gd name="adj" fmla="val 9278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BB7C86-BA01-4CC1-B272-A62E61A4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52600"/>
            <a:ext cx="76200" cy="1847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BB931B3-613C-4076-A3A5-38FD156D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240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39200"/>
                </a:solidFill>
              </a:defRPr>
            </a:pPr>
            <a:r>
              <a:rPr sz="1500" b="1" i="0">
                <a:solidFill>
                  <a:srgbClr val="F39200"/>
                </a:solidFill>
              </a:rPr>
              <a:t>Checkpoint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0296E87-6DDD-43E3-8645-D74DC717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05050"/>
            <a:ext cx="2800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A 10-row result appears. Record warehouse, run time, row count, and the exact query.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2850CA4-1DF1-4E8C-BC7C-59D970D9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90950"/>
            <a:ext cx="3257550" cy="2152650"/>
          </a:xfrm>
          <a:prstGeom xmlns:a="http://schemas.openxmlformats.org/drawingml/2006/main" prst="roundRect">
            <a:avLst>
              <a:gd name="adj" fmla="val 7965"/>
            </a:avLst>
          </a:prstGeom>
          <a:solidFill xmlns:a="http://schemas.openxmlformats.org/drawingml/2006/main">
            <a:srgbClr val="E9EDFA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EFE8DAD-FADD-4D77-B5D6-706ED5F5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90950"/>
            <a:ext cx="76200" cy="2152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EC6BD85-C7B9-4928-9EA6-2E6F14AB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624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53AD"/>
                </a:solidFill>
              </a:defRPr>
            </a:pPr>
            <a:r>
              <a:rPr sz="1500" b="1" i="0">
                <a:solidFill>
                  <a:srgbClr val="3453AD"/>
                </a:solidFill>
              </a:rPr>
              <a:t>Safe use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67A0C2F-ECA1-4D4B-A167-669626A9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43400"/>
            <a:ext cx="28003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Sample schemas can evolve. If the table is unavailable, browse Catalog → samples and select another documented sample.</a:t>
            </a:r>
          </a:p>
        </p:txBody>
      </p:sp>
    </p:spTree>
    <p:extLst>
      <p:ext uri="{BB962C8B-B14F-4D97-AF65-F5344CB8AC3E}">
        <p14:creationId xmlns:p14="http://schemas.microsoft.com/office/powerpoint/2010/main" val="7686903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C87A8F-D9CF-49BC-8F67-EAF02F3C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392323-B4F0-4F91-8A4F-338FC19E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21CB5E-D00E-4528-9134-465FF1C7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2E5472-7057-4B89-A560-A1AD1F29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E4B44E-0F15-4004-9947-69A04C28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4CFCA5-F5E3-4759-8272-5F0F0494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6CB479-26FE-410E-BB92-EA65CC87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68C407-09AD-48CB-BA8B-EF8A8727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2CA24A-D765-478C-9968-5B833C9A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C059A5-F235-42A7-A0B2-AF39701F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C73168-46C5-4A5A-9CC0-B01FFE3B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F752D9-DE36-445D-A5FE-63B33494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593144-7DFA-45F5-95C3-9101EE5F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F3E4A6-DCC6-40EC-8272-DD13A7F8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ADEB97-56A1-4FF6-B2C9-155AE24C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CC3059-F724-4AAE-B668-8C3F6570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733F8E-4614-4CA4-8F0E-53863DC3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D7BCCD-6055-4658-928A-2796D1E4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DBF59D-094D-4043-A07E-469F1FA4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331D6E-4E6A-41FF-9FDD-2E8F7D5C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911F5E-8CB1-460B-9D9D-B616BDE8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E40DF1-1E49-40CD-BBB8-0C9D9388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607EB7-1D9E-4766-8E0F-588A2798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71C404-E62E-4D11-BCB4-1E4581E7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AD136B-867F-41E4-9F34-330C19CF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A98185-4B54-48A4-909B-8F006445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94D0E3-08FC-4992-BB15-811DC43D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CB6E31-89B9-44CF-8645-2AE52A03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a9eb83da68438a">
            <a:extLst>
              <a:ext uri="{96DAC541-7B7A-43D3-8B79-37D633B846F1}">
                <asvg:svgBlip xmlns:asvg="http://schemas.microsoft.com/office/drawing/2016/SVG/main" r:embed="R6a418b0dfb5e478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D15BAF-001C-4DA1-A8BF-EDD96381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0F1818-7BBE-461C-A79B-3FE24934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09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5CED7A-4B2D-45A2-9AAE-7334816B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579849-4FD8-4B36-B2E2-1BC90C23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GENIE CODE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16FDA4-50B5-42A6-AFDE-350B3A4C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Use the assistant to improve — then verify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F58EEC-F122-4949-90E2-93EF4884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239000" cy="419100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0F16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0DD351-4737-45F1-807E-ED66142D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23900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631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863D7C-BECE-4920-8803-4AAD04E9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BC6BF"/>
                </a:solidFill>
              </a:defRPr>
            </a:pPr>
            <a:r>
              <a:rPr sz="900" b="1" i="0">
                <a:solidFill>
                  <a:srgbClr val="2BC6BF"/>
                </a:solidFill>
              </a:rPr>
              <a:t>PROMPT — COPY / PASTE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3D03F4-1F3E-4A26-920A-0D236DC5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6781800" cy="3562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Using samples.nyctaxi.trips, write one SQL query that: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1. profiles row count, date range, null pickup ZIPs,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   non-positive distance, and non-positive fare;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2. returns monthly trips and average fare;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3. comments every business assumption.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Do not invent columns. First inspect the table schema.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2237EB-4880-48E0-8F16-C1010D94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52600"/>
            <a:ext cx="3257550" cy="1847850"/>
          </a:xfrm>
          <a:prstGeom xmlns:a="http://schemas.openxmlformats.org/drawingml/2006/main" prst="roundRect">
            <a:avLst>
              <a:gd name="adj" fmla="val 9278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2D5EC2-3E7F-42FC-B8C7-2F36F066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52600"/>
            <a:ext cx="76200" cy="1847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1AEA5E6-5DD2-4115-939B-56671968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240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39200"/>
                </a:solidFill>
              </a:defRPr>
            </a:pPr>
            <a:r>
              <a:rPr sz="1500" b="1" i="0">
                <a:solidFill>
                  <a:srgbClr val="F39200"/>
                </a:solidFill>
              </a:rPr>
              <a:t>Checkpoint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392774-6B8C-4061-936C-009E8391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05050"/>
            <a:ext cx="2800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Compare generated column names to the catalog, run the query, and challenge any filtered rows or date assumptions.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AC34EFB-2343-49C2-A6D5-A8416F34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90950"/>
            <a:ext cx="3257550" cy="2152650"/>
          </a:xfrm>
          <a:prstGeom xmlns:a="http://schemas.openxmlformats.org/drawingml/2006/main" prst="roundRect">
            <a:avLst>
              <a:gd name="adj" fmla="val 7965"/>
            </a:avLst>
          </a:prstGeom>
          <a:solidFill xmlns:a="http://schemas.openxmlformats.org/drawingml/2006/main">
            <a:srgbClr val="E9EDFA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82F748F-E046-43BD-B244-EDD6416F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90950"/>
            <a:ext cx="76200" cy="2152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908DACE-B5DE-4F6C-8CBD-815891DA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624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53AD"/>
                </a:solidFill>
              </a:defRPr>
            </a:pPr>
            <a:r>
              <a:rPr sz="1500" b="1" i="0">
                <a:solidFill>
                  <a:srgbClr val="3453AD"/>
                </a:solidFill>
              </a:rPr>
              <a:t>Safe use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0A0393A-3E1B-491E-A177-A126E883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43400"/>
            <a:ext cx="28003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The assistant can draft SQL; execution results and business interpretation remain the analyst’s responsibility.</a:t>
            </a:r>
          </a:p>
        </p:txBody>
      </p:sp>
    </p:spTree>
    <p:extLst>
      <p:ext uri="{BB962C8B-B14F-4D97-AF65-F5344CB8AC3E}">
        <p14:creationId xmlns:p14="http://schemas.microsoft.com/office/powerpoint/2010/main" val="13007918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8A5E3D-8E35-4F28-B705-6C3C59BF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A9F5F7-F73C-46F4-AB94-740535C1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230CCE-F4B1-4344-9AE1-27DAE2A9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86421C-697C-4675-97CD-97AB5B7A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C51AC-6E9A-4B9B-8CB5-EC1303F0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E0A9B-AC44-4824-9EE8-B3DF6B14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2A444B-2AEF-4F89-B9E9-888A9127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7F9F8C-51E0-4380-BDC4-27FB0D9E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8EE3F4-446E-4D1D-9E84-1489FB44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9E84D0-43AC-470B-9568-631B71C4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1EC7A3-095B-42E2-A83A-87E42166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639C31-E80E-4441-9B39-17F3992E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E3F855-BFD2-4CC7-94E8-84A1FE0E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CEA5EF-5FBC-40CB-AAFB-DF2DAC32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0BF0DF-6523-41E1-B675-1B128A98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55CCAE-C514-4128-8F03-2A9BC0F8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5EB2C7-8794-47A8-A50B-243E6B21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4DB326-84FA-46EC-BE66-DDC24F82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1A3196-04EB-4FFB-9DCD-3C253FEB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2C2917-73AA-48B4-AFBC-1FAB3939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82CEE0-0984-4EC1-A788-4BA0C838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1781A8-884F-459E-9A25-D110D4F4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E910B7-BC0D-4BF7-98C3-E34BC0F4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1B064F-F198-4A7F-91DE-DDB07C17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32F433-6D25-46CF-8A6F-B9B1EDF5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D020F5-FAB9-43B9-BA7F-4276683E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E4E5C3-E94C-47A8-8164-9D4FBD8B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526139-AED5-4558-A18A-51411D56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66521a9d274f7c">
            <a:extLst>
              <a:ext uri="{96DAC541-7B7A-43D3-8B79-37D633B846F1}">
                <asvg:svgBlip xmlns:asvg="http://schemas.microsoft.com/office/drawing/2016/SVG/main" r:embed="Rad4690cd6848421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5472E1-249E-4861-B037-1B033FDF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758499-4EAA-4DE9-B94B-D9FABE65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10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EBC474-6055-4D19-9942-53BF78EB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9DA7AA"/>
                </a:solidFill>
              </a:defRPr>
            </a:pPr>
            <a:r>
              <a:rPr sz="675" b="0" i="0">
                <a:solidFill>
                  <a:srgbClr val="9DA7AA"/>
                </a:solidFill>
              </a:rPr>
              <a:t>Tutorial: https://docs.databricks.com/aws/en/dashboards/tutorials/create-dashboard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D0D92B-FB96-4AFF-B682-BA4C0830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7FBF8C-CE05-4AD9-931B-BE21ADA8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AI/BI DASHBOARD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B5E641-D451-45BB-A546-3981A124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Turn a verified query into a dashboard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6A7B92-8376-436A-81EC-07DFB804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1992630" cy="2266950"/>
          </a:xfrm>
          <a:prstGeom xmlns:a="http://schemas.openxmlformats.org/drawingml/2006/main" prst="roundRect">
            <a:avLst>
              <a:gd name="adj" fmla="val 8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CB7F35-ED76-40A0-8623-13090368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145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CDE661-37CA-438A-9E7F-86BC76C3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145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0200C29-5E65-4A3A-891F-57C8D75E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19400"/>
            <a:ext cx="164973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161A"/>
                </a:solidFill>
              </a:defRPr>
            </a:pPr>
            <a:r>
              <a:rPr sz="1500" b="1" i="0">
                <a:solidFill>
                  <a:srgbClr val="0F161A"/>
                </a:solidFill>
              </a:rPr>
              <a:t>Create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DCE2DBA-3358-4C23-BE45-26A4B4B5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09950"/>
            <a:ext cx="164973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New → Dashboard; add a dataset.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68B6D1-7DFA-4E86-A938-5DC081D2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312420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39200"/>
                </a:solidFill>
              </a:defRPr>
            </a:pPr>
            <a:r>
              <a:rPr sz="1950" b="1" i="0">
                <a:solidFill>
                  <a:srgbClr val="F39200"/>
                </a:solidFill>
              </a:rPr>
              <a:t>→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5C3A8B-52B2-494F-B500-8C6929DA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130" y="2362200"/>
            <a:ext cx="1992630" cy="2266950"/>
          </a:xfrm>
          <a:prstGeom xmlns:a="http://schemas.openxmlformats.org/drawingml/2006/main" prst="roundRect">
            <a:avLst>
              <a:gd name="adj" fmla="val 8604"/>
            </a:avLst>
          </a:prstGeom>
          <a:solidFill xmlns:a="http://schemas.openxmlformats.org/drawingml/2006/main">
            <a:srgbClr val="E9EDFA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C72DBCF-048C-42A7-8F36-EBD66E3C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21145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D142507-BF45-4FE6-BD5E-BC9467C3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21145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F2F6020-A80C-4112-A69B-C5EB9C9A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2819400"/>
            <a:ext cx="164973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161A"/>
                </a:solidFill>
              </a:defRPr>
            </a:pPr>
            <a:r>
              <a:rPr sz="1500" b="1" i="0">
                <a:solidFill>
                  <a:srgbClr val="0F161A"/>
                </a:solidFill>
              </a:rPr>
              <a:t>Query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B46BDC6-250B-4C42-89C3-F036474E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3409950"/>
            <a:ext cx="164973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Paste the verified SQL and run it.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8FF2B13-7292-448B-B9F0-B2755A69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9660" y="312420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39200"/>
                </a:solidFill>
              </a:defRPr>
            </a:pPr>
            <a:r>
              <a:rPr sz="1950" b="1" i="0">
                <a:solidFill>
                  <a:srgbClr val="F39200"/>
                </a:solidFill>
              </a:rPr>
              <a:t>→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64FF9FF-E456-4B10-9BD7-923598C2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160" y="2362200"/>
            <a:ext cx="1992630" cy="2266950"/>
          </a:xfrm>
          <a:prstGeom xmlns:a="http://schemas.openxmlformats.org/drawingml/2006/main" prst="roundRect">
            <a:avLst>
              <a:gd name="adj" fmla="val 8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20DF9B2-81B4-43F3-A0C8-6C50337D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610" y="21145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CF6F08B-F19E-4267-BA92-01B87F8A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610" y="21145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F314471-9C13-41E6-B2CD-8EEC209E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610" y="2819400"/>
            <a:ext cx="164973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161A"/>
                </a:solidFill>
              </a:defRPr>
            </a:pPr>
            <a:r>
              <a:rPr sz="1500" b="1" i="0">
                <a:solidFill>
                  <a:srgbClr val="0F161A"/>
                </a:solidFill>
              </a:rPr>
              <a:t>Visualize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A9ECADB-C49C-44A7-AC38-129E8201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610" y="3409950"/>
            <a:ext cx="164973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Add a bar chart and KPI; set labels and formats.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A6FCF1D-5DBE-46AB-ADA3-641C0E38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4690" y="312420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39200"/>
                </a:solidFill>
              </a:defRPr>
            </a:pPr>
            <a:r>
              <a:rPr sz="1950" b="1" i="0">
                <a:solidFill>
                  <a:srgbClr val="F39200"/>
                </a:solidFill>
              </a:rPr>
              <a:t>→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C6A52E9-E6C5-45A0-AC4D-B33443D7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5190" y="2362200"/>
            <a:ext cx="1992630" cy="2266950"/>
          </a:xfrm>
          <a:prstGeom xmlns:a="http://schemas.openxmlformats.org/drawingml/2006/main" prst="roundRect">
            <a:avLst>
              <a:gd name="adj" fmla="val 8604"/>
            </a:avLst>
          </a:prstGeom>
          <a:solidFill xmlns:a="http://schemas.openxmlformats.org/drawingml/2006/main">
            <a:srgbClr val="E9EDFA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6383557-2D09-4F09-AFA4-DCD6F7A7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1145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837E3AD-B263-4053-8B3F-860F3515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1145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026864B-80C6-46E9-824B-93358B06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819400"/>
            <a:ext cx="164973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161A"/>
                </a:solidFill>
              </a:defRPr>
            </a:pPr>
            <a:r>
              <a:rPr sz="1500" b="1" i="0">
                <a:solidFill>
                  <a:srgbClr val="0F161A"/>
                </a:solidFill>
              </a:rPr>
              <a:t>Filter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5E6894D-2440-42FE-8EF4-805E743F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3409950"/>
            <a:ext cx="164973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Add a date or ZIP filter; test interactions.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146ADFA-4A47-4898-8DDA-DC923F5E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312420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39200"/>
                </a:solidFill>
              </a:defRPr>
            </a:pPr>
            <a:r>
              <a:rPr sz="1950" b="1" i="0">
                <a:solidFill>
                  <a:srgbClr val="F39200"/>
                </a:solidFill>
              </a:rPr>
              <a:t>→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0414C0C-653A-49AC-83AC-96730A32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0220" y="2362200"/>
            <a:ext cx="1992630" cy="2266950"/>
          </a:xfrm>
          <a:prstGeom xmlns:a="http://schemas.openxmlformats.org/drawingml/2006/main" prst="roundRect">
            <a:avLst>
              <a:gd name="adj" fmla="val 8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B487776-2B71-4C98-95CE-883B80B2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670" y="21145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DE8A245-AD44-4813-B35D-1B12359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670" y="21145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7B695DB-114D-4D04-87C5-B3D82462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670" y="2819400"/>
            <a:ext cx="164973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161A"/>
                </a:solidFill>
              </a:defRPr>
            </a:pPr>
            <a:r>
              <a:rPr sz="1500" b="1" i="0">
                <a:solidFill>
                  <a:srgbClr val="0F161A"/>
                </a:solidFill>
              </a:rPr>
              <a:t>Publish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3113997-08B4-4D9C-ABE7-E911425C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670" y="3409950"/>
            <a:ext cx="164973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Preview permissions; publish only in the training scope.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184334D-84FE-4A90-9AE6-B89E06BF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48250"/>
            <a:ext cx="74295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DFF8F6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6ED4310-EDBA-4AC9-B53C-6DEAA1F8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48250"/>
            <a:ext cx="7620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C6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FA4A000-4B32-4F96-8636-DDEBECBF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219700"/>
            <a:ext cx="697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BC6BF"/>
                </a:solidFill>
              </a:defRPr>
            </a:pPr>
            <a:r>
              <a:rPr sz="1500" b="1" i="0">
                <a:solidFill>
                  <a:srgbClr val="2BC6BF"/>
                </a:solidFill>
              </a:rPr>
              <a:t>Definition of done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C6843ED-7350-4BCC-85AE-6921E9BD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600700"/>
            <a:ext cx="697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A colleague can reproduce the query, understand the metric, and explain what the dashboard does not show.</a:t>
            </a:r>
          </a:p>
        </p:txBody>
      </p:sp>
    </p:spTree>
    <p:extLst>
      <p:ext uri="{BB962C8B-B14F-4D97-AF65-F5344CB8AC3E}">
        <p14:creationId xmlns:p14="http://schemas.microsoft.com/office/powerpoint/2010/main" val="8830772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C83B14-9809-4CAE-96ED-A73EB245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6C3716-BE27-4899-8BA4-562582DC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EA781-5192-4837-AA61-5CD4BAFC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1EAB7E-4B46-4351-A44B-839B82CC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B0775A-15A0-4982-AD8F-DE65DAA7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F7F780-F71A-4FA2-94F3-5EEC8594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74E6A-56C0-4B74-8B38-DE857362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ACF2AD-A83E-4098-AAD9-DEBE7912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DD45D-DAD7-4766-816A-C93A3971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565411-FE63-4E61-886A-CD219D88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B5BBF4-6CDF-4DF1-908F-5C55CA9C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1292EA-B483-49C3-808F-F8EA3C9E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8C98D8-E3E5-4525-8772-E1205605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72B17F-7CB1-4696-AF5A-B47F7AA5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409B4D-025E-440E-B454-B0125122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F2FB3D-EE18-4730-98FD-88F1C733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4A052D-ECC4-4C2E-9B0B-8FF56D5F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467176-BDD5-4D6D-9B5C-F12021B0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AA3C0F-63A5-4DA2-BDCF-ECC7A13A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CC85AE-4C31-4051-9089-C6550122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575B21-5DD5-4389-AA3D-86BC7319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9C9944-86E3-4AA0-9760-216E8C7B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9E588B-133C-4489-8E2E-4323AC71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F3AE09-5D8E-4209-84FE-B434025B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E68C1D-D4EE-47D9-AE52-4A155A9C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65DB85-8005-4139-8E6A-960A550F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110A99-870B-435E-B353-90A9948D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7CD039-3F0B-4A6A-A2E3-AFE1F2EC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9a9a636b9d44a1">
            <a:extLst>
              <a:ext uri="{96DAC541-7B7A-43D3-8B79-37D633B846F1}">
                <asvg:svgBlip xmlns:asvg="http://schemas.microsoft.com/office/drawing/2016/SVG/main" r:embed="R78987cc43d7a4ea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538937-9B90-498D-8492-968CB980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01E210-1DC6-447D-B82D-851BC51A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11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03FD94-D638-400B-96A4-5816F713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9DA7AA"/>
                </a:solidFill>
              </a:defRPr>
            </a:pPr>
            <a:r>
              <a:rPr sz="675" b="0" i="0">
                <a:solidFill>
                  <a:srgbClr val="9DA7AA"/>
                </a:solidFill>
              </a:rPr>
              <a:t>Databricks Git folders: https://docs.databricks.com/aws/en/repos/git-folders-concepts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63FFF5-D959-4EA8-835A-334ADE0E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96F3F9-E211-44E8-B465-F69D3A41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GIT FOLDERS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6561C6-175F-40F0-9EDF-A6B56DBD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Connect Databricks to GitHub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D59994-524D-4960-B55D-B061ADF4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1992630" cy="2266950"/>
          </a:xfrm>
          <a:prstGeom xmlns:a="http://schemas.openxmlformats.org/drawingml/2006/main" prst="roundRect">
            <a:avLst>
              <a:gd name="adj" fmla="val 8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870FDD-9986-40C2-8D08-77A88967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145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468A8C-3047-4014-8814-17BCF28D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145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FA30F8-ABFF-40EA-B7FA-84FA41C2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19400"/>
            <a:ext cx="164973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161A"/>
                </a:solidFill>
              </a:defRPr>
            </a:pPr>
            <a:r>
              <a:rPr sz="1500" b="1" i="0">
                <a:solidFill>
                  <a:srgbClr val="0F161A"/>
                </a:solidFill>
              </a:rPr>
              <a:t>Authorize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FC9221D-1903-4F3D-87B9-762B5F95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09950"/>
            <a:ext cx="164973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Add approved Git credentials or GitHub App access.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0CF5A9-EEF7-437E-A3F4-5EA609C0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312420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39200"/>
                </a:solidFill>
              </a:defRPr>
            </a:pPr>
            <a:r>
              <a:rPr sz="1950" b="1" i="0">
                <a:solidFill>
                  <a:srgbClr val="F39200"/>
                </a:solidFill>
              </a:rPr>
              <a:t>→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741AF0-91FF-4212-828B-B2899E1F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130" y="2362200"/>
            <a:ext cx="1992630" cy="2266950"/>
          </a:xfrm>
          <a:prstGeom xmlns:a="http://schemas.openxmlformats.org/drawingml/2006/main" prst="roundRect">
            <a:avLst>
              <a:gd name="adj" fmla="val 8604"/>
            </a:avLst>
          </a:prstGeom>
          <a:solidFill xmlns:a="http://schemas.openxmlformats.org/drawingml/2006/main">
            <a:srgbClr val="E9EDFA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6491534-9DF2-4E3D-927B-139A86CF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21145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D5B67CB-51D0-4953-A243-E60C3E14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21145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B11A4BF-D7B0-4874-9B3E-4997E31D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2819400"/>
            <a:ext cx="164973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161A"/>
                </a:solidFill>
              </a:defRPr>
            </a:pPr>
            <a:r>
              <a:rPr sz="1500" b="1" i="0">
                <a:solidFill>
                  <a:srgbClr val="0F161A"/>
                </a:solidFill>
              </a:rPr>
              <a:t>Clone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A81C843-57B2-431E-8B9B-F0370561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3409950"/>
            <a:ext cx="164973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Workspace → Git folder → clone the private repo.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93A0527-D079-4726-B5C9-C2835056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9660" y="312420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39200"/>
                </a:solidFill>
              </a:defRPr>
            </a:pPr>
            <a:r>
              <a:rPr sz="1950" b="1" i="0">
                <a:solidFill>
                  <a:srgbClr val="F39200"/>
                </a:solidFill>
              </a:rPr>
              <a:t>→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CA4C607-2472-4679-B4D3-CA908545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160" y="2362200"/>
            <a:ext cx="1992630" cy="2266950"/>
          </a:xfrm>
          <a:prstGeom xmlns:a="http://schemas.openxmlformats.org/drawingml/2006/main" prst="roundRect">
            <a:avLst>
              <a:gd name="adj" fmla="val 8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D06670F-2131-4D9D-9E7C-59D99652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610" y="21145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CD96EF7-A915-4952-AE24-B1116C24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610" y="21145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D0618DA-F53B-4FE6-9A4F-5F558EBD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610" y="2819400"/>
            <a:ext cx="164973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161A"/>
                </a:solidFill>
              </a:defRPr>
            </a:pPr>
            <a:r>
              <a:rPr sz="1500" b="1" i="0">
                <a:solidFill>
                  <a:srgbClr val="0F161A"/>
                </a:solidFill>
              </a:rPr>
              <a:t>Branch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C0B60B1-A676-4BAE-9425-B87CFCA0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610" y="3409950"/>
            <a:ext cx="164973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Create a workshop branch before edits.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9E35339-9F89-4649-A7DB-46245D31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4690" y="312420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39200"/>
                </a:solidFill>
              </a:defRPr>
            </a:pPr>
            <a:r>
              <a:rPr sz="1950" b="1" i="0">
                <a:solidFill>
                  <a:srgbClr val="F39200"/>
                </a:solidFill>
              </a:rPr>
              <a:t>→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C5BBABA-6971-4041-BC40-56133962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5190" y="2362200"/>
            <a:ext cx="1992630" cy="2266950"/>
          </a:xfrm>
          <a:prstGeom xmlns:a="http://schemas.openxmlformats.org/drawingml/2006/main" prst="roundRect">
            <a:avLst>
              <a:gd name="adj" fmla="val 8604"/>
            </a:avLst>
          </a:prstGeom>
          <a:solidFill xmlns:a="http://schemas.openxmlformats.org/drawingml/2006/main">
            <a:srgbClr val="E9EDFA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C3939D8-2969-4A09-9456-22BE0AF4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1145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0C4D316-93EC-421D-9ED5-5A2127F5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1145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1044DA2-2B4C-4DE0-94AA-4699C971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819400"/>
            <a:ext cx="164973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161A"/>
                </a:solidFill>
              </a:defRPr>
            </a:pPr>
            <a:r>
              <a:rPr sz="1500" b="1" i="0">
                <a:solidFill>
                  <a:srgbClr val="0F161A"/>
                </a:solidFill>
              </a:rPr>
              <a:t>Commit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BE3A9A4-7F4E-4E27-9D81-069C929F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3409950"/>
            <a:ext cx="164973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Review changed notebooks/SQL; write a meaningful message.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26B8BE1-2EE7-40B5-A7C4-AB208569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312420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39200"/>
                </a:solidFill>
              </a:defRPr>
            </a:pPr>
            <a:r>
              <a:rPr sz="1950" b="1" i="0">
                <a:solidFill>
                  <a:srgbClr val="F39200"/>
                </a:solidFill>
              </a:rPr>
              <a:t>→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8210093-A2C6-4C6D-9DA9-4E324739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0220" y="2362200"/>
            <a:ext cx="1992630" cy="2266950"/>
          </a:xfrm>
          <a:prstGeom xmlns:a="http://schemas.openxmlformats.org/drawingml/2006/main" prst="roundRect">
            <a:avLst>
              <a:gd name="adj" fmla="val 8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3CB01D5-8D02-487E-9D8F-FA0CFD22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670" y="21145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3BED697-141D-4802-BAE2-18CC8ED4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670" y="21145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746CF75-0F46-44B4-B855-E54E15FE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670" y="2819400"/>
            <a:ext cx="164973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161A"/>
                </a:solidFill>
              </a:defRPr>
            </a:pPr>
            <a:r>
              <a:rPr sz="1500" b="1" i="0">
                <a:solidFill>
                  <a:srgbClr val="0F161A"/>
                </a:solidFill>
              </a:rPr>
              <a:t>PR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5E011FF-10E5-4145-947E-B0C110CE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670" y="3409950"/>
            <a:ext cx="164973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Push and request review; merge only after tests.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8877D21-D4FA-46FA-9E44-8A3441FB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48250"/>
            <a:ext cx="74295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DFF8F6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8B8F304-A91F-40D8-8A39-EC12BB6E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48250"/>
            <a:ext cx="7620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C6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0A4A5AE-D4ED-4531-B1B5-F4A96C5D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219700"/>
            <a:ext cx="697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BC6BF"/>
                </a:solidFill>
              </a:defRPr>
            </a:pPr>
            <a:r>
              <a:rPr sz="1500" b="1" i="0">
                <a:solidFill>
                  <a:srgbClr val="2BC6BF"/>
                </a:solidFill>
              </a:rPr>
              <a:t>Scope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EC3300F-446E-4E13-B2EE-1516C662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600700"/>
            <a:ext cx="697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Git folders version workspace files. Data and secrets stay outside Git.</a:t>
            </a:r>
          </a:p>
        </p:txBody>
      </p:sp>
    </p:spTree>
    <p:extLst>
      <p:ext uri="{BB962C8B-B14F-4D97-AF65-F5344CB8AC3E}">
        <p14:creationId xmlns:p14="http://schemas.microsoft.com/office/powerpoint/2010/main" val="18364216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FB3B70-0B7A-46E4-980B-D984F8E7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0ED689-33EA-475C-BF14-B77834FF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AEBB48-498C-4CAF-A88C-09F0C5CA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037AB4-4859-468C-A1F7-7BC5E087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D7EC8F-1952-445A-8911-D0ABF8B2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A2BC29-442B-43CF-9EBF-A7EDE00C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D3293F-62D3-4BC3-BD0B-81BFA1B0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462F84-DFE3-437F-AAEB-17FBB732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82BA2D-7215-49AE-B222-FF7B80AF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7CDABE-009A-4F25-958A-94B7F0C7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4CBEA1-48B3-4F0A-91C3-49A6AD20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DDDF91-8298-4F0F-B7CF-495CD21F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66BE0E-1737-4145-8785-B6FE8944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6FE846-1D51-4070-B11C-07EE32E0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499FCA-7ABB-436D-8E23-3FD46107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8F3B0F-BB11-4F19-BF01-F89B75F8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C4FFF0-92EA-44D5-8C0C-B608E9E6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E54046-5E89-452C-AF95-B6AEEBFD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E4B423-5AA3-4230-B1C9-3FC52C73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8CF09C-D7D3-45E4-9874-61792C42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88DED3-C313-4C7D-9C70-7E8219EB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9912A9-6140-4858-9CE3-465BF73E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FA882A-5DBB-4300-A5DE-FFE4D394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7659C7-B60D-4BE2-9208-9A8A7AA1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79E8D2-15D7-4414-BDC0-61D6AD08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24B586-5AE6-44C4-82FB-EBD11A61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59AB7F-FF53-437A-A37E-801E7098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1098B5-FE26-4F67-8CF2-A7A5ABCA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07123a804143ad">
            <a:extLst>
              <a:ext uri="{96DAC541-7B7A-43D3-8B79-37D633B846F1}">
                <asvg:svgBlip xmlns:asvg="http://schemas.microsoft.com/office/drawing/2016/SVG/main" r:embed="R9f0e892954f7491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31E634-F05A-47F8-B7F0-F35D7586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9E3933-721F-4B95-A128-FF284A90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12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B913D8-11AB-4EE5-8415-EFEEC7EC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9DA7AA"/>
                </a:solidFill>
              </a:defRPr>
            </a:pPr>
            <a:r>
              <a:rPr sz="675" b="0" i="0">
                <a:solidFill>
                  <a:srgbClr val="9DA7AA"/>
                </a:solidFill>
              </a:rPr>
              <a:t>Databricks scikit-learn guidance: https://docs.databricks.com/aws/en/machine-learning/train-model/scikit-learn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AAD943-EC6B-45CC-BC87-732FF3AA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D3E905-6987-488D-9CF7-AEAB2E6E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CLASSIFICATION DEMO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274C18-5DC8-4357-977E-EEF4BBB8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Train a tiny neural classifier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7A5B61-A471-4787-97F9-BFBCD8D5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239000" cy="419100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0F16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79B3EC-DB42-4B18-A31B-D2B3B856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23900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631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A096E4-3ACF-4118-8F79-254B5323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BC6BF"/>
                </a:solidFill>
              </a:defRPr>
            </a:pPr>
            <a:r>
              <a:rPr sz="900" b="1" i="0">
                <a:solidFill>
                  <a:srgbClr val="2BC6BF"/>
                </a:solidFill>
              </a:rPr>
              <a:t>PYTHON — COPY / PASTE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ACDC88C-9FDC-4909-B8CE-872AE208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6781800" cy="3562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F1F5F5"/>
                </a:solidFill>
              </a:defRPr>
            </a:pPr>
            <a:r>
              <a:rPr sz="1050" b="0" i="0">
                <a:solidFill>
                  <a:srgbClr val="F1F5F5"/>
                </a:solidFill>
              </a:rPr>
              <a:t>from sklearn.datasets import load_breast_cancer</a:t>
            </a:r>
          </a:p>
          <a:p xmlns:a="http://schemas.openxmlformats.org/drawingml/2006/main">
            <a:pPr algn="l">
              <a:defRPr sz="1050" b="0" i="0">
                <a:solidFill>
                  <a:srgbClr val="F1F5F5"/>
                </a:solidFill>
              </a:defRPr>
            </a:pPr>
            <a:r>
              <a:rPr sz="1050" b="0" i="0">
                <a:solidFill>
                  <a:srgbClr val="F1F5F5"/>
                </a:solidFill>
              </a:rPr>
              <a:t>from sklearn.model_selection import train_test_split</a:t>
            </a:r>
          </a:p>
          <a:p xmlns:a="http://schemas.openxmlformats.org/drawingml/2006/main">
            <a:pPr algn="l">
              <a:defRPr sz="1050" b="0" i="0">
                <a:solidFill>
                  <a:srgbClr val="F1F5F5"/>
                </a:solidFill>
              </a:defRPr>
            </a:pPr>
            <a:r>
              <a:rPr sz="1050" b="0" i="0">
                <a:solidFill>
                  <a:srgbClr val="F1F5F5"/>
                </a:solidFill>
              </a:rPr>
              <a:t>from sklearn.pipeline import make_pipeline</a:t>
            </a:r>
          </a:p>
          <a:p xmlns:a="http://schemas.openxmlformats.org/drawingml/2006/main">
            <a:pPr algn="l">
              <a:defRPr sz="1050" b="0" i="0">
                <a:solidFill>
                  <a:srgbClr val="F1F5F5"/>
                </a:solidFill>
              </a:defRPr>
            </a:pPr>
            <a:r>
              <a:rPr sz="1050" b="0" i="0">
                <a:solidFill>
                  <a:srgbClr val="F1F5F5"/>
                </a:solidFill>
              </a:rPr>
              <a:t>from sklearn.preprocessing import StandardScaler</a:t>
            </a:r>
          </a:p>
          <a:p xmlns:a="http://schemas.openxmlformats.org/drawingml/2006/main">
            <a:pPr algn="l">
              <a:defRPr sz="1050" b="0" i="0">
                <a:solidFill>
                  <a:srgbClr val="F1F5F5"/>
                </a:solidFill>
              </a:defRPr>
            </a:pPr>
            <a:r>
              <a:rPr sz="1050" b="0" i="0">
                <a:solidFill>
                  <a:srgbClr val="F1F5F5"/>
                </a:solidFill>
              </a:rPr>
              <a:t>from sklearn.neural_network import MLPClassifier</a:t>
            </a:r>
          </a:p>
          <a:p xmlns:a="http://schemas.openxmlformats.org/drawingml/2006/main">
            <a:pPr algn="l">
              <a:defRPr sz="1050" b="0" i="0">
                <a:solidFill>
                  <a:srgbClr val="F1F5F5"/>
                </a:solidFill>
              </a:defRPr>
            </a:pPr>
            <a:r>
              <a:rPr sz="1050" b="0" i="0">
                <a:solidFill>
                  <a:srgbClr val="F1F5F5"/>
                </a:solidFill>
              </a:rPr>
              <a:t>from sklearn.metrics import accuracy_score, confusion_matrix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 i="0">
                <a:solidFill>
                  <a:srgbClr val="F1F5F5"/>
                </a:solidFill>
              </a:defRPr>
            </a:pPr>
            <a:r>
              <a:rPr sz="1050" b="0" i="0">
                <a:solidFill>
                  <a:srgbClr val="F1F5F5"/>
                </a:solidFill>
              </a:rPr>
              <a:t>X, y = load_breast_cancer(return_X_y=True)</a:t>
            </a:r>
          </a:p>
          <a:p xmlns:a="http://schemas.openxmlformats.org/drawingml/2006/main">
            <a:pPr algn="l">
              <a:defRPr sz="1050" b="0" i="0">
                <a:solidFill>
                  <a:srgbClr val="F1F5F5"/>
                </a:solidFill>
              </a:defRPr>
            </a:pPr>
            <a:r>
              <a:rPr sz="1050" b="0" i="0">
                <a:solidFill>
                  <a:srgbClr val="F1F5F5"/>
                </a:solidFill>
              </a:rPr>
              <a:t>Xtr, Xte, ytr, yte = train_test_split(</a:t>
            </a:r>
          </a:p>
          <a:p xmlns:a="http://schemas.openxmlformats.org/drawingml/2006/main">
            <a:pPr algn="l">
              <a:defRPr sz="1050" b="0" i="0">
                <a:solidFill>
                  <a:srgbClr val="F1F5F5"/>
                </a:solidFill>
              </a:defRPr>
            </a:pPr>
            <a:r>
              <a:rPr sz="1050" b="0" i="0">
                <a:solidFill>
                  <a:srgbClr val="F1F5F5"/>
                </a:solidFill>
              </a:rPr>
              <a:t>    X, y, test_size=.25, random_state=42, stratify=y)</a:t>
            </a:r>
          </a:p>
          <a:p xmlns:a="http://schemas.openxmlformats.org/drawingml/2006/main">
            <a:pPr algn="l">
              <a:defRPr sz="1050" b="0" i="0">
                <a:solidFill>
                  <a:srgbClr val="F1F5F5"/>
                </a:solidFill>
              </a:defRPr>
            </a:pPr>
            <a:r>
              <a:rPr sz="1050" b="0" i="0">
                <a:solidFill>
                  <a:srgbClr val="F1F5F5"/>
                </a:solidFill>
              </a:rPr>
              <a:t>model = make_pipeline(StandardScaler(),</a:t>
            </a:r>
          </a:p>
          <a:p xmlns:a="http://schemas.openxmlformats.org/drawingml/2006/main">
            <a:pPr algn="l">
              <a:defRPr sz="1050" b="0" i="0">
                <a:solidFill>
                  <a:srgbClr val="F1F5F5"/>
                </a:solidFill>
              </a:defRPr>
            </a:pPr>
            <a:r>
              <a:rPr sz="1050" b="0" i="0">
                <a:solidFill>
                  <a:srgbClr val="F1F5F5"/>
                </a:solidFill>
              </a:rPr>
              <a:t>    MLPClassifier(hidden_layer_sizes=(32,), max_iter=1000,</a:t>
            </a:r>
          </a:p>
          <a:p xmlns:a="http://schemas.openxmlformats.org/drawingml/2006/main">
            <a:pPr algn="l">
              <a:defRPr sz="1050" b="0" i="0">
                <a:solidFill>
                  <a:srgbClr val="F1F5F5"/>
                </a:solidFill>
              </a:defRPr>
            </a:pPr>
            <a:r>
              <a:rPr sz="1050" b="0" i="0">
                <a:solidFill>
                  <a:srgbClr val="F1F5F5"/>
                </a:solidFill>
              </a:rPr>
              <a:t>                  random_state=42, early_stopping=True))</a:t>
            </a:r>
          </a:p>
          <a:p xmlns:a="http://schemas.openxmlformats.org/drawingml/2006/main">
            <a:pPr algn="l">
              <a:defRPr sz="1050" b="0" i="0">
                <a:solidFill>
                  <a:srgbClr val="F1F5F5"/>
                </a:solidFill>
              </a:defRPr>
            </a:pPr>
            <a:r>
              <a:rPr sz="1050" b="0" i="0">
                <a:solidFill>
                  <a:srgbClr val="F1F5F5"/>
                </a:solidFill>
              </a:rPr>
              <a:t>model.fit(Xtr, ytr)</a:t>
            </a:r>
          </a:p>
          <a:p xmlns:a="http://schemas.openxmlformats.org/drawingml/2006/main">
            <a:pPr algn="l">
              <a:defRPr sz="1050" b="0" i="0">
                <a:solidFill>
                  <a:srgbClr val="F1F5F5"/>
                </a:solidFill>
              </a:defRPr>
            </a:pPr>
            <a:r>
              <a:rPr sz="1050" b="0" i="0">
                <a:solidFill>
                  <a:srgbClr val="F1F5F5"/>
                </a:solidFill>
              </a:rPr>
              <a:t>pred = model.predict(Xte)</a:t>
            </a:r>
          </a:p>
          <a:p xmlns:a="http://schemas.openxmlformats.org/drawingml/2006/main">
            <a:pPr algn="l">
              <a:defRPr sz="1050" b="0" i="0">
                <a:solidFill>
                  <a:srgbClr val="F1F5F5"/>
                </a:solidFill>
              </a:defRPr>
            </a:pPr>
            <a:r>
              <a:rPr sz="1050" b="0" i="0">
                <a:solidFill>
                  <a:srgbClr val="F1F5F5"/>
                </a:solidFill>
              </a:rPr>
              <a:t>print("accuracy", round(accuracy_score(yte, pred), 3))</a:t>
            </a:r>
          </a:p>
          <a:p xmlns:a="http://schemas.openxmlformats.org/drawingml/2006/main">
            <a:pPr algn="l">
              <a:defRPr sz="1050" b="0" i="0">
                <a:solidFill>
                  <a:srgbClr val="F1F5F5"/>
                </a:solidFill>
              </a:defRPr>
            </a:pPr>
            <a:r>
              <a:rPr sz="1050" b="0" i="0">
                <a:solidFill>
                  <a:srgbClr val="F1F5F5"/>
                </a:solidFill>
              </a:rPr>
              <a:t>print(confusion_matrix(yte, pred))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D83275E-02E3-466F-A155-4B23875E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52600"/>
            <a:ext cx="3257550" cy="1847850"/>
          </a:xfrm>
          <a:prstGeom xmlns:a="http://schemas.openxmlformats.org/drawingml/2006/main" prst="roundRect">
            <a:avLst>
              <a:gd name="adj" fmla="val 9278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088A83-2DB2-4D41-8835-280D1663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52600"/>
            <a:ext cx="76200" cy="1847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29B327D-56C0-43A5-8C77-ECBB72F7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240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39200"/>
                </a:solidFill>
              </a:defRPr>
            </a:pPr>
            <a:r>
              <a:rPr sz="1500" b="1" i="0">
                <a:solidFill>
                  <a:srgbClr val="F39200"/>
                </a:solidFill>
              </a:rPr>
              <a:t>Checkpoint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140694-91CC-47AB-BEAE-5E0D59F9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05050"/>
            <a:ext cx="2800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The notebook prints an accuracy and a 2×2 confusion matrix. Re-running with seed 42 is reproducible.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C7F4328-07F0-49E1-805D-07E45506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90950"/>
            <a:ext cx="3257550" cy="2152650"/>
          </a:xfrm>
          <a:prstGeom xmlns:a="http://schemas.openxmlformats.org/drawingml/2006/main" prst="roundRect">
            <a:avLst>
              <a:gd name="adj" fmla="val 7965"/>
            </a:avLst>
          </a:prstGeom>
          <a:solidFill xmlns:a="http://schemas.openxmlformats.org/drawingml/2006/main">
            <a:srgbClr val="E9EDFA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773E813-D8DC-422B-B560-2E432BCB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90950"/>
            <a:ext cx="76200" cy="2152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94DE13F-C037-4C40-9C5A-335A576D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624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53AD"/>
                </a:solidFill>
              </a:defRPr>
            </a:pPr>
            <a:r>
              <a:rPr sz="1500" b="1" i="0">
                <a:solidFill>
                  <a:srgbClr val="3453AD"/>
                </a:solidFill>
              </a:rPr>
              <a:t>Safe use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1620F1A-7317-433D-A9D6-6DE3CED7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43400"/>
            <a:ext cx="28003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Educational dataset only. Accuracy alone is insufficient; do not use this model for clinical or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21441388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AC0935-BCFA-4975-BB59-6CEE68F5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E0DD24-655D-4140-83FA-C51C01FD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2B0D0E-018B-4AE0-A8B4-C7F4D05F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58AF0A-7214-48AD-8B72-5742047C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B8CD3F-DC82-4683-B81B-6A845996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0ED289-A53E-461A-B189-A354FC30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CF6667-B84D-471C-8EA1-76BA8D61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B62765-4CC6-4D91-9A2A-82D8F6FE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1DAF66-1CED-44CC-A9C0-D1B20733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D2D2FF-5F47-499C-8CB6-8F01D8E9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6E5EED-F6CA-4EEC-800F-DD173174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3A7655-9BF9-44E3-9308-B94C3A09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B0C718-EB1A-4802-B2D8-18BAFAF1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83DCE4-F8AA-4FA9-9603-232FD958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8AFD17-8C46-4982-B18D-8B5A1D0A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ACEF39-1454-4427-85EF-C01CE340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EFB461-C2CF-48BA-B06C-6ABE5E5A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642F7F-2AB6-4485-91C4-E36417C3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7FAEBE-BFA4-4DA7-B318-9954357E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B88AA1-A155-48B9-B381-1EBA3EEC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2F7F78-26B1-46CD-8F4A-DE99D510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9BE3BA-E087-44AA-9167-02B6C2E0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15C371-7F82-4050-88E0-929F6864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7DDFCA-FC17-4C6D-AD9E-188E29CC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95F6C6-76C4-4A5E-A6BB-B556EB3D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119D4B-E475-4E53-9AAF-3844D49B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42255C-28E0-455E-A6F4-8B9D778E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C4529-E39A-4214-BEED-FE829614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07be661a754a11">
            <a:extLst>
              <a:ext uri="{96DAC541-7B7A-43D3-8B79-37D633B846F1}">
                <asvg:svgBlip xmlns:asvg="http://schemas.microsoft.com/office/drawing/2016/SVG/main" r:embed="R98dff9346c1245d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9E793A-C924-43EA-B691-A8501B78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E5173F-EE91-49B2-901D-4C748C4E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13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B2B6E1-6730-4C2A-8010-1BC4A74E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F3F3D4-6C12-46FC-8301-12A49F08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CLASSIFICATION QA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0DD5F9-379B-4620-A6B4-A3827CC1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What an analyst must check after model.fit()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2017E6-D6E0-42D8-ADDA-3EF6EA66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40415A-CAAD-46BF-A4E7-FE7EBF01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24050"/>
            <a:ext cx="5676900" cy="635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F161A"/>
                </a:solidFill>
              </a:defRPr>
            </a:pPr>
            <a:r>
              <a:rPr sz="1350" b="0" i="0">
                <a:solidFill>
                  <a:srgbClr val="0F161A"/>
                </a:solidFill>
              </a:rPr>
              <a:t>Baseline: compare with a majority-class or simple linear model.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1F04FC-BE6C-4822-95F3-F23A320D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3329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AF948E-93F1-49A5-8581-CA7424C8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07129"/>
            <a:ext cx="5676900" cy="635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F161A"/>
                </a:solidFill>
              </a:defRPr>
            </a:pPr>
            <a:r>
              <a:rPr sz="1350" b="0" i="0">
                <a:solidFill>
                  <a:srgbClr val="0F161A"/>
                </a:solidFill>
              </a:rPr>
              <a:t>Split: keep test data unseen; use stratification for class balance.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8BE27D-E381-4837-8562-DECA597B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66407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199217-C89D-449D-8390-C5A93D6B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0207"/>
            <a:ext cx="5676900" cy="635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F161A"/>
                </a:solidFill>
              </a:defRPr>
            </a:pPr>
            <a:r>
              <a:rPr sz="1350" b="0" i="0">
                <a:solidFill>
                  <a:srgbClr val="0F161A"/>
                </a:solidFill>
              </a:rPr>
              <a:t>Leakage: ensure features would be available at prediction time.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F15A105-14CE-4288-98CB-77FA4090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49486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6C47706-CBDC-4E20-B1A2-899DBD24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73286"/>
            <a:ext cx="5676900" cy="635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F161A"/>
                </a:solidFill>
              </a:defRPr>
            </a:pPr>
            <a:r>
              <a:rPr sz="1350" b="0" i="0">
                <a:solidFill>
                  <a:srgbClr val="0F161A"/>
                </a:solidFill>
              </a:rPr>
              <a:t>Metrics: inspect precision, recall, confusion matrix, and business costs.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6A7BCE1-2BAF-4FC8-81BF-B3B9118A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32564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CDBC812-642F-4651-87F4-FFB4C1FD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56364"/>
            <a:ext cx="5676900" cy="635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F161A"/>
                </a:solidFill>
              </a:defRPr>
            </a:pPr>
            <a:r>
              <a:rPr sz="1350" b="0" i="0">
                <a:solidFill>
                  <a:srgbClr val="0F161A"/>
                </a:solidFill>
              </a:rPr>
              <a:t>Stability: vary the seed or use cross-validation.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CCD5439-B0A0-4A4C-B4DD-24880864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5643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D72B59A-1DFD-4695-9629-C7342327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39443"/>
            <a:ext cx="5676900" cy="635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F161A"/>
                </a:solidFill>
              </a:defRPr>
            </a:pPr>
            <a:r>
              <a:rPr sz="1350" b="0" i="0">
                <a:solidFill>
                  <a:srgbClr val="0F161A"/>
                </a:solidFill>
              </a:rPr>
              <a:t>Fairness and privacy: identify sensitive attributes and affected groups.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86BCC1B-C890-439F-B92D-2C4A073C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8721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8E8A9F4-1BA1-46DB-99F4-F9D9DFB9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22521"/>
            <a:ext cx="5676900" cy="635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F161A"/>
                </a:solidFill>
              </a:defRPr>
            </a:pPr>
            <a:r>
              <a:rPr sz="1350" b="0" i="0">
                <a:solidFill>
                  <a:srgbClr val="0F161A"/>
                </a:solidFill>
              </a:rPr>
              <a:t>Deployment: define monitoring, retraining, rollback, and human escalation.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B88C0DD-1F59-42CF-A68E-AE5759E9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62150"/>
            <a:ext cx="4095750" cy="32004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CE8E9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037E482-46E7-4741-9826-B8232450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62150"/>
            <a:ext cx="76200" cy="3200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7E1F225-35AA-448E-AC01-E41857F8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33600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E5484D"/>
                </a:solidFill>
              </a:defRPr>
            </a:pPr>
            <a:r>
              <a:rPr sz="1500" b="1" i="0">
                <a:solidFill>
                  <a:srgbClr val="E5484D"/>
                </a:solidFill>
              </a:rPr>
              <a:t>Key lesson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D69B37A-B45C-4590-8F88-890CC503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14600"/>
            <a:ext cx="363855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A neural network is easy to call. A defensible decision process is the real work.</a:t>
            </a:r>
          </a:p>
        </p:txBody>
      </p:sp>
    </p:spTree>
    <p:extLst>
      <p:ext uri="{BB962C8B-B14F-4D97-AF65-F5344CB8AC3E}">
        <p14:creationId xmlns:p14="http://schemas.microsoft.com/office/powerpoint/2010/main" val="28162406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75488F-85B2-4787-8ACC-02019381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C6D917-5270-4B0A-900A-C4AE9911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2FE407-3F4A-4FF7-886F-BDC0AB12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4129C7-707D-4054-B7D2-E2C5C42C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648F18-6F31-49F2-8399-713D4DA7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E5B103-F589-4530-91CF-D578023F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0CD9D-F762-4AE1-A4BA-93A02A7E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9E3C09-EF79-46E0-841B-4D41A693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71E9F1-845C-47D3-804F-896BE86F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AB8930-4420-4681-ABE4-501E8C2D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BA5AC9-5DB9-4866-8A23-75D5168A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CE887F-D183-46C2-AE5A-7A88091A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E9D171-B1E3-42AE-AFD9-77388122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8EBADE-8F67-4315-B080-EBAF8A6E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01C294-CFDD-48ED-A7B3-013DB1C9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F1E8A4-EEA5-47C1-9C7E-8E75C2EC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7964E7-861D-4702-AD3D-30F87712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7D1E1C-6652-43E8-9D7A-3EC5F60E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47579A-3CDC-4E30-AB44-367A1765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88CF23-863F-4FB1-A333-A7773A22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E432C7-D4A7-40A3-9C48-D3EE1F03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601825-AAE0-41B2-9089-F56FD40F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E22883-6B0A-49F5-9830-E2165A21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41FEE2-74E9-4981-9385-7C4C285A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4D977A-9D95-400F-91E1-923C6D8A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9C4020-4390-4812-9253-A1FF6C3F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604C1A-AA2D-4C9C-8639-E30E79ED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90EEA7-EE7D-4723-A033-5CA03593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3dbb8f7aa346a8">
            <a:extLst>
              <a:ext uri="{96DAC541-7B7A-43D3-8B79-37D633B846F1}">
                <asvg:svgBlip xmlns:asvg="http://schemas.microsoft.com/office/drawing/2016/SVG/main" r:embed="Rfb64134c09334ef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19E0D4-E609-43CB-BCD8-13777883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4D1641-CC81-4E78-BDF1-1F4D7B5C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5C7166-EC06-487E-88D3-1E24E8AF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E17E90-52A6-466D-BB63-2A71C74B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TINY LANGUAGE MODEL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C48AFC-1D00-41EC-98AA-CA680AE0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Build a next-character neural model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3C3D3B-4BB2-45C9-8D84-60ABD378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239000" cy="419100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0F16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09F0E9-FBFC-42E8-97BF-8F9E8AA1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23900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631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4BEB64-FFD5-4567-B8B8-D71663CD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BC6BF"/>
                </a:solidFill>
              </a:defRPr>
            </a:pPr>
            <a:r>
              <a:rPr sz="900" b="1" i="0">
                <a:solidFill>
                  <a:srgbClr val="2BC6BF"/>
                </a:solidFill>
              </a:rPr>
              <a:t>PYTHON — COPY / PASTE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0BF4DB-37E1-48EB-B934-7040011B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6781800" cy="3562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1F5F5"/>
                </a:solidFill>
              </a:defRPr>
            </a:pPr>
            <a:r>
              <a:rPr sz="975" b="0" i="0">
                <a:solidFill>
                  <a:srgbClr val="F1F5F5"/>
                </a:solidFill>
              </a:rPr>
              <a:t>from sklearn.neural_network import MLPClassifier</a:t>
            </a:r>
          </a:p>
          <a:p xmlns:a="http://schemas.openxmlformats.org/drawingml/2006/main">
            <a:pPr algn="l">
              <a:defRPr sz="975" b="0" i="0">
                <a:solidFill>
                  <a:srgbClr val="F1F5F5"/>
                </a:solidFill>
              </a:defRPr>
            </a:pPr>
            <a:r>
              <a:rPr sz="975" b="0" i="0">
                <a:solidFill>
                  <a:srgbClr val="F1F5F5"/>
                </a:solidFill>
              </a:rPr>
              <a:t>from sklearn.preprocessing import OneHotEncoder</a:t>
            </a:r>
          </a:p>
          <a:p xmlns:a="http://schemas.openxmlformats.org/drawingml/2006/main">
            <a:pPr algn="l">
              <a:defRPr sz="975" b="0" i="0">
                <a:solidFill>
                  <a:srgbClr val="F1F5F5"/>
                </a:solidFill>
              </a:defRPr>
            </a:pPr>
            <a:r>
              <a:rPr sz="975" b="0" i="0">
                <a:solidFill>
                  <a:srgbClr val="F1F5F5"/>
                </a:solidFill>
              </a:rPr>
              <a:t>import numpy as np</a:t>
            </a:r>
          </a:p>
          <a:p xmlns:a="http://schemas.openxmlformats.org/drawingml/2006/main">
            <a:pPr algn="l">
              <a:defRPr sz="975" b="0" i="0">
                <a:solidFill>
                  <a:srgbClr val="F1F5F5"/>
                </a:solidFill>
              </a:defRPr>
            </a:pPr>
            <a:r>
              <a:rPr sz="975" b="0" i="0">
                <a:solidFill>
                  <a:srgbClr val="F1F5F5"/>
                </a:solidFill>
              </a:rPr>
              <a:t>text = ("data quality before dashboard delivery. " * 60).lower()</a:t>
            </a:r>
          </a:p>
          <a:p xmlns:a="http://schemas.openxmlformats.org/drawingml/2006/main">
            <a:pPr algn="l">
              <a:defRPr sz="975" b="0" i="0">
                <a:solidFill>
                  <a:srgbClr val="F1F5F5"/>
                </a:solidFill>
              </a:defRPr>
            </a:pPr>
            <a:r>
              <a:rPr sz="975" b="0" i="0">
                <a:solidFill>
                  <a:srgbClr val="F1F5F5"/>
                </a:solidFill>
              </a:rPr>
              <a:t>ctx = 6</a:t>
            </a:r>
          </a:p>
          <a:p xmlns:a="http://schemas.openxmlformats.org/drawingml/2006/main">
            <a:pPr algn="l">
              <a:defRPr sz="975" b="0" i="0">
                <a:solidFill>
                  <a:srgbClr val="F1F5F5"/>
                </a:solidFill>
              </a:defRPr>
            </a:pPr>
            <a:r>
              <a:rPr sz="975" b="0" i="0">
                <a:solidFill>
                  <a:srgbClr val="F1F5F5"/>
                </a:solidFill>
              </a:rPr>
              <a:t>X = [list(text[i:i+ctx]) for i in range(len(text)-ctx)]</a:t>
            </a:r>
          </a:p>
          <a:p xmlns:a="http://schemas.openxmlformats.org/drawingml/2006/main">
            <a:pPr algn="l">
              <a:defRPr sz="975" b="0" i="0">
                <a:solidFill>
                  <a:srgbClr val="F1F5F5"/>
                </a:solidFill>
              </a:defRPr>
            </a:pPr>
            <a:r>
              <a:rPr sz="975" b="0" i="0">
                <a:solidFill>
                  <a:srgbClr val="F1F5F5"/>
                </a:solidFill>
              </a:rPr>
              <a:t>y = [text[i+ctx] for i in range(len(text)-ctx)]</a:t>
            </a:r>
          </a:p>
          <a:p xmlns:a="http://schemas.openxmlformats.org/drawingml/2006/main">
            <a:pPr algn="l">
              <a:defRPr sz="975" b="0" i="0">
                <a:solidFill>
                  <a:srgbClr val="F1F5F5"/>
                </a:solidFill>
              </a:defRPr>
            </a:pPr>
            <a:r>
              <a:rPr sz="975" b="0" i="0">
                <a:solidFill>
                  <a:srgbClr val="F1F5F5"/>
                </a:solidFill>
              </a:rPr>
              <a:t>enc = OneHotEncoder(handle_unknown="ignore", sparse_output=False)</a:t>
            </a:r>
          </a:p>
          <a:p xmlns:a="http://schemas.openxmlformats.org/drawingml/2006/main">
            <a:pPr algn="l">
              <a:defRPr sz="975" b="0" i="0">
                <a:solidFill>
                  <a:srgbClr val="F1F5F5"/>
                </a:solidFill>
              </a:defRPr>
            </a:pPr>
            <a:r>
              <a:rPr sz="975" b="0" i="0">
                <a:solidFill>
                  <a:srgbClr val="F1F5F5"/>
                </a:solidFill>
              </a:rPr>
              <a:t>Xv = enc.fit_transform(X)</a:t>
            </a:r>
          </a:p>
          <a:p xmlns:a="http://schemas.openxmlformats.org/drawingml/2006/main">
            <a:pPr algn="l">
              <a:defRPr sz="975" b="0" i="0">
                <a:solidFill>
                  <a:srgbClr val="F1F5F5"/>
                </a:solidFill>
              </a:defRPr>
            </a:pPr>
            <a:r>
              <a:rPr sz="975" b="0" i="0">
                <a:solidFill>
                  <a:srgbClr val="F1F5F5"/>
                </a:solidFill>
              </a:rPr>
              <a:t>chars = sorted(set(y)); to_id = {c:i for i,c in enumerate(chars)}</a:t>
            </a:r>
          </a:p>
          <a:p xmlns:a="http://schemas.openxmlformats.org/drawingml/2006/main">
            <a:pPr algn="l">
              <a:defRPr sz="975" b="0" i="0">
                <a:solidFill>
                  <a:srgbClr val="F1F5F5"/>
                </a:solidFill>
              </a:defRPr>
            </a:pPr>
            <a:r>
              <a:rPr sz="975" b="0" i="0">
                <a:solidFill>
                  <a:srgbClr val="F1F5F5"/>
                </a:solidFill>
              </a:rPr>
              <a:t>model = MLPClassifier((64,), max_iter=300, random_state=42)</a:t>
            </a:r>
          </a:p>
          <a:p xmlns:a="http://schemas.openxmlformats.org/drawingml/2006/main">
            <a:pPr algn="l">
              <a:defRPr sz="975" b="0" i="0">
                <a:solidFill>
                  <a:srgbClr val="F1F5F5"/>
                </a:solidFill>
              </a:defRPr>
            </a:pPr>
            <a:r>
              <a:rPr sz="975" b="0" i="0">
                <a:solidFill>
                  <a:srgbClr val="F1F5F5"/>
                </a:solidFill>
              </a:rPr>
              <a:t>model.fit(Xv, [to_id[c] for c in y])</a:t>
            </a:r>
          </a:p>
          <a:p xmlns:a="http://schemas.openxmlformats.org/drawingml/2006/main">
            <a:pPr algn="l">
              <a:defRPr sz="975" b="0" i="0">
                <a:solidFill>
                  <a:srgbClr val="F1F5F5"/>
                </a:solidFill>
              </a:defRPr>
            </a:pPr>
            <a:r>
              <a:rPr sz="975" b="0" i="0">
                <a:solidFill>
                  <a:srgbClr val="F1F5F5"/>
                </a:solidFill>
              </a:rPr>
              <a:t>seed = list("data q"); out = "".join(seed)</a:t>
            </a:r>
          </a:p>
          <a:p xmlns:a="http://schemas.openxmlformats.org/drawingml/2006/main">
            <a:pPr algn="l">
              <a:defRPr sz="975" b="0" i="0">
                <a:solidFill>
                  <a:srgbClr val="F1F5F5"/>
                </a:solidFill>
              </a:defRPr>
            </a:pPr>
            <a:r>
              <a:rPr sz="975" b="0" i="0">
                <a:solidFill>
                  <a:srgbClr val="F1F5F5"/>
                </a:solidFill>
              </a:rPr>
              <a:t>for _ in range(60):</a:t>
            </a:r>
          </a:p>
          <a:p xmlns:a="http://schemas.openxmlformats.org/drawingml/2006/main">
            <a:pPr algn="l">
              <a:defRPr sz="975" b="0" i="0">
                <a:solidFill>
                  <a:srgbClr val="F1F5F5"/>
                </a:solidFill>
              </a:defRPr>
            </a:pPr>
            <a:r>
              <a:rPr sz="975" b="0" i="0">
                <a:solidFill>
                  <a:srgbClr val="F1F5F5"/>
                </a:solidFill>
              </a:rPr>
              <a:t>    nxt = chars[model.predict(enc.transform([seed]))[0]]</a:t>
            </a:r>
          </a:p>
          <a:p xmlns:a="http://schemas.openxmlformats.org/drawingml/2006/main">
            <a:pPr algn="l">
              <a:defRPr sz="975" b="0" i="0">
                <a:solidFill>
                  <a:srgbClr val="F1F5F5"/>
                </a:solidFill>
              </a:defRPr>
            </a:pPr>
            <a:r>
              <a:rPr sz="975" b="0" i="0">
                <a:solidFill>
                  <a:srgbClr val="F1F5F5"/>
                </a:solidFill>
              </a:rPr>
              <a:t>    out += nxt; seed = (seed + [nxt])[-ctx:]</a:t>
            </a:r>
          </a:p>
          <a:p xmlns:a="http://schemas.openxmlformats.org/drawingml/2006/main">
            <a:pPr algn="l">
              <a:defRPr sz="975" b="0" i="0">
                <a:solidFill>
                  <a:srgbClr val="F1F5F5"/>
                </a:solidFill>
              </a:defRPr>
            </a:pPr>
            <a:r>
              <a:rPr sz="975" b="0" i="0">
                <a:solidFill>
                  <a:srgbClr val="F1F5F5"/>
                </a:solidFill>
              </a:rPr>
              <a:t>print(out)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F60E67C-ECD4-4BFE-90A5-09542F50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52600"/>
            <a:ext cx="3257550" cy="1847850"/>
          </a:xfrm>
          <a:prstGeom xmlns:a="http://schemas.openxmlformats.org/drawingml/2006/main" prst="roundRect">
            <a:avLst>
              <a:gd name="adj" fmla="val 9278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F510642-1B5B-4E86-B771-4E9A82CF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52600"/>
            <a:ext cx="76200" cy="1847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C2B27CA-FA6E-48C6-9045-CF8FC862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240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39200"/>
                </a:solidFill>
              </a:defRPr>
            </a:pPr>
            <a:r>
              <a:rPr sz="1500" b="1" i="0">
                <a:solidFill>
                  <a:srgbClr val="F39200"/>
                </a:solidFill>
              </a:rPr>
              <a:t>Checkpoint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13A78F4-FB6A-44A9-B016-C796E20D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05050"/>
            <a:ext cx="2800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The output imitates the small training phrase. Change the corpus and context length; observe quality and overfitting.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7812D8-00A3-4ABC-A61B-1E5FEA8B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90950"/>
            <a:ext cx="3257550" cy="2152650"/>
          </a:xfrm>
          <a:prstGeom xmlns:a="http://schemas.openxmlformats.org/drawingml/2006/main" prst="roundRect">
            <a:avLst>
              <a:gd name="adj" fmla="val 7965"/>
            </a:avLst>
          </a:prstGeom>
          <a:solidFill xmlns:a="http://schemas.openxmlformats.org/drawingml/2006/main">
            <a:srgbClr val="E9EDFA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79FE8C6-2205-419E-946A-23F1267C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90950"/>
            <a:ext cx="76200" cy="2152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60F7889-8A9E-4EBF-BB9A-AADC05F6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624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53AD"/>
                </a:solidFill>
              </a:defRPr>
            </a:pPr>
            <a:r>
              <a:rPr sz="1500" b="1" i="0">
                <a:solidFill>
                  <a:srgbClr val="3453AD"/>
                </a:solidFill>
              </a:rPr>
              <a:t>Safe use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DA97118-0367-45A4-983A-09BEDC38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43400"/>
            <a:ext cx="28003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This is a microscopic educational language model—not an LLM. Modern LLMs use tokens, transformers, vast corpora, and extensive evaluation.</a:t>
            </a:r>
          </a:p>
        </p:txBody>
      </p:sp>
    </p:spTree>
    <p:extLst>
      <p:ext uri="{BB962C8B-B14F-4D97-AF65-F5344CB8AC3E}">
        <p14:creationId xmlns:p14="http://schemas.microsoft.com/office/powerpoint/2010/main" val="61011573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752397-DC59-4562-906F-645226EA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4DEEB6-8CD5-4354-8B01-AB1DFC89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A613C-4DA0-453A-8AD0-A2B0CF73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EDE56D-C78D-4B12-A11B-E7DB2A01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BD2B98-18A3-417A-BDAD-2C96C5D2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5E2388-6F23-470A-90C2-10360D72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53C238-A61A-4D4E-9DD0-CB7EFCDE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587EB7-8223-4039-9A9D-BB37E31D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F583A9-E0D3-4079-9E16-0FCD36FA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A46AED-5E64-482D-ACFD-20DA0265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89BA20-96CE-4349-B87F-D58C9681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A49339-2A11-4F9C-80C5-71CA01AA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92A45B-61EF-4773-BD5A-8017FC5E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9DA4B3-032A-4192-88EF-48A754B6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D64D4F-3096-44FF-861F-577BF242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D9F1AA-BEF1-4657-AD84-3362B7A0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495411-D8F1-4F97-89CF-E927ED2D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EB64DD-EAD0-4308-A034-CA8A87D9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BCAE7F-8D3A-4F29-9CB1-9E308F15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CD7B74-7D7B-45D1-BD62-2140D0F1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55A4B7-812A-4F52-BB05-B9D82084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2A3D3C-FE77-4C5B-A1F7-D1E8E679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B20175-E7F9-45D5-8B8C-FC3797FA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9FC3CE-D980-4BCF-99F9-CC020D8A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92D0D4-4094-44C0-9420-89145389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64A908-78AE-4F0D-A910-E9B7A222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9C92B5-C75A-4FB4-A015-91E38598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E15008-0CA0-4D55-A560-7B18B8B3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06d1d55a3d4fad">
            <a:extLst>
              <a:ext uri="{96DAC541-7B7A-43D3-8B79-37D633B846F1}">
                <asvg:svgBlip xmlns:asvg="http://schemas.microsoft.com/office/drawing/2016/SVG/main" r:embed="Rf95c4e9819a74ac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FB9832-D3F4-4E3F-B8F2-79466EF0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57AC83-4467-4494-86F7-924C148C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15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048C35-9E83-4D2D-8C7D-4CD1E07A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9DA7AA"/>
                </a:solidFill>
              </a:defRPr>
            </a:pPr>
            <a:r>
              <a:rPr sz="675" b="0" i="0">
                <a:solidFill>
                  <a:srgbClr val="9DA7AA"/>
                </a:solidFill>
              </a:rPr>
              <a:t>Databricks GenAI quickstart: https://docs.databricks.com/aws/en/getting-started/gen-ai-llm-agent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885C9C-D9DC-4D40-B3EF-D7144E24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8707C7-B380-4308-B7E5-E8D7187F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FROM TOY TO REAL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32A40B-C255-46BA-B93A-5C9329FE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The demo teaches the idea — not production LLM engineering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627DB7-6C6E-48A4-A43E-96308596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467100" cy="40386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F08B54-FCA8-4BE3-AF34-19CC7EA3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3009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F161A"/>
                </a:solidFill>
              </a:defRPr>
            </a:pPr>
            <a:r>
              <a:rPr sz="1725" b="1" i="0">
                <a:solidFill>
                  <a:srgbClr val="0F161A"/>
                </a:solidFill>
              </a:rPr>
              <a:t>Tiny demo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A38B9F-B555-407A-9F75-70A509E9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F5867A-18DC-477E-87D2-0B589D56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24150"/>
            <a:ext cx="2743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Characters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61ED11B-C86F-40F7-944D-23C67234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BB9AA9F-A7FC-4237-A204-2690758D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52800"/>
            <a:ext cx="2743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One small MLP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27ACAB-ADBD-4DAE-B386-7F4EF051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7B11F28-94C2-423D-A072-01352548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81450"/>
            <a:ext cx="2743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Memorizes a phrase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452E50B-1B80-43C5-B3CA-2CAC063C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82921F2-EA76-4723-8695-D5DB42A0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10100"/>
            <a:ext cx="2743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Runs quickly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7460439-588B-4F14-A8D6-5D35CD41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90700"/>
            <a:ext cx="3467100" cy="40386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E9EDFA"/>
          </a:solidFill>
          <a:ln xmlns:a="http://schemas.openxmlformats.org/drawingml/2006/main" w="9525">
            <a:solidFill>
              <a:srgbClr val="3453A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87CA027-9FFB-4B06-874C-4D0185FC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00250"/>
            <a:ext cx="3009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3453AD"/>
                </a:solidFill>
              </a:defRPr>
            </a:pPr>
            <a:r>
              <a:rPr sz="1725" b="1" i="0">
                <a:solidFill>
                  <a:srgbClr val="3453AD"/>
                </a:solidFill>
              </a:rPr>
              <a:t>Production LLM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7BCCABF-CF6C-4C3A-967D-283BB5F0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003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317BD4A-AF6F-415C-9588-9A752FC4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24150"/>
            <a:ext cx="2743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Tokenization + transformers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02A414F-E862-4FE2-BBEA-6D73BA01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290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112D888-4A98-42BF-83F8-837FF292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52800"/>
            <a:ext cx="2743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Large training and serving stack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E66FEC8-7B3F-4999-85C3-69617AFA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576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6071A98-6E80-4CAE-9FE8-162224A7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81450"/>
            <a:ext cx="2743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Safety/evaluation/monitoring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F0E6DD8-3CF5-4D13-81B9-1C6F63B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863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075A48D-3622-4831-A27D-FBEC1418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10100"/>
            <a:ext cx="2743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Use managed or approved models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FBF78ED-DC12-44B7-9B3B-CD2584A5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90700"/>
            <a:ext cx="3467100" cy="40386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C320C6A-6A48-4643-8ECA-4568EADA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00250"/>
            <a:ext cx="3009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F161A"/>
                </a:solidFill>
              </a:defRPr>
            </a:pPr>
            <a:r>
              <a:rPr sz="1725" b="1" i="0">
                <a:solidFill>
                  <a:srgbClr val="0F161A"/>
                </a:solidFill>
              </a:rPr>
              <a:t>Databricks path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47E3513-6F6C-4CC1-821D-FE04D5F8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003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615296A-BDF8-47E0-A4BB-827AA8BA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24150"/>
            <a:ext cx="2743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AI Playground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0FAEE6B-1F5A-4946-A3F3-711C8002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A5F63C7-BA07-470A-A585-A97A9642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52800"/>
            <a:ext cx="2743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Model serving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33F1B5F-41DD-41D4-842E-4A7F58E8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576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F59619B-562A-4F1B-896C-0475F09C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81450"/>
            <a:ext cx="2743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AI Functions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6032542-7402-436B-9B27-73773825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863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0EAFA65-C7EF-407A-A63B-AA82CE14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10100"/>
            <a:ext cx="2743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Mosaic AI tooling</a:t>
            </a:r>
          </a:p>
        </p:txBody>
      </p:sp>
    </p:spTree>
    <p:extLst>
      <p:ext uri="{BB962C8B-B14F-4D97-AF65-F5344CB8AC3E}">
        <p14:creationId xmlns:p14="http://schemas.microsoft.com/office/powerpoint/2010/main" val="120991154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E3320F-5CCD-4E5D-97E2-B7E1F4C4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E5C81D-2D19-428A-9AA1-6A7BD827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BD19D2-209E-4292-87B1-2941D9BB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96701-D00A-4E60-AE49-CD2E7CFD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1BABEB-A832-4815-939C-29CBB98B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8B76E0-C3C4-418D-B1CD-65454971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3E13D5-B5F7-4866-8A6C-5221875A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B0B36B-9B0F-4A7A-B001-1FAA09A5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5306C9-B97F-415C-919B-D09C3A63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147055-5F8B-433D-B9FC-9762DB54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EC49BC-B0D7-43F9-9259-57C52600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FA6C35-DE96-4C4C-9A33-A8B6D712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87B439-26B2-4F89-93C4-1A3FCDFA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1358BE-CAA5-4DF1-BB77-92850A34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A446E2-35CA-4F9B-B50C-25F7ED8D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BF621E-9B94-42AB-BC98-14866CE4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F98296-941A-401C-98F0-A34B2772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9F6714-23F1-4573-96AB-E5ADA365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4A0093-4F5D-4FD0-9D88-13D07D67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CBF11A-796B-4894-BF34-BCED1E5C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7418F3-A705-45FA-93CC-B36E9399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7F1178-CFD5-443E-8DFE-67B008D6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E9C674-3399-4835-9EED-7879F3F7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4734CE-C549-4B24-B134-5BFA311D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848B85-ED73-4177-9787-BBC0B79E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94A0A6-A351-4CEF-A2B1-8EB9F5A9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33E41D-C421-4D7D-8218-753025D8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A73950-3ABB-426E-85F3-BCFA0035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9cdce8b0934f25">
            <a:extLst>
              <a:ext uri="{96DAC541-7B7A-43D3-8B79-37D633B846F1}">
                <asvg:svgBlip xmlns:asvg="http://schemas.microsoft.com/office/drawing/2016/SVG/main" r:embed="R95b8b7aedc8b463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D90181-55E2-49F8-A8C3-815E7E51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336BAC-3BBE-4463-B1D8-EC3E6DFE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16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529404-ECFC-4A12-A907-BF78AF4A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38FE84-7E89-4883-B666-46BF9D61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453AD"/>
                </a:solidFill>
              </a:defRPr>
            </a:pPr>
            <a:r>
              <a:rPr sz="1050" b="1" i="0">
                <a:solidFill>
                  <a:srgbClr val="3453AD"/>
                </a:solidFill>
              </a:rPr>
              <a:t>PART 3 COMPLETE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1A5899-9EB3-4770-B9FC-E5168E35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81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F161A"/>
                </a:solidFill>
              </a:defRPr>
            </a:pPr>
            <a:r>
              <a:rPr sz="3450" b="1" i="0">
                <a:solidFill>
                  <a:srgbClr val="0F161A"/>
                </a:solidFill>
              </a:rPr>
              <a:t>Free Edition is enough to learn the workflow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977492-56A9-4A2E-8E21-838A15E5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6858000" cy="179070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E9EDFA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3772D2-3356-4134-8BE0-4296C0A6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76200" cy="1790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1C58C2-1DD4-432E-B580-2631686B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640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53AD"/>
                </a:solidFill>
              </a:defRPr>
            </a:pPr>
            <a:r>
              <a:rPr sz="1500" b="1" i="0">
                <a:solidFill>
                  <a:srgbClr val="3453AD"/>
                </a:solidFill>
              </a:rPr>
              <a:t>Take-away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566819-E994-434F-B2B8-92232C72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6400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Use built-in samples to practice SQL, assistant-supported analysis, dashboards, Git, and simple ML. Move to an approved workspace for business data and production evaluation.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735256-E4BA-432E-8330-05CBBE79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123950"/>
            <a:ext cx="3105150" cy="4000500"/>
          </a:xfrm>
          <a:prstGeom xmlns:a="http://schemas.openxmlformats.org/drawingml/2006/main" prst="roundRect">
            <a:avLst>
              <a:gd name="adj" fmla="val 7362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B3F6A8-C3D8-4461-9919-E182CF0D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81150"/>
            <a:ext cx="2419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Keep ready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0181F57-EC78-4EED-8FEE-FA6E8498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860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46BA272-6914-42F0-BD44-25BC0D93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09850"/>
            <a:ext cx="21526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Sample query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48E6E32-526C-4B49-94F6-883AAC4A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337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B490296-B9B1-4FB9-BAD2-57529132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57550"/>
            <a:ext cx="21526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Git branch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4EFD1BC-258F-478A-9959-9F6B6103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814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6CBD830-C589-41C5-9B8C-A6A05914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05250"/>
            <a:ext cx="21526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Dashboard screenshot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D72A8FA-1F14-47E1-BB4A-DE1D2C93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291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1967B5B-96A1-412F-8AF1-4F059DAA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552950"/>
            <a:ext cx="21526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QA results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259D1AF-48B1-46E4-B8B8-9AD96E6C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9DA7AA"/>
                </a:solidFill>
              </a:defRPr>
            </a:pPr>
            <a:r>
              <a:rPr sz="1275" b="1" i="0">
                <a:solidFill>
                  <a:srgbClr val="9DA7AA"/>
                </a:solidFill>
              </a:rPr>
              <a:t>Next: connect Codex, Databricks, GitHub, and Power BI end to end</a:t>
            </a:r>
          </a:p>
        </p:txBody>
      </p:sp>
    </p:spTree>
    <p:extLst>
      <p:ext uri="{BB962C8B-B14F-4D97-AF65-F5344CB8AC3E}">
        <p14:creationId xmlns:p14="http://schemas.microsoft.com/office/powerpoint/2010/main" val="11412365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2026-07-15T06:19:23.2050000Z</dcterms:created>
  <dcterms:modified xsi:type="dcterms:W3CDTF">2026-07-15T06:19:23.2050000Z</dcterms:modified>
</coreProperties>
</file>